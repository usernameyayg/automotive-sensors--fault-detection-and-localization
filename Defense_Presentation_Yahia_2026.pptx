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7" r:id="rId12"/>
    <p:sldId id="280" r:id="rId13"/>
    <p:sldId id="266" r:id="rId14"/>
    <p:sldId id="267" r:id="rId15"/>
    <p:sldId id="268" r:id="rId16"/>
    <p:sldId id="269" r:id="rId17"/>
    <p:sldId id="272" r:id="rId18"/>
    <p:sldId id="273" r:id="rId19"/>
    <p:sldId id="274" r:id="rId20"/>
  </p:sldIdLst>
  <p:sldSz cx="12192000" cy="6858000"/>
  <p:notesSz cx="12192000" cy="6858000"/>
  <p:embeddedFontLst>
    <p:embeddedFont>
      <p:font typeface="Arimo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D87EA89-6A60-4A7B-B168-3A6FA02AAC71}">
  <a:tblStyle styleId="{5D87EA89-6A60-4A7B-B168-3A6FA02AAC71}" styleName="Table_0">
    <a:wholeTbl>
      <a:tcTxStyle>
        <a:schemeClr val="dk1"/>
      </a:tcTxStyle>
      <a:tcStyle>
        <a:tcBdr>
          <a:left>
            <a:ln w="12700">
              <a:solidFill>
                <a:schemeClr val="dk1"/>
              </a:solidFill>
            </a:ln>
          </a:left>
          <a:right>
            <a:ln w="12700">
              <a:solidFill>
                <a:schemeClr val="dk1"/>
              </a:solidFill>
            </a:ln>
          </a:right>
          <a:top>
            <a:ln w="12700">
              <a:solidFill>
                <a:schemeClr val="dk1"/>
              </a:solidFill>
            </a:ln>
          </a:top>
          <a:bottom>
            <a:ln w="12700">
              <a:solidFill>
                <a:schemeClr val="dk1"/>
              </a:solidFill>
            </a:ln>
          </a:bottom>
          <a:insideH>
            <a:ln w="12700">
              <a:solidFill>
                <a:schemeClr val="dk1"/>
              </a:solidFill>
            </a:ln>
          </a:insideH>
          <a:insideV>
            <a:ln w="12700">
              <a:solidFill>
                <a:schemeClr val="dk1"/>
              </a:solidFill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elfolie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/>
          <p:nvPr/>
        </p:nvSpPr>
        <p:spPr bwMode="auto">
          <a:xfrm>
            <a:off x="912295" y="1268413"/>
            <a:ext cx="921596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Google Shape;15;p14"/>
          <p:cNvSpPr txBox="1">
            <a:spLocks noGrp="1"/>
          </p:cNvSpPr>
          <p:nvPr>
            <p:ph type="ctrTitle"/>
          </p:nvPr>
        </p:nvSpPr>
        <p:spPr bwMode="auto">
          <a:xfrm>
            <a:off x="527393" y="1412777"/>
            <a:ext cx="10369153" cy="1155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solidFill>
                  <a:srgbClr val="008C4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" name="Google Shape;16;p14"/>
          <p:cNvSpPr txBox="1">
            <a:spLocks noGrp="1"/>
          </p:cNvSpPr>
          <p:nvPr>
            <p:ph type="subTitle" idx="1"/>
          </p:nvPr>
        </p:nvSpPr>
        <p:spPr bwMode="auto">
          <a:xfrm>
            <a:off x="527393" y="2852712"/>
            <a:ext cx="10369153" cy="2376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070"/>
              <a:buFont typeface="Noto Sans Symbol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800"/>
              <a:buChar char="-"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800"/>
              <a:buChar char="-"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800"/>
              <a:buChar char="-"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" name="Google Shape;17;p14"/>
          <p:cNvSpPr/>
          <p:nvPr/>
        </p:nvSpPr>
        <p:spPr bwMode="auto">
          <a:xfrm>
            <a:off x="11444823" y="0"/>
            <a:ext cx="749300" cy="6858000"/>
          </a:xfrm>
          <a:prstGeom prst="rect">
            <a:avLst/>
          </a:prstGeom>
          <a:solidFill>
            <a:srgbClr val="000000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rgbClr val="000000"/>
              </a:solidFill>
              <a:latin typeface="Arimo"/>
              <a:ea typeface="Arimo"/>
              <a:cs typeface="Arim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el und Inhalt" type="obj" userDrawn="1">
  <p:cSld name="OBJEC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" name="Google Shape;19;p15"/>
          <p:cNvSpPr txBox="1">
            <a:spLocks noGrp="1"/>
          </p:cNvSpPr>
          <p:nvPr>
            <p:ph type="title"/>
          </p:nvPr>
        </p:nvSpPr>
        <p:spPr bwMode="auto">
          <a:xfrm>
            <a:off x="335361" y="764705"/>
            <a:ext cx="10753195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body" idx="1"/>
          </p:nvPr>
        </p:nvSpPr>
        <p:spPr bwMode="auto">
          <a:xfrm>
            <a:off x="335361" y="1268760"/>
            <a:ext cx="10753195" cy="504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045" algn="l">
              <a:spcBef>
                <a:spcPts val="0"/>
              </a:spcBef>
              <a:spcAft>
                <a:spcPts val="0"/>
              </a:spcAft>
              <a:buSzPts val="2070"/>
              <a:buChar char="▪"/>
              <a:defRPr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" name="Google Shape;21;p15"/>
          <p:cNvSpPr/>
          <p:nvPr/>
        </p:nvSpPr>
        <p:spPr bwMode="auto">
          <a:xfrm>
            <a:off x="11444823" y="0"/>
            <a:ext cx="749300" cy="6858000"/>
          </a:xfrm>
          <a:prstGeom prst="rect">
            <a:avLst/>
          </a:prstGeom>
          <a:solidFill>
            <a:srgbClr val="CECE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rgbClr val="000000"/>
              </a:solidFill>
              <a:latin typeface="Arimo"/>
              <a:ea typeface="Arimo"/>
              <a:cs typeface="Arimo"/>
            </a:endParaRPr>
          </a:p>
        </p:txBody>
      </p:sp>
      <p:sp>
        <p:nvSpPr>
          <p:cNvPr id="22" name="Google Shape;22;p15"/>
          <p:cNvSpPr txBox="1"/>
          <p:nvPr/>
        </p:nvSpPr>
        <p:spPr bwMode="auto">
          <a:xfrm>
            <a:off x="11438478" y="6453344"/>
            <a:ext cx="76623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800" b="0" i="0" u="none" strike="noStrike" cap="none">
                <a:solidFill>
                  <a:srgbClr val="808080"/>
                </a:solidFill>
                <a:latin typeface="Arimo"/>
                <a:ea typeface="Arimo"/>
                <a:cs typeface="Arimo"/>
              </a:rPr>
              <a:t>‹#›</a:t>
            </a:fld>
            <a:endParaRPr sz="1800" b="0" i="0" u="none" strike="noStrike" cap="none">
              <a:solidFill>
                <a:srgbClr val="808080"/>
              </a:solidFill>
              <a:latin typeface="Arimo"/>
              <a:ea typeface="Arimo"/>
              <a:cs typeface="Arim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Abschnitts- überschrift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>
            <a:spLocks noGrp="1"/>
          </p:cNvSpPr>
          <p:nvPr>
            <p:ph type="title"/>
          </p:nvPr>
        </p:nvSpPr>
        <p:spPr bwMode="auto">
          <a:xfrm>
            <a:off x="335361" y="4406914"/>
            <a:ext cx="10753195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body" idx="1"/>
          </p:nvPr>
        </p:nvSpPr>
        <p:spPr bwMode="auto">
          <a:xfrm>
            <a:off x="335361" y="2906713"/>
            <a:ext cx="10753195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2300"/>
              <a:buNone/>
              <a:defRPr sz="2000"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800"/>
              <a:buFont typeface="Arimo"/>
              <a:buNone/>
              <a:defRPr sz="18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600"/>
              <a:buFont typeface="Arimo"/>
              <a:buNone/>
              <a:defRPr sz="16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 sz="14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 sz="1400"/>
            </a:lvl9pPr>
          </a:lstStyle>
          <a:p>
            <a:pPr>
              <a:defRPr/>
            </a:pPr>
            <a:endParaRPr/>
          </a:p>
        </p:txBody>
      </p:sp>
      <p:sp>
        <p:nvSpPr>
          <p:cNvPr id="32" name="Google Shape;32;p17"/>
          <p:cNvSpPr/>
          <p:nvPr/>
        </p:nvSpPr>
        <p:spPr bwMode="auto">
          <a:xfrm>
            <a:off x="11444823" y="0"/>
            <a:ext cx="749300" cy="6858000"/>
          </a:xfrm>
          <a:prstGeom prst="rect">
            <a:avLst/>
          </a:prstGeom>
          <a:solidFill>
            <a:srgbClr val="000000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rgbClr val="000000"/>
              </a:solidFill>
              <a:latin typeface="Arimo"/>
              <a:ea typeface="Arimo"/>
              <a:cs typeface="Arimo"/>
            </a:endParaRPr>
          </a:p>
        </p:txBody>
      </p:sp>
      <p:sp>
        <p:nvSpPr>
          <p:cNvPr id="33" name="Google Shape;33;p17"/>
          <p:cNvSpPr txBox="1"/>
          <p:nvPr/>
        </p:nvSpPr>
        <p:spPr bwMode="auto">
          <a:xfrm>
            <a:off x="11438478" y="6453344"/>
            <a:ext cx="76623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800">
                <a:solidFill>
                  <a:srgbClr val="808080"/>
                </a:solidFill>
                <a:latin typeface="Arimo"/>
                <a:ea typeface="Arimo"/>
                <a:cs typeface="Arimo"/>
              </a:rPr>
              <a:t>‹#›</a:t>
            </a:fld>
            <a:endParaRPr sz="1800">
              <a:solidFill>
                <a:srgbClr val="808080"/>
              </a:solidFill>
              <a:latin typeface="Arimo"/>
              <a:ea typeface="Arimo"/>
              <a:cs typeface="Arim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Inhalt mit Überschrift" type="objTx" userDrawn="1">
  <p:cSld name="OBJECT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" name="Google Shape;38;p19"/>
          <p:cNvSpPr txBox="1">
            <a:spLocks noGrp="1"/>
          </p:cNvSpPr>
          <p:nvPr>
            <p:ph type="title"/>
          </p:nvPr>
        </p:nvSpPr>
        <p:spPr bwMode="auto">
          <a:xfrm>
            <a:off x="335363" y="816260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body" idx="1"/>
          </p:nvPr>
        </p:nvSpPr>
        <p:spPr bwMode="auto">
          <a:xfrm>
            <a:off x="4492496" y="816253"/>
            <a:ext cx="6596061" cy="5493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62280" algn="l">
              <a:spcBef>
                <a:spcPts val="0"/>
              </a:spcBef>
              <a:spcAft>
                <a:spcPts val="0"/>
              </a:spcAft>
              <a:buSzPts val="3680"/>
              <a:buChar char="▪"/>
              <a:defRPr sz="3200"/>
            </a:lvl1pPr>
            <a:lvl2pPr marL="914400" lvl="1" indent="-406400" algn="l">
              <a:spcBef>
                <a:spcPts val="0"/>
              </a:spcBef>
              <a:spcAft>
                <a:spcPts val="0"/>
              </a:spcAft>
              <a:buSzPts val="2800"/>
              <a:buFont typeface="Arimo"/>
              <a:buChar char="-"/>
              <a:defRPr sz="2800"/>
            </a:lvl2pPr>
            <a:lvl3pPr marL="1371600" lvl="2" indent="-381000" algn="l">
              <a:spcBef>
                <a:spcPts val="0"/>
              </a:spcBef>
              <a:spcAft>
                <a:spcPts val="0"/>
              </a:spcAft>
              <a:buSzPts val="2400"/>
              <a:buFont typeface="Arimo"/>
              <a:buChar char="-"/>
              <a:defRPr sz="2400"/>
            </a:lvl3pPr>
            <a:lvl4pPr marL="1828800" lvl="3" indent="-355600" algn="l">
              <a:spcBef>
                <a:spcPts val="0"/>
              </a:spcBef>
              <a:spcAft>
                <a:spcPts val="0"/>
              </a:spcAft>
              <a:buSzPts val="2000"/>
              <a:buFont typeface="Arimo"/>
              <a:buChar char="-"/>
              <a:defRPr sz="2000"/>
            </a:lvl4pPr>
            <a:lvl5pPr marL="2286000" lvl="4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»"/>
              <a:defRPr sz="2000"/>
            </a:lvl5pPr>
            <a:lvl6pPr marL="2743200" lvl="5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»"/>
              <a:defRPr sz="2000"/>
            </a:lvl6pPr>
            <a:lvl7pPr marL="3200400" lvl="6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»"/>
              <a:defRPr sz="2000"/>
            </a:lvl7pPr>
            <a:lvl8pPr marL="3657600" lvl="7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»"/>
              <a:defRPr sz="2000"/>
            </a:lvl8pPr>
            <a:lvl9pPr marL="4114800" lvl="8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»"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body" idx="2"/>
          </p:nvPr>
        </p:nvSpPr>
        <p:spPr bwMode="auto">
          <a:xfrm>
            <a:off x="335363" y="1978306"/>
            <a:ext cx="4011084" cy="4331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610"/>
              <a:buNone/>
              <a:defRPr sz="1400"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200"/>
              <a:buFont typeface="Arimo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900"/>
              <a:buFont typeface="Arimo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mo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mo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mo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mo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mo"/>
              <a:buNone/>
              <a:defRPr sz="900"/>
            </a:lvl9pPr>
          </a:lstStyle>
          <a:p>
            <a:pPr>
              <a:defRPr/>
            </a:pPr>
            <a:endParaRPr/>
          </a:p>
        </p:txBody>
      </p:sp>
      <p:sp>
        <p:nvSpPr>
          <p:cNvPr id="41" name="Google Shape;41;p19"/>
          <p:cNvSpPr/>
          <p:nvPr/>
        </p:nvSpPr>
        <p:spPr bwMode="auto">
          <a:xfrm>
            <a:off x="11444823" y="0"/>
            <a:ext cx="749300" cy="6858000"/>
          </a:xfrm>
          <a:prstGeom prst="rect">
            <a:avLst/>
          </a:prstGeom>
          <a:solidFill>
            <a:srgbClr val="000000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rgbClr val="000000"/>
              </a:solidFill>
              <a:latin typeface="Arimo"/>
              <a:ea typeface="Arimo"/>
              <a:cs typeface="Arimo"/>
            </a:endParaRPr>
          </a:p>
        </p:txBody>
      </p:sp>
      <p:pic>
        <p:nvPicPr>
          <p:cNvPr id="42" name="Google Shape;42;p19" descr="Logo_TUC_de_RGB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12" y="14"/>
            <a:ext cx="4078817" cy="569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19" descr="Logo_TUC_de_RGB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335360" y="6436782"/>
            <a:ext cx="2003517" cy="279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19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4463819" y="6513129"/>
            <a:ext cx="2685480" cy="219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19"/>
          <p:cNvPicPr/>
          <p:nvPr/>
        </p:nvPicPr>
        <p:blipFill>
          <a:blip r:embed="rId5">
            <a:alphaModFix/>
          </a:blip>
          <a:stretch/>
        </p:blipFill>
        <p:spPr bwMode="auto">
          <a:xfrm>
            <a:off x="8835511" y="6457363"/>
            <a:ext cx="2253055" cy="316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19"/>
          <p:cNvPicPr/>
          <p:nvPr/>
        </p:nvPicPr>
        <p:blipFill>
          <a:blip r:embed="rId6">
            <a:alphaModFix/>
          </a:blip>
          <a:stretch/>
        </p:blipFill>
        <p:spPr bwMode="auto">
          <a:xfrm>
            <a:off x="7009749" y="253192"/>
            <a:ext cx="4078817" cy="33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Bild mit Überschrift" type="picTx" userDrawn="1">
  <p:cSld name="PICTURE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" name="Google Shape;48;p20"/>
          <p:cNvSpPr txBox="1">
            <a:spLocks noGrp="1"/>
          </p:cNvSpPr>
          <p:nvPr>
            <p:ph type="title"/>
          </p:nvPr>
        </p:nvSpPr>
        <p:spPr bwMode="auto">
          <a:xfrm>
            <a:off x="2389717" y="4800613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9" name="Google Shape;49;p20"/>
          <p:cNvSpPr>
            <a:spLocks noGrp="1"/>
          </p:cNvSpPr>
          <p:nvPr>
            <p:ph type="pic" idx="2"/>
          </p:nvPr>
        </p:nvSpPr>
        <p:spPr bwMode="auto">
          <a:xfrm>
            <a:off x="2389717" y="764718"/>
            <a:ext cx="7315200" cy="3962871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20"/>
          <p:cNvSpPr txBox="1">
            <a:spLocks noGrp="1"/>
          </p:cNvSpPr>
          <p:nvPr>
            <p:ph type="body" idx="1"/>
          </p:nvPr>
        </p:nvSpPr>
        <p:spPr bwMode="auto">
          <a:xfrm>
            <a:off x="2389717" y="536735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610"/>
              <a:buNone/>
              <a:defRPr sz="1400"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200"/>
              <a:buFont typeface="Arimo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900"/>
              <a:buFont typeface="Arimo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mo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mo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mo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mo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mo"/>
              <a:buNone/>
              <a:defRPr sz="900"/>
            </a:lvl9pPr>
          </a:lstStyle>
          <a:p>
            <a:pPr>
              <a:defRPr/>
            </a:pPr>
            <a:endParaRPr/>
          </a:p>
        </p:txBody>
      </p:sp>
      <p:sp>
        <p:nvSpPr>
          <p:cNvPr id="51" name="Google Shape;51;p20"/>
          <p:cNvSpPr/>
          <p:nvPr/>
        </p:nvSpPr>
        <p:spPr bwMode="auto">
          <a:xfrm>
            <a:off x="11444823" y="0"/>
            <a:ext cx="749300" cy="6858000"/>
          </a:xfrm>
          <a:prstGeom prst="rect">
            <a:avLst/>
          </a:prstGeom>
          <a:solidFill>
            <a:srgbClr val="000000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rgbClr val="000000"/>
              </a:solidFill>
              <a:latin typeface="Arimo"/>
              <a:ea typeface="Arimo"/>
              <a:cs typeface="Arimo"/>
            </a:endParaRPr>
          </a:p>
        </p:txBody>
      </p:sp>
      <p:pic>
        <p:nvPicPr>
          <p:cNvPr id="52" name="Google Shape;52;p20" descr="Logo_TUC_de_RGB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12" y="14"/>
            <a:ext cx="4078817" cy="569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20" descr="Logo_TUC_de_RGB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335360" y="6436782"/>
            <a:ext cx="2003517" cy="279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20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4463819" y="6513129"/>
            <a:ext cx="2685480" cy="219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20"/>
          <p:cNvPicPr/>
          <p:nvPr/>
        </p:nvPicPr>
        <p:blipFill>
          <a:blip r:embed="rId5">
            <a:alphaModFix/>
          </a:blip>
          <a:stretch/>
        </p:blipFill>
        <p:spPr bwMode="auto">
          <a:xfrm>
            <a:off x="8835511" y="6457363"/>
            <a:ext cx="2253055" cy="316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20"/>
          <p:cNvPicPr/>
          <p:nvPr/>
        </p:nvPicPr>
        <p:blipFill>
          <a:blip r:embed="rId6">
            <a:alphaModFix/>
          </a:blip>
          <a:stretch/>
        </p:blipFill>
        <p:spPr bwMode="auto">
          <a:xfrm>
            <a:off x="7009749" y="253192"/>
            <a:ext cx="4078817" cy="33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el und vertikaler Text" type="vertTx" userDrawn="1">
  <p:cSld name="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" name="Google Shape;58;p21"/>
          <p:cNvSpPr txBox="1">
            <a:spLocks noGrp="1"/>
          </p:cNvSpPr>
          <p:nvPr>
            <p:ph type="title"/>
          </p:nvPr>
        </p:nvSpPr>
        <p:spPr bwMode="auto">
          <a:xfrm>
            <a:off x="335361" y="836726"/>
            <a:ext cx="10753195" cy="57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body" idx="1"/>
          </p:nvPr>
        </p:nvSpPr>
        <p:spPr bwMode="auto">
          <a:xfrm rot="5400000">
            <a:off x="3263687" y="-1515549"/>
            <a:ext cx="4896544" cy="10753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045" algn="l">
              <a:spcBef>
                <a:spcPts val="0"/>
              </a:spcBef>
              <a:spcAft>
                <a:spcPts val="0"/>
              </a:spcAft>
              <a:buSzPts val="2070"/>
              <a:buChar char="▪"/>
              <a:defRPr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0" name="Google Shape;60;p21"/>
          <p:cNvSpPr/>
          <p:nvPr/>
        </p:nvSpPr>
        <p:spPr bwMode="auto">
          <a:xfrm>
            <a:off x="11444823" y="0"/>
            <a:ext cx="749300" cy="6858000"/>
          </a:xfrm>
          <a:prstGeom prst="rect">
            <a:avLst/>
          </a:prstGeom>
          <a:solidFill>
            <a:srgbClr val="000000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rgbClr val="000000"/>
              </a:solidFill>
              <a:latin typeface="Arimo"/>
              <a:ea typeface="Arimo"/>
              <a:cs typeface="Arimo"/>
            </a:endParaRPr>
          </a:p>
        </p:txBody>
      </p:sp>
      <p:pic>
        <p:nvPicPr>
          <p:cNvPr id="61" name="Google Shape;61;p21" descr="Logo_TUC_de_RGB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12" y="14"/>
            <a:ext cx="4078817" cy="569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21" descr="Logo_TUC_de_RGB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335360" y="6436782"/>
            <a:ext cx="2003517" cy="279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21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4463819" y="6513129"/>
            <a:ext cx="2685480" cy="219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21"/>
          <p:cNvPicPr/>
          <p:nvPr/>
        </p:nvPicPr>
        <p:blipFill>
          <a:blip r:embed="rId5">
            <a:alphaModFix/>
          </a:blip>
          <a:stretch/>
        </p:blipFill>
        <p:spPr bwMode="auto">
          <a:xfrm>
            <a:off x="8835511" y="6457363"/>
            <a:ext cx="2253055" cy="316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21"/>
          <p:cNvPicPr/>
          <p:nvPr/>
        </p:nvPicPr>
        <p:blipFill>
          <a:blip r:embed="rId6">
            <a:alphaModFix/>
          </a:blip>
          <a:stretch/>
        </p:blipFill>
        <p:spPr bwMode="auto">
          <a:xfrm>
            <a:off x="7009749" y="253192"/>
            <a:ext cx="4078817" cy="33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Vertikaler Titel und Text" type="vertTitleAndTx" userDrawn="1">
  <p:cSld name="VERTICAL_TITLE_AND_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" name="Google Shape;67;p22"/>
          <p:cNvSpPr txBox="1">
            <a:spLocks noGrp="1"/>
          </p:cNvSpPr>
          <p:nvPr>
            <p:ph type="title"/>
          </p:nvPr>
        </p:nvSpPr>
        <p:spPr bwMode="auto">
          <a:xfrm rot="5400000">
            <a:off x="7130484" y="2278424"/>
            <a:ext cx="5183759" cy="2732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8" name="Google Shape;68;p22"/>
          <p:cNvSpPr txBox="1">
            <a:spLocks noGrp="1"/>
          </p:cNvSpPr>
          <p:nvPr>
            <p:ph type="body" idx="1"/>
          </p:nvPr>
        </p:nvSpPr>
        <p:spPr bwMode="auto">
          <a:xfrm rot="5400000">
            <a:off x="1652287" y="-264190"/>
            <a:ext cx="5183759" cy="7817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045" algn="l">
              <a:spcBef>
                <a:spcPts val="0"/>
              </a:spcBef>
              <a:spcAft>
                <a:spcPts val="0"/>
              </a:spcAft>
              <a:buSzPts val="2070"/>
              <a:buChar char="▪"/>
              <a:defRPr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SzPts val="1800"/>
              <a:buChar char="-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9" name="Google Shape;69;p22"/>
          <p:cNvSpPr/>
          <p:nvPr/>
        </p:nvSpPr>
        <p:spPr bwMode="auto">
          <a:xfrm>
            <a:off x="11444823" y="0"/>
            <a:ext cx="749300" cy="6858000"/>
          </a:xfrm>
          <a:prstGeom prst="rect">
            <a:avLst/>
          </a:prstGeom>
          <a:solidFill>
            <a:srgbClr val="000000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rgbClr val="000000"/>
              </a:solidFill>
              <a:latin typeface="Arimo"/>
              <a:ea typeface="Arimo"/>
              <a:cs typeface="Arimo"/>
            </a:endParaRPr>
          </a:p>
        </p:txBody>
      </p:sp>
      <p:pic>
        <p:nvPicPr>
          <p:cNvPr id="70" name="Google Shape;70;p22" descr="Logo_TUC_de_RGB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12" y="14"/>
            <a:ext cx="4078817" cy="569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22" descr="Logo_TUC_de_RGB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335360" y="6436782"/>
            <a:ext cx="2003517" cy="279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22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4463819" y="6513129"/>
            <a:ext cx="2685480" cy="219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22"/>
          <p:cNvPicPr/>
          <p:nvPr/>
        </p:nvPicPr>
        <p:blipFill>
          <a:blip r:embed="rId5">
            <a:alphaModFix/>
          </a:blip>
          <a:stretch/>
        </p:blipFill>
        <p:spPr bwMode="auto">
          <a:xfrm>
            <a:off x="8835511" y="6457363"/>
            <a:ext cx="2253055" cy="316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22"/>
          <p:cNvPicPr/>
          <p:nvPr/>
        </p:nvPicPr>
        <p:blipFill>
          <a:blip r:embed="rId6">
            <a:alphaModFix/>
          </a:blip>
          <a:stretch/>
        </p:blipFill>
        <p:spPr bwMode="auto">
          <a:xfrm>
            <a:off x="7009749" y="253192"/>
            <a:ext cx="4078817" cy="33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/>
          <p:nvPr/>
        </p:nvSpPr>
        <p:spPr bwMode="auto">
          <a:xfrm>
            <a:off x="11444823" y="0"/>
            <a:ext cx="749300" cy="6858000"/>
          </a:xfrm>
          <a:prstGeom prst="rect">
            <a:avLst/>
          </a:prstGeom>
          <a:solidFill>
            <a:srgbClr val="000000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rgbClr val="000000"/>
              </a:solidFill>
              <a:latin typeface="Arimo"/>
              <a:ea typeface="Arimo"/>
              <a:cs typeface="Arimo"/>
            </a:endParaRPr>
          </a:p>
        </p:txBody>
      </p:sp>
      <p:sp>
        <p:nvSpPr>
          <p:cNvPr id="7" name="Google Shape;7;p13"/>
          <p:cNvSpPr txBox="1"/>
          <p:nvPr/>
        </p:nvSpPr>
        <p:spPr bwMode="auto">
          <a:xfrm>
            <a:off x="11438478" y="6453344"/>
            <a:ext cx="76623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800" b="0" i="0" u="none" strike="noStrike" cap="none">
                <a:solidFill>
                  <a:srgbClr val="808080"/>
                </a:solidFill>
                <a:latin typeface="Arimo"/>
                <a:ea typeface="Arimo"/>
                <a:cs typeface="Arimo"/>
              </a:rPr>
              <a:t>‹#›</a:t>
            </a:fld>
            <a:endParaRPr sz="1800" b="0" i="0" u="none" strike="noStrike" cap="none">
              <a:solidFill>
                <a:srgbClr val="808080"/>
              </a:solidFill>
              <a:latin typeface="Arimo"/>
              <a:ea typeface="Arimo"/>
              <a:cs typeface="Arimo"/>
            </a:endParaRPr>
          </a:p>
        </p:txBody>
      </p:sp>
      <p:sp>
        <p:nvSpPr>
          <p:cNvPr id="8" name="Google Shape;8;p13"/>
          <p:cNvSpPr txBox="1"/>
          <p:nvPr/>
        </p:nvSpPr>
        <p:spPr bwMode="auto">
          <a:xfrm>
            <a:off x="912295" y="1268413"/>
            <a:ext cx="921596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Google Shape;9;p13"/>
          <p:cNvSpPr txBox="1">
            <a:spLocks noGrp="1"/>
          </p:cNvSpPr>
          <p:nvPr>
            <p:ph type="title"/>
          </p:nvPr>
        </p:nvSpPr>
        <p:spPr bwMode="auto">
          <a:xfrm>
            <a:off x="335361" y="702204"/>
            <a:ext cx="10753195" cy="57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2"/>
                </a:solidFill>
                <a:latin typeface="Arimo"/>
                <a:ea typeface="Arimo"/>
                <a:cs typeface="Arimo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2"/>
                </a:solidFill>
                <a:latin typeface="Arimo"/>
                <a:ea typeface="Arimo"/>
                <a:cs typeface="Arimo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2"/>
                </a:solidFill>
                <a:latin typeface="Arimo"/>
                <a:ea typeface="Arimo"/>
                <a:cs typeface="Arimo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2"/>
                </a:solidFill>
                <a:latin typeface="Arimo"/>
                <a:ea typeface="Arimo"/>
                <a:cs typeface="Arimo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2"/>
                </a:solidFill>
                <a:latin typeface="Arimo"/>
                <a:ea typeface="Arimo"/>
                <a:cs typeface="Arimo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2"/>
                </a:solidFill>
                <a:latin typeface="Arimo"/>
                <a:ea typeface="Arimo"/>
                <a:cs typeface="Arimo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2"/>
                </a:solidFill>
                <a:latin typeface="Arimo"/>
                <a:ea typeface="Arimo"/>
                <a:cs typeface="Arimo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2"/>
                </a:solidFill>
                <a:latin typeface="Arimo"/>
                <a:ea typeface="Arimo"/>
                <a:cs typeface="Arimo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0" name="Google Shape;10;p13"/>
          <p:cNvSpPr txBox="1">
            <a:spLocks noGrp="1"/>
          </p:cNvSpPr>
          <p:nvPr>
            <p:ph type="body" idx="1"/>
          </p:nvPr>
        </p:nvSpPr>
        <p:spPr bwMode="auto">
          <a:xfrm>
            <a:off x="335361" y="1268417"/>
            <a:ext cx="10753195" cy="5040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0045" algn="l">
              <a:spcBef>
                <a:spcPts val="0"/>
              </a:spcBef>
              <a:spcAft>
                <a:spcPts val="0"/>
              </a:spcAft>
              <a:buClr>
                <a:srgbClr val="008C4F"/>
              </a:buClr>
              <a:buSzPts val="207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</a:defRPr>
            </a:lvl1pPr>
            <a:lvl2pPr marL="914400" marR="0" lvl="1" indent="-342900" algn="l">
              <a:spcBef>
                <a:spcPts val="0"/>
              </a:spcBef>
              <a:spcAft>
                <a:spcPts val="0"/>
              </a:spcAft>
              <a:buClr>
                <a:srgbClr val="008C4F"/>
              </a:buClr>
              <a:buSzPts val="1800"/>
              <a:buFont typeface="Arimo"/>
              <a:buChar char="-"/>
              <a:defRPr sz="18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</a:defRPr>
            </a:lvl2pPr>
            <a:lvl3pPr marL="1371600" marR="0" lvl="2" indent="-317500" algn="l">
              <a:spcBef>
                <a:spcPts val="0"/>
              </a:spcBef>
              <a:spcAft>
                <a:spcPts val="0"/>
              </a:spcAft>
              <a:buClr>
                <a:srgbClr val="008C4F"/>
              </a:buClr>
              <a:buSzPts val="1400"/>
              <a:buFont typeface="Arimo"/>
              <a:buChar char="-"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</a:defRPr>
            </a:lvl3pPr>
            <a:lvl4pPr marL="1828800" marR="0" lvl="3" indent="-317500" algn="l">
              <a:spcBef>
                <a:spcPts val="0"/>
              </a:spcBef>
              <a:spcAft>
                <a:spcPts val="0"/>
              </a:spcAft>
              <a:buClr>
                <a:srgbClr val="008C4F"/>
              </a:buClr>
              <a:buSzPts val="1400"/>
              <a:buFont typeface="Arimo"/>
              <a:buChar char="-"/>
              <a:defRPr sz="14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</a:defRPr>
            </a:lvl4pPr>
            <a:lvl5pPr marL="2286000" marR="0" lvl="4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»"/>
              <a:defRPr sz="20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</a:defRPr>
            </a:lvl5pPr>
            <a:lvl6pPr marL="2743200" marR="0" lvl="5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»"/>
              <a:defRPr sz="20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</a:defRPr>
            </a:lvl6pPr>
            <a:lvl7pPr marL="3200400" marR="0" lvl="6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»"/>
              <a:defRPr sz="20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</a:defRPr>
            </a:lvl7pPr>
            <a:lvl8pPr marL="3657600" marR="0" lvl="7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»"/>
              <a:defRPr sz="20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</a:defRPr>
            </a:lvl8pPr>
            <a:lvl9pPr marL="4114800" marR="0" lvl="8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»"/>
              <a:defRPr sz="20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</a:defRPr>
            </a:lvl9pPr>
          </a:lstStyle>
          <a:p>
            <a:pPr>
              <a:defRPr/>
            </a:pPr>
            <a:endParaRPr/>
          </a:p>
        </p:txBody>
      </p:sp>
      <p:pic>
        <p:nvPicPr>
          <p:cNvPr id="11" name="Google Shape;11;p13" descr="Logo_TUC_de_RGB"/>
          <p:cNvPicPr/>
          <p:nvPr/>
        </p:nvPicPr>
        <p:blipFill>
          <a:blip r:embed="rId9">
            <a:alphaModFix/>
          </a:blip>
          <a:stretch/>
        </p:blipFill>
        <p:spPr bwMode="auto">
          <a:xfrm>
            <a:off x="12" y="14"/>
            <a:ext cx="3060000" cy="569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13"/>
          <p:cNvPicPr/>
          <p:nvPr/>
        </p:nvPicPr>
        <p:blipFill>
          <a:blip r:embed="rId10">
            <a:alphaModFix/>
          </a:blip>
          <a:stretch/>
        </p:blipFill>
        <p:spPr bwMode="auto">
          <a:xfrm>
            <a:off x="8040469" y="253192"/>
            <a:ext cx="3059493" cy="33338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</p:sldLayoutIdLst>
  <p:hf hdr="0" ftr="0" dt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  <a:latin typeface="Calibri"/>
              </a:defRPr>
            </a:pPr>
            <a:r>
              <a:rPr lang="en-US" dirty="0"/>
              <a:t>Intelligent Analysis of Automotive Sensor Faults Using Self-Supervised Learning and Real-Time Simulation</a:t>
            </a:r>
            <a:br>
              <a:rPr lang="en-US" dirty="0"/>
            </a:b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spcBef>
                <a:spcPts val="400"/>
              </a:spcBef>
              <a:spcAft>
                <a:spcPts val="200"/>
              </a:spcAft>
              <a:defRPr sz="1200" b="0" i="0">
                <a:solidFill>
                  <a:srgbClr val="000000"/>
                </a:solidFill>
                <a:latin typeface="Calibri"/>
              </a:defRPr>
            </a:pPr>
            <a:endParaRPr lang="en-US" dirty="0"/>
          </a:p>
          <a:p>
            <a:pPr>
              <a:spcBef>
                <a:spcPts val="1200"/>
              </a:spcBef>
              <a:spcAft>
                <a:spcPts val="200"/>
              </a:spcAft>
              <a:defRPr sz="1800" b="0" i="0">
                <a:solidFill>
                  <a:srgbClr val="505050"/>
                </a:solidFill>
                <a:latin typeface="Calibri"/>
              </a:defRPr>
            </a:pPr>
            <a:r>
              <a:rPr lang="en-US" dirty="0"/>
              <a:t>Master Thesis Defense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800" b="0" i="0">
                <a:solidFill>
                  <a:srgbClr val="000000"/>
                </a:solidFill>
                <a:latin typeface="Calibri"/>
              </a:defRPr>
            </a:pPr>
            <a:endParaRPr lang="en-US" dirty="0"/>
          </a:p>
          <a:p>
            <a:pPr>
              <a:spcBef>
                <a:spcPts val="800"/>
              </a:spcBef>
              <a:spcAft>
                <a:spcPts val="200"/>
              </a:spcAft>
              <a:defRPr sz="1600" b="0" i="0">
                <a:solidFill>
                  <a:srgbClr val="000000"/>
                </a:solidFill>
                <a:latin typeface="Calibri"/>
              </a:defRPr>
            </a:pPr>
            <a:r>
              <a:rPr lang="en-US" dirty="0"/>
              <a:t>Presented by:  Yahia Amir Yahia Gamal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50"/>
                </a:solidFill>
                <a:latin typeface="Calibri"/>
              </a:defRPr>
            </a:pPr>
            <a:r>
              <a:t>Institute for Software and Systems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5486400" cy="836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05050"/>
                </a:solidFill>
                <a:latin typeface="Calibri"/>
              </a:defRPr>
            </a:pPr>
            <a:r>
              <a:rPr dirty="0"/>
              <a:t>First Examiner:     </a:t>
            </a:r>
            <a:r>
              <a:rPr lang="de-DE" dirty="0"/>
              <a:t>Dr. Mohammad Abboush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 b="0" i="0">
                <a:solidFill>
                  <a:srgbClr val="505050"/>
                </a:solidFill>
                <a:latin typeface="Calibri"/>
              </a:defRPr>
            </a:pPr>
            <a:r>
              <a:rPr dirty="0"/>
              <a:t>Supervisor:</a:t>
            </a:r>
            <a:r>
              <a:rPr lang="en-US" dirty="0"/>
              <a:t>            </a:t>
            </a:r>
            <a:r>
              <a:rPr lang="nl-NL" dirty="0"/>
              <a:t>apl. Prof. Dr. Christoph Knieke</a:t>
            </a:r>
            <a:endParaRPr dirty="0"/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 i="0">
                <a:solidFill>
                  <a:srgbClr val="003366"/>
                </a:solidFill>
                <a:latin typeface="Calibri"/>
              </a:defRPr>
            </a:pPr>
            <a:r>
              <a:rPr dirty="0"/>
              <a:t>TU Clausthal  |  </a:t>
            </a:r>
            <a:r>
              <a:rPr lang="en-US" dirty="0"/>
              <a:t>03.03.</a:t>
            </a:r>
            <a:r>
              <a:rPr dirty="0"/>
              <a:t>202</a:t>
            </a:r>
            <a:r>
              <a:rPr lang="en-US" dirty="0"/>
              <a:t>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Outline</a:t>
            </a:r>
            <a:br>
              <a:rPr lang="de-DE" dirty="0"/>
            </a:b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7155" indent="0"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058400" cy="5668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Calibri"/>
              </a:defRPr>
            </a:pPr>
            <a:endParaRPr dirty="0"/>
          </a:p>
          <a:p>
            <a:pPr>
              <a:spcBef>
                <a:spcPts val="300"/>
              </a:spcBef>
              <a:spcAft>
                <a:spcPts val="2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rPr lang="en-US" sz="2600" dirty="0"/>
              <a:t>1.   Motivation and Problem Statement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rPr lang="en-US" sz="2600" dirty="0"/>
              <a:t>2.   Research Questions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rPr lang="en-US" sz="2600" dirty="0"/>
              <a:t>3.   Related Work: Why This Approach?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rPr lang="en-US" sz="2600" dirty="0"/>
              <a:t>4.   Proposed Framework (3 Phases)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rPr lang="en-US" sz="2600" dirty="0"/>
              <a:t>5.   Datasets: A2D2 and HIL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rPr lang="en-US" sz="2600" dirty="0"/>
              <a:t>6.   Fault Types and Injection Models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rPr lang="en-US" sz="2600" dirty="0"/>
              <a:t>7.   </a:t>
            </a:r>
            <a:r>
              <a:rPr lang="en-US" sz="2600" dirty="0" err="1"/>
              <a:t>SimCLR</a:t>
            </a:r>
            <a:r>
              <a:rPr lang="en-US" sz="2600" dirty="0"/>
              <a:t> Architecture, Encoder, and Training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rPr lang="en-US" sz="2600" dirty="0"/>
              <a:t>8.   Anomaly Detection Method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rPr lang="en-US" sz="2600" dirty="0"/>
              <a:t>9.   Evaluation Results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rPr lang="en-US" sz="2600" dirty="0"/>
              <a:t>10. Computing Cost Analysis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r>
              <a:rPr lang="en-US" sz="2600" dirty="0"/>
              <a:t>11. Conclusion and Future Work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800" b="0">
                <a:solidFill>
                  <a:srgbClr val="000000"/>
                </a:solidFill>
                <a:latin typeface="Calibri"/>
              </a:defRPr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Motivation and Problem Statement</a:t>
            </a:r>
            <a:br>
              <a:rPr lang="de-DE" dirty="0"/>
            </a:b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2000" b="1">
                <a:solidFill>
                  <a:srgbClr val="B41E1E"/>
                </a:solidFill>
                <a:latin typeface="Calibri"/>
              </a:defRPr>
            </a:pPr>
            <a:r>
              <a:rPr lang="en-US" sz="2500" dirty="0"/>
              <a:t>The Problem: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rPr lang="en-US" sz="2500" dirty="0"/>
              <a:t>Modern vehicles contain 100+ sensors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rPr lang="en-US" sz="2500" dirty="0"/>
              <a:t>Sensor faults compromise safety-critical systems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1">
                <a:solidFill>
                  <a:srgbClr val="000000"/>
                </a:solidFill>
                <a:latin typeface="Calibri"/>
              </a:defRPr>
            </a:pPr>
            <a:r>
              <a:rPr lang="en-US" sz="2500" dirty="0"/>
              <a:t>Supervised methods need labeled fault data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rPr lang="en-US" sz="2500" dirty="0"/>
              <a:t>Labeled data is expensive and inherently incomplete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800" b="0" i="0">
                <a:solidFill>
                  <a:srgbClr val="000000"/>
                </a:solidFill>
                <a:latin typeface="Calibri"/>
              </a:defRPr>
            </a:pPr>
            <a:endParaRPr lang="en-US" sz="2500" dirty="0"/>
          </a:p>
          <a:p>
            <a:pPr>
              <a:spcBef>
                <a:spcPts val="400"/>
              </a:spcBef>
              <a:spcAft>
                <a:spcPts val="200"/>
              </a:spcAft>
              <a:defRPr sz="2000" b="1" i="0">
                <a:solidFill>
                  <a:srgbClr val="00783C"/>
                </a:solidFill>
                <a:latin typeface="Calibri"/>
              </a:defRPr>
            </a:pPr>
            <a:r>
              <a:rPr lang="en-US" sz="2500" dirty="0"/>
              <a:t>Our Solution: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1">
                <a:solidFill>
                  <a:srgbClr val="000000"/>
                </a:solidFill>
                <a:latin typeface="Calibri"/>
              </a:defRPr>
            </a:pPr>
            <a:r>
              <a:rPr lang="en-US" sz="2500" dirty="0"/>
              <a:t>Learn only from healthy driving data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rPr lang="en-US" sz="2500" dirty="0"/>
              <a:t>Self-supervised contrastive learning (</a:t>
            </a:r>
            <a:r>
              <a:rPr lang="en-DE" sz="2500" b="1" dirty="0">
                <a:solidFill>
                  <a:srgbClr val="000000"/>
                </a:solidFill>
                <a:latin typeface="Calibri"/>
              </a:rPr>
              <a:t>Simple Framework for contrastive Learning of Visual Representation</a:t>
            </a:r>
            <a:r>
              <a:rPr lang="en-US" sz="2500" dirty="0"/>
              <a:t>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rPr lang="en-US" sz="2500" dirty="0"/>
              <a:t>Detect faults as deviations from normality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rPr lang="en-US" sz="2500" dirty="0"/>
              <a:t>Cross-domain: train on real data → test on HIL</a:t>
            </a:r>
          </a:p>
          <a:p>
            <a:endParaRPr sz="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Research Questions</a:t>
            </a:r>
            <a:br>
              <a:rPr lang="de-DE" dirty="0"/>
            </a:b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7155" indent="0"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88398" y="1451641"/>
            <a:ext cx="11247120" cy="1371600"/>
          </a:xfrm>
          <a:prstGeom prst="roundRect">
            <a:avLst/>
          </a:prstGeom>
          <a:solidFill>
            <a:srgbClr val="E6F0FF"/>
          </a:solidFill>
          <a:ln w="19050">
            <a:solidFill>
              <a:srgbClr val="00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600" b="1">
                <a:solidFill>
                  <a:srgbClr val="005AA0"/>
                </a:solidFill>
                <a:latin typeface="Calibri"/>
              </a:defRPr>
            </a:pPr>
            <a:r>
              <a:rPr sz="2400" dirty="0"/>
              <a:t>RQ1: Can self-supervised contrastive learning on healthy data detect sensor faults?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 i="0">
                <a:solidFill>
                  <a:srgbClr val="000000"/>
                </a:solidFill>
                <a:latin typeface="Calibri"/>
              </a:defRPr>
            </a:pPr>
            <a:r>
              <a:rPr sz="2400" dirty="0"/>
              <a:t>Test core feasibility: train on A2D2 real driving data, detect faults in HIL simulation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98" y="3006121"/>
            <a:ext cx="11247120" cy="1371600"/>
          </a:xfrm>
          <a:prstGeom prst="roundRect">
            <a:avLst/>
          </a:prstGeom>
          <a:solidFill>
            <a:srgbClr val="E6FFF0"/>
          </a:solidFill>
          <a:ln w="19050">
            <a:solidFill>
              <a:srgbClr val="00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600" b="1">
                <a:solidFill>
                  <a:srgbClr val="00783C"/>
                </a:solidFill>
                <a:latin typeface="Calibri"/>
              </a:defRPr>
            </a:pPr>
            <a:r>
              <a:rPr sz="2400" dirty="0"/>
              <a:t>RQ2: How does the detection threshold affect precision-recall trade-off?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 i="0">
                <a:solidFill>
                  <a:srgbClr val="000000"/>
                </a:solidFill>
                <a:latin typeface="Calibri"/>
              </a:defRPr>
            </a:pPr>
            <a:r>
              <a:rPr sz="2400" dirty="0"/>
              <a:t>Evaluate six threshold percentiles (15th–40th) to find optimal operating point.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398" y="4560601"/>
            <a:ext cx="11247120" cy="1371600"/>
          </a:xfrm>
          <a:prstGeom prst="roundRect">
            <a:avLst/>
          </a:prstGeom>
          <a:solidFill>
            <a:srgbClr val="FFF0E6"/>
          </a:solidFill>
          <a:ln w="19050">
            <a:solidFill>
              <a:srgbClr val="C8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600" b="1">
                <a:solidFill>
                  <a:srgbClr val="C86400"/>
                </a:solidFill>
                <a:latin typeface="Calibri"/>
              </a:defRPr>
            </a:pPr>
            <a:r>
              <a:rPr sz="2400" dirty="0"/>
              <a:t>RQ3: Which fault types and sensors are most/least detectable?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 i="0">
                <a:solidFill>
                  <a:srgbClr val="000000"/>
                </a:solidFill>
                <a:latin typeface="Calibri"/>
              </a:defRPr>
            </a:pPr>
            <a:r>
              <a:rPr sz="2400" dirty="0"/>
              <a:t>Compare gain, noise, stuck-at faults on accelerator vs. speed sensors.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Related</a:t>
            </a:r>
            <a:r>
              <a:rPr lang="de-DE" dirty="0"/>
              <a:t> Work: </a:t>
            </a:r>
            <a:r>
              <a:rPr lang="de-DE" dirty="0" err="1"/>
              <a:t>Why</a:t>
            </a:r>
            <a:r>
              <a:rPr lang="de-DE" dirty="0"/>
              <a:t> </a:t>
            </a:r>
            <a:r>
              <a:rPr lang="de-DE" dirty="0" err="1"/>
              <a:t>SimCLR</a:t>
            </a:r>
            <a:r>
              <a:rPr lang="de-DE" dirty="0"/>
              <a:t>?</a:t>
            </a:r>
            <a:br>
              <a:rPr lang="de-DE" dirty="0"/>
            </a:b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7155" indent="0">
              <a:buNone/>
            </a:pPr>
            <a:r>
              <a:rPr lang="en-US" dirty="0"/>
              <a:t> </a:t>
            </a:r>
            <a:endParaRPr dirty="0"/>
          </a:p>
        </p:txBody>
      </p:sp>
      <p:pic>
        <p:nvPicPr>
          <p:cNvPr id="5" name="Picture 4" descr="ssl_comparison.png"/>
          <p:cNvPicPr>
            <a:picLocks noChangeAspect="1"/>
          </p:cNvPicPr>
          <p:nvPr/>
        </p:nvPicPr>
        <p:blipFill>
          <a:blip r:embed="rId2"/>
          <a:srcRect b="24474"/>
          <a:stretch>
            <a:fillRect/>
          </a:stretch>
        </p:blipFill>
        <p:spPr>
          <a:xfrm>
            <a:off x="71302" y="1371600"/>
            <a:ext cx="8097379" cy="48487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463040"/>
            <a:ext cx="3123015" cy="4842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Calibri"/>
              </a:defRPr>
            </a:pPr>
            <a:r>
              <a:rPr sz="1600" dirty="0"/>
              <a:t>Why </a:t>
            </a:r>
            <a:r>
              <a:rPr sz="1600" dirty="0" err="1"/>
              <a:t>SimCLR</a:t>
            </a:r>
            <a:r>
              <a:rPr sz="1600" dirty="0"/>
              <a:t>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 i="0">
                <a:solidFill>
                  <a:srgbClr val="000000"/>
                </a:solidFill>
                <a:latin typeface="Calibri"/>
              </a:defRPr>
            </a:pPr>
            <a:endParaRPr sz="1600" dirty="0"/>
          </a:p>
          <a:p>
            <a:pPr>
              <a:spcBef>
                <a:spcPts val="300"/>
              </a:spcBef>
              <a:spcAft>
                <a:spcPts val="200"/>
              </a:spcAft>
              <a:defRPr sz="1500" b="1">
                <a:solidFill>
                  <a:srgbClr val="00783C"/>
                </a:solidFill>
                <a:latin typeface="Calibri"/>
              </a:defRPr>
            </a:pPr>
            <a:r>
              <a:rPr sz="1600" dirty="0"/>
              <a:t>Simplest architecture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rPr sz="1600" dirty="0"/>
              <a:t>No momentum encoder (vs. MoCo)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rPr sz="1600" dirty="0"/>
              <a:t>No asymmetric networks (vs. BYOL)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rPr sz="1600" dirty="0"/>
              <a:t>Strong theory: NT-</a:t>
            </a:r>
            <a:r>
              <a:rPr sz="1600" dirty="0" err="1"/>
              <a:t>Xent</a:t>
            </a:r>
            <a:r>
              <a:rPr sz="1600" dirty="0"/>
              <a:t> loss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 i="0">
                <a:solidFill>
                  <a:srgbClr val="000000"/>
                </a:solidFill>
                <a:latin typeface="Calibri"/>
              </a:defRPr>
            </a:pPr>
            <a:endParaRPr sz="1600" dirty="0"/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 i="0">
                <a:solidFill>
                  <a:srgbClr val="000000"/>
                </a:solidFill>
                <a:latin typeface="Calibri"/>
              </a:defRPr>
            </a:pPr>
            <a:endParaRPr sz="1600" dirty="0"/>
          </a:p>
          <a:p>
            <a:pPr algn="l">
              <a:spcBef>
                <a:spcPts val="400"/>
              </a:spcBef>
              <a:spcAft>
                <a:spcPts val="200"/>
              </a:spcAft>
              <a:defRPr sz="1500" b="1" i="0">
                <a:solidFill>
                  <a:srgbClr val="B41E1E"/>
                </a:solidFill>
                <a:latin typeface="Calibri"/>
              </a:defRPr>
            </a:pPr>
            <a:r>
              <a:rPr sz="1600" dirty="0"/>
              <a:t>Gap: </a:t>
            </a:r>
            <a:endParaRPr lang="en-US" sz="1600" dirty="0"/>
          </a:p>
          <a:p>
            <a:r>
              <a:rPr lang="de-DE" sz="1600" dirty="0"/>
              <a:t> SSL fault </a:t>
            </a:r>
            <a:r>
              <a:rPr lang="de-DE" sz="1600" dirty="0" err="1"/>
              <a:t>diagnosis</a:t>
            </a:r>
            <a:r>
              <a:rPr lang="de-DE" sz="1600" dirty="0"/>
              <a:t> </a:t>
            </a:r>
            <a:r>
              <a:rPr lang="de-DE" sz="1600" dirty="0" err="1"/>
              <a:t>focused</a:t>
            </a:r>
            <a:r>
              <a:rPr lang="de-DE" sz="1600" dirty="0"/>
              <a:t> on </a:t>
            </a:r>
            <a:r>
              <a:rPr lang="de-DE" sz="1600" dirty="0" err="1"/>
              <a:t>bearings</a:t>
            </a:r>
            <a:endParaRPr lang="de-DE" sz="1600" dirty="0"/>
          </a:p>
          <a:p>
            <a:r>
              <a:rPr lang="de-DE" sz="1600" dirty="0"/>
              <a:t>  (Ding et al. 2022, Zhang et al. 2022)</a:t>
            </a:r>
          </a:p>
          <a:p>
            <a:r>
              <a:rPr lang="de-DE" sz="1600" dirty="0"/>
              <a:t>  </a:t>
            </a:r>
            <a:r>
              <a:rPr lang="de-DE" sz="1600" dirty="0" err="1"/>
              <a:t>No</a:t>
            </a:r>
            <a:r>
              <a:rPr lang="de-DE" sz="1600" dirty="0"/>
              <a:t> </a:t>
            </a:r>
            <a:r>
              <a:rPr lang="de-DE" sz="1600" dirty="0" err="1"/>
              <a:t>application</a:t>
            </a:r>
            <a:r>
              <a:rPr lang="de-DE" sz="1600" dirty="0"/>
              <a:t> </a:t>
            </a:r>
            <a:r>
              <a:rPr lang="de-DE" sz="1600" dirty="0" err="1"/>
              <a:t>to</a:t>
            </a:r>
            <a:r>
              <a:rPr lang="de-DE" sz="1600" dirty="0"/>
              <a:t> </a:t>
            </a:r>
            <a:r>
              <a:rPr lang="de-DE" sz="1600" dirty="0" err="1"/>
              <a:t>automotive</a:t>
            </a:r>
            <a:r>
              <a:rPr lang="de-DE" sz="1600" dirty="0"/>
              <a:t> </a:t>
            </a:r>
            <a:r>
              <a:rPr lang="de-DE" sz="1600" dirty="0" err="1"/>
              <a:t>sensors</a:t>
            </a:r>
            <a:endParaRPr lang="de-DE" sz="1600" dirty="0"/>
          </a:p>
          <a:p>
            <a:r>
              <a:rPr lang="de-DE" sz="1600" dirty="0"/>
              <a:t>  </a:t>
            </a:r>
            <a:r>
              <a:rPr lang="de-DE" sz="1600" dirty="0" err="1"/>
              <a:t>No</a:t>
            </a:r>
            <a:r>
              <a:rPr lang="de-DE" sz="1600" dirty="0"/>
              <a:t> </a:t>
            </a:r>
            <a:r>
              <a:rPr lang="de-DE" sz="1600" dirty="0" err="1"/>
              <a:t>cross</a:t>
            </a:r>
            <a:r>
              <a:rPr lang="de-DE" sz="1600" dirty="0"/>
              <a:t>-domain real → HIL </a:t>
            </a:r>
            <a:r>
              <a:rPr lang="de-DE" sz="1600" dirty="0" err="1"/>
              <a:t>transfer</a:t>
            </a:r>
            <a:endParaRPr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Proposed</a:t>
            </a:r>
            <a:r>
              <a:rPr lang="de-DE" dirty="0"/>
              <a:t> Framework: </a:t>
            </a:r>
            <a:r>
              <a:rPr lang="de-DE" dirty="0" err="1"/>
              <a:t>Three</a:t>
            </a:r>
            <a:r>
              <a:rPr lang="de-DE" dirty="0"/>
              <a:t>-Phase Architecture</a:t>
            </a:r>
            <a:br>
              <a:rPr lang="de-DE" dirty="0"/>
            </a:b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7155" indent="0">
              <a:buNone/>
            </a:pPr>
            <a:r>
              <a:rPr lang="en-US" dirty="0"/>
              <a:t> </a:t>
            </a:r>
            <a:endParaRPr dirty="0"/>
          </a:p>
        </p:txBody>
      </p:sp>
      <p:pic>
        <p:nvPicPr>
          <p:cNvPr id="5" name="Picture 4" descr="framework_diagram.png"/>
          <p:cNvPicPr>
            <a:picLocks noChangeAspect="1"/>
          </p:cNvPicPr>
          <p:nvPr/>
        </p:nvPicPr>
        <p:blipFill>
          <a:blip r:embed="rId2"/>
          <a:srcRect t="5439" b="6024"/>
          <a:stretch>
            <a:fillRect/>
          </a:stretch>
        </p:blipFill>
        <p:spPr>
          <a:xfrm>
            <a:off x="0" y="1268759"/>
            <a:ext cx="11430000" cy="44743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5361" y="6030893"/>
            <a:ext cx="10972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050"/>
                </a:solidFill>
                <a:latin typeface="Calibri"/>
              </a:defRPr>
            </a:pPr>
            <a:r>
              <a:rPr sz="2000" b="1" dirty="0">
                <a:solidFill>
                  <a:srgbClr val="00B050"/>
                </a:solidFill>
              </a:rPr>
              <a:t>Phase 1 (green): Train </a:t>
            </a:r>
            <a:r>
              <a:rPr sz="2000" b="1" dirty="0" err="1">
                <a:solidFill>
                  <a:srgbClr val="00B050"/>
                </a:solidFill>
              </a:rPr>
              <a:t>SimCLR</a:t>
            </a:r>
            <a:r>
              <a:rPr sz="2000" b="1" dirty="0">
                <a:solidFill>
                  <a:srgbClr val="00B050"/>
                </a:solidFill>
              </a:rPr>
              <a:t> encoder on healthy A2D2 data  </a:t>
            </a:r>
            <a:r>
              <a:rPr sz="2000" b="1" dirty="0">
                <a:solidFill>
                  <a:srgbClr val="0070C0"/>
                </a:solidFill>
              </a:rPr>
              <a:t>|  Phase 2 (blue): Calibrate with healthy HIL data</a:t>
            </a:r>
            <a:r>
              <a:rPr sz="2000" b="1" dirty="0"/>
              <a:t>  |  </a:t>
            </a:r>
            <a:r>
              <a:rPr sz="2000" b="1" dirty="0">
                <a:solidFill>
                  <a:schemeClr val="accent6">
                    <a:lumMod val="75000"/>
                  </a:schemeClr>
                </a:solidFill>
              </a:rPr>
              <a:t>Phase 3 (orange): Detect faults in HIL test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Datasets: A2D2 (Training) and HIL (Testing)</a:t>
            </a:r>
            <a:br>
              <a:rPr lang="en-US" dirty="0"/>
            </a:b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7155" indent="0"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6172200" cy="4362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83C"/>
                </a:solidFill>
                <a:latin typeface="Calibri"/>
              </a:defRPr>
            </a:pPr>
            <a:r>
              <a:rPr sz="2400" dirty="0"/>
              <a:t>A2D2 — Training Data (Phase 1)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rPr sz="2400" dirty="0"/>
              <a:t>Audi real-world driving, Munich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rPr sz="2400" dirty="0"/>
              <a:t>219,064 samples (36.5 min)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rPr sz="2400" dirty="0"/>
              <a:t>Sensors: Accelerator (%), Speed (km/h)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rPr sz="2400" dirty="0"/>
              <a:t>3 recording sessions combined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1">
                <a:solidFill>
                  <a:srgbClr val="000000"/>
                </a:solidFill>
                <a:latin typeface="Calibri"/>
              </a:defRPr>
            </a:pPr>
            <a:r>
              <a:rPr sz="2400" dirty="0"/>
              <a:t>Only healthy data used for training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 i="0">
                <a:solidFill>
                  <a:srgbClr val="000000"/>
                </a:solidFill>
                <a:latin typeface="Calibri"/>
              </a:defRPr>
            </a:pPr>
            <a:endParaRPr sz="2400" dirty="0"/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 i="0">
                <a:solidFill>
                  <a:srgbClr val="005AA0"/>
                </a:solidFill>
                <a:latin typeface="Calibri"/>
              </a:defRPr>
            </a:pPr>
            <a:r>
              <a:rPr sz="2400" dirty="0"/>
              <a:t>A2D2 Statistics: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000000"/>
                </a:solidFill>
                <a:latin typeface="Calibri"/>
              </a:defRPr>
            </a:pPr>
            <a:r>
              <a:rPr sz="2400" dirty="0"/>
              <a:t>Acc pedal: μ=6.99%, σ=8.70%, range [0, 52]%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300" b="0">
                <a:solidFill>
                  <a:srgbClr val="000000"/>
                </a:solidFill>
                <a:latin typeface="Calibri"/>
              </a:defRPr>
            </a:pPr>
            <a:r>
              <a:rPr sz="2400" dirty="0"/>
              <a:t>Speed: μ=17.21 km/h, σ=14.78, range [0, 73.</a:t>
            </a:r>
            <a:r>
              <a:rPr lang="en-US" sz="2400" dirty="0"/>
              <a:t>36</a:t>
            </a:r>
            <a:r>
              <a:rPr sz="2400" dirty="0"/>
              <a:t>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417320"/>
            <a:ext cx="5303520" cy="2603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41E1E"/>
                </a:solidFill>
                <a:latin typeface="Calibri"/>
              </a:defRPr>
            </a:pPr>
            <a:r>
              <a:rPr lang="de-DE" sz="2400" dirty="0"/>
              <a:t>HIL — Test Data (</a:t>
            </a:r>
            <a:r>
              <a:rPr lang="de-DE" sz="2400" dirty="0" err="1"/>
              <a:t>Phases</a:t>
            </a:r>
            <a:r>
              <a:rPr lang="de-DE" sz="2400" dirty="0"/>
              <a:t> 2-3)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rPr lang="de-DE" sz="2400" dirty="0" err="1"/>
              <a:t>dSPACE</a:t>
            </a:r>
            <a:r>
              <a:rPr lang="de-DE" sz="2400" dirty="0"/>
              <a:t> HIL </a:t>
            </a:r>
            <a:r>
              <a:rPr lang="de-DE" sz="2400" dirty="0" err="1"/>
              <a:t>simulator</a:t>
            </a:r>
            <a:r>
              <a:rPr lang="de-DE" sz="2400" dirty="0"/>
              <a:t>, TU Clausthal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rPr lang="de-DE" sz="2400" dirty="0"/>
              <a:t>1 </a:t>
            </a:r>
            <a:r>
              <a:rPr lang="de-DE" sz="2400" dirty="0" err="1"/>
              <a:t>healthy</a:t>
            </a:r>
            <a:r>
              <a:rPr lang="de-DE" sz="2400" dirty="0"/>
              <a:t> + 6 fault </a:t>
            </a:r>
            <a:r>
              <a:rPr lang="de-DE" sz="2400" dirty="0" err="1"/>
              <a:t>recordings</a:t>
            </a:r>
            <a:endParaRPr lang="de-DE" sz="2400" dirty="0"/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rPr lang="de-DE" sz="2400" dirty="0"/>
              <a:t>3 fault </a:t>
            </a:r>
            <a:r>
              <a:rPr lang="de-DE" sz="2400" dirty="0" err="1"/>
              <a:t>types</a:t>
            </a:r>
            <a:r>
              <a:rPr lang="de-DE" sz="2400" dirty="0"/>
              <a:t> × 2 </a:t>
            </a:r>
            <a:r>
              <a:rPr lang="de-DE" sz="2400" dirty="0" err="1"/>
              <a:t>sensors</a:t>
            </a:r>
            <a:r>
              <a:rPr lang="de-DE" sz="2400" dirty="0"/>
              <a:t> = 6 </a:t>
            </a:r>
            <a:r>
              <a:rPr lang="de-DE" sz="2400" dirty="0" err="1"/>
              <a:t>scenarios</a:t>
            </a:r>
            <a:endParaRPr lang="de-DE" sz="2400" dirty="0"/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rPr lang="de-DE" sz="2400" dirty="0"/>
              <a:t>316 </a:t>
            </a:r>
            <a:r>
              <a:rPr lang="de-DE" sz="2400" dirty="0" err="1"/>
              <a:t>healthy</a:t>
            </a:r>
            <a:r>
              <a:rPr lang="de-DE" sz="2400" dirty="0"/>
              <a:t> </a:t>
            </a:r>
            <a:r>
              <a:rPr lang="de-DE" sz="2400" dirty="0" err="1"/>
              <a:t>windows</a:t>
            </a:r>
            <a:endParaRPr lang="de-DE" sz="2400" dirty="0"/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rPr lang="de-DE" sz="2400" dirty="0">
                <a:latin typeface="Calibri"/>
              </a:rPr>
              <a:t>1,911 fault </a:t>
            </a:r>
            <a:r>
              <a:rPr lang="de-DE" sz="2400" dirty="0" err="1">
                <a:latin typeface="Calibri"/>
              </a:rPr>
              <a:t>windows</a:t>
            </a:r>
            <a:endParaRPr lang="de-DE" sz="2400" dirty="0"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Fault </a:t>
            </a:r>
            <a:r>
              <a:rPr lang="de-DE" dirty="0" err="1"/>
              <a:t>Injection</a:t>
            </a:r>
            <a:r>
              <a:rPr lang="de-DE" dirty="0"/>
              <a:t> </a:t>
            </a:r>
            <a:r>
              <a:rPr lang="de-DE" dirty="0" err="1"/>
              <a:t>Types</a:t>
            </a:r>
            <a:br>
              <a:rPr lang="de-DE" dirty="0"/>
            </a:b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7155" indent="0">
              <a:buNone/>
            </a:pPr>
            <a:r>
              <a:rPr lang="en-US" dirty="0"/>
              <a:t> </a:t>
            </a:r>
            <a:endParaRPr dirty="0"/>
          </a:p>
        </p:txBody>
      </p:sp>
      <p:pic>
        <p:nvPicPr>
          <p:cNvPr id="5" name="Picture 4" descr="fault_type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5879"/>
            <a:ext cx="7806416" cy="43911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463040"/>
            <a:ext cx="3931920" cy="4991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Calibri"/>
              </a:defRPr>
            </a:pPr>
            <a:r>
              <a:rPr sz="2000" dirty="0"/>
              <a:t>Fault Models: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 i="0">
                <a:solidFill>
                  <a:srgbClr val="000000"/>
                </a:solidFill>
                <a:latin typeface="Calibri"/>
              </a:defRPr>
            </a:pPr>
            <a:endParaRPr sz="2000" dirty="0"/>
          </a:p>
          <a:p>
            <a:pPr algn="l">
              <a:spcBef>
                <a:spcPts val="400"/>
              </a:spcBef>
              <a:spcAft>
                <a:spcPts val="200"/>
              </a:spcAft>
              <a:defRPr sz="1700" b="1" i="0">
                <a:solidFill>
                  <a:srgbClr val="B41E1E"/>
                </a:solidFill>
                <a:latin typeface="Calibri"/>
              </a:defRPr>
            </a:pPr>
            <a:r>
              <a:rPr sz="2000" dirty="0"/>
              <a:t>1. Gain Fault: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 i="1">
                <a:solidFill>
                  <a:srgbClr val="000000"/>
                </a:solidFill>
                <a:latin typeface="Calibri"/>
              </a:defRPr>
            </a:pPr>
            <a:r>
              <a:rPr sz="2000" dirty="0"/>
              <a:t>y(t) = α · x(t)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 i="0">
                <a:solidFill>
                  <a:srgbClr val="505050"/>
                </a:solidFill>
                <a:latin typeface="Calibri"/>
              </a:defRPr>
            </a:pPr>
            <a:r>
              <a:rPr sz="2000" dirty="0"/>
              <a:t>Calibration error, amplifier drift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 i="0">
                <a:solidFill>
                  <a:srgbClr val="000000"/>
                </a:solidFill>
                <a:latin typeface="Calibri"/>
              </a:defRPr>
            </a:pPr>
            <a:endParaRPr sz="2000" dirty="0"/>
          </a:p>
          <a:p>
            <a:pPr algn="l">
              <a:spcBef>
                <a:spcPts val="400"/>
              </a:spcBef>
              <a:spcAft>
                <a:spcPts val="200"/>
              </a:spcAft>
              <a:defRPr sz="1700" b="1" i="0">
                <a:solidFill>
                  <a:srgbClr val="00783C"/>
                </a:solidFill>
                <a:latin typeface="Calibri"/>
              </a:defRPr>
            </a:pPr>
            <a:r>
              <a:rPr sz="2000" dirty="0"/>
              <a:t>2. Noise Fault: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 i="1">
                <a:solidFill>
                  <a:srgbClr val="000000"/>
                </a:solidFill>
                <a:latin typeface="Calibri"/>
              </a:defRPr>
            </a:pPr>
            <a:r>
              <a:rPr sz="2000" dirty="0"/>
              <a:t>y(t) = x(t) + η(t),  η ~ N(0,σ²)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 i="0">
                <a:solidFill>
                  <a:srgbClr val="505050"/>
                </a:solidFill>
                <a:latin typeface="Calibri"/>
              </a:defRPr>
            </a:pPr>
            <a:r>
              <a:rPr sz="2000" dirty="0"/>
              <a:t>EMI, loose connections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 i="0">
                <a:solidFill>
                  <a:srgbClr val="000000"/>
                </a:solidFill>
                <a:latin typeface="Calibri"/>
              </a:defRPr>
            </a:pPr>
            <a:endParaRPr sz="2000" dirty="0"/>
          </a:p>
          <a:p>
            <a:pPr algn="l">
              <a:spcBef>
                <a:spcPts val="400"/>
              </a:spcBef>
              <a:spcAft>
                <a:spcPts val="200"/>
              </a:spcAft>
              <a:defRPr sz="1700" b="1" i="0">
                <a:solidFill>
                  <a:srgbClr val="7D3C98"/>
                </a:solidFill>
                <a:latin typeface="Calibri"/>
              </a:defRPr>
            </a:pPr>
            <a:r>
              <a:rPr sz="2000" dirty="0"/>
              <a:t>3. Stuck-at Fault: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 i="1">
                <a:solidFill>
                  <a:srgbClr val="000000"/>
                </a:solidFill>
                <a:latin typeface="Calibri"/>
              </a:defRPr>
            </a:pPr>
            <a:r>
              <a:rPr sz="2000" dirty="0"/>
              <a:t>y(t) = c  (constant)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 i="0">
                <a:solidFill>
                  <a:srgbClr val="505050"/>
                </a:solidFill>
                <a:latin typeface="Calibri"/>
              </a:defRPr>
            </a:pPr>
            <a:r>
              <a:rPr sz="2000" dirty="0"/>
              <a:t>Hardware failure, frozen sensor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SimCLR</a:t>
            </a:r>
            <a:r>
              <a:rPr lang="en-US" dirty="0"/>
              <a:t>: Contrastive Learning Framework</a:t>
            </a:r>
            <a:br>
              <a:rPr lang="en-US" dirty="0"/>
            </a:b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de-DE" dirty="0"/>
          </a:p>
          <a:p>
            <a:endParaRPr dirty="0"/>
          </a:p>
        </p:txBody>
      </p:sp>
      <p:pic>
        <p:nvPicPr>
          <p:cNvPr id="5" name="Picture 4" descr="simclr_architecture.png"/>
          <p:cNvPicPr>
            <a:picLocks noChangeAspect="1"/>
          </p:cNvPicPr>
          <p:nvPr/>
        </p:nvPicPr>
        <p:blipFill>
          <a:blip r:embed="rId2"/>
          <a:srcRect t="20483" b="14157"/>
          <a:stretch>
            <a:fillRect/>
          </a:stretch>
        </p:blipFill>
        <p:spPr>
          <a:xfrm>
            <a:off x="214964" y="1268759"/>
            <a:ext cx="10992394" cy="5040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Data </a:t>
            </a:r>
            <a:r>
              <a:rPr lang="de-DE" dirty="0" err="1"/>
              <a:t>Preprocessing</a:t>
            </a:r>
            <a:r>
              <a:rPr lang="de-DE" dirty="0"/>
              <a:t> and Augmentation</a:t>
            </a:r>
            <a:br>
              <a:rPr lang="de-DE" dirty="0"/>
            </a:b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7155" indent="0"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510272" y="4223885"/>
            <a:ext cx="4572000" cy="2659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Calibri"/>
              </a:defRPr>
            </a:pPr>
            <a:r>
              <a:rPr sz="1700" dirty="0"/>
              <a:t>3 Augmentation Strategies: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 i="0">
                <a:solidFill>
                  <a:srgbClr val="000000"/>
                </a:solidFill>
                <a:latin typeface="Calibri"/>
              </a:defRPr>
            </a:pPr>
            <a:endParaRPr sz="1700" dirty="0"/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rPr sz="1700" b="1" dirty="0"/>
              <a:t>Gaussian Jitter (σ = 0.1)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 i="0">
                <a:solidFill>
                  <a:srgbClr val="505050"/>
                </a:solidFill>
                <a:latin typeface="Calibri"/>
              </a:defRPr>
            </a:pPr>
            <a:r>
              <a:rPr sz="1700" dirty="0"/>
              <a:t>  Simulates sensor noise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rPr sz="1700" b="1" dirty="0"/>
              <a:t>Amplitude Scaling [0.8, 1.2]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 i="0">
                <a:solidFill>
                  <a:srgbClr val="505050"/>
                </a:solidFill>
                <a:latin typeface="Calibri"/>
              </a:defRPr>
            </a:pPr>
            <a:r>
              <a:rPr sz="1700" dirty="0"/>
              <a:t>  Simulates calibration variance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rPr sz="1700" b="1" dirty="0"/>
              <a:t>Temporal Masking (10%)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 i="0">
                <a:solidFill>
                  <a:srgbClr val="505050"/>
                </a:solidFill>
                <a:latin typeface="Calibri"/>
              </a:defRPr>
            </a:pPr>
            <a:r>
              <a:rPr sz="1700" dirty="0"/>
              <a:t>  Forces temporal robustness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430507"/>
              </p:ext>
            </p:extLst>
          </p:nvPr>
        </p:nvGraphicFramePr>
        <p:xfrm>
          <a:off x="109728" y="1268758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4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2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8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700"/>
                        <a:t>Step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700" dirty="0"/>
                        <a:t>Method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700"/>
                        <a:t>Parameters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1700"/>
                        <a:t>Output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700"/>
                        <a:t>Normalization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700" dirty="0"/>
                        <a:t>Z-Score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700" dirty="0"/>
                        <a:t>μ, σ from A2D2 training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700"/>
                        <a:t>Zero mean, unit variance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700"/>
                        <a:t>Segmentation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700" dirty="0"/>
                        <a:t>Sliding Window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700"/>
                        <a:t>W=200, stride=100 (50% overlap)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700"/>
                        <a:t>2,189 windows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700"/>
                        <a:t>Augmentation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700"/>
                        <a:t>Jitter + Scale + Mask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700" dirty="0"/>
                        <a:t>Applied per window, per epoch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sz="1700" dirty="0"/>
                        <a:t>2 views per window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858D9063-334D-CA61-4D37-05C2D28871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18"/>
          <a:stretch>
            <a:fillRect/>
          </a:stretch>
        </p:blipFill>
        <p:spPr>
          <a:xfrm>
            <a:off x="109728" y="4335252"/>
            <a:ext cx="7123176" cy="24369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4A6E2-5A0D-A441-B0A8-BB9FB7AEE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1D-CNN Encoder Architecture and </a:t>
            </a:r>
            <a:r>
              <a:rPr lang="de-DE" dirty="0" err="1"/>
              <a:t>Projection</a:t>
            </a:r>
            <a:r>
              <a:rPr lang="de-DE" dirty="0"/>
              <a:t> Head g(·)</a:t>
            </a:r>
            <a:endParaRPr lang="en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4225B-EECA-00B8-911E-11F98038F0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7155" indent="0">
              <a:buNone/>
            </a:pPr>
            <a:r>
              <a:rPr lang="en-US" dirty="0"/>
              <a:t> </a:t>
            </a:r>
            <a:r>
              <a:rPr lang="de-DE" b="1" dirty="0"/>
              <a:t>1D-CNN Encoder Architecture</a:t>
            </a:r>
          </a:p>
          <a:p>
            <a:pPr marL="97155" indent="0">
              <a:buNone/>
            </a:pPr>
            <a:endParaRPr lang="de-DE" dirty="0"/>
          </a:p>
          <a:p>
            <a:pPr marL="97155" indent="0">
              <a:buNone/>
            </a:pPr>
            <a:endParaRPr lang="de-DE" dirty="0"/>
          </a:p>
          <a:p>
            <a:pPr marL="97155" indent="0">
              <a:buNone/>
            </a:pPr>
            <a:endParaRPr lang="de-DE" dirty="0"/>
          </a:p>
          <a:p>
            <a:pPr marL="97155" indent="0">
              <a:buNone/>
            </a:pPr>
            <a:endParaRPr lang="de-DE" dirty="0"/>
          </a:p>
          <a:p>
            <a:pPr marL="97155" indent="0">
              <a:buNone/>
            </a:pPr>
            <a:endParaRPr lang="de-DE" dirty="0"/>
          </a:p>
          <a:p>
            <a:pPr marL="97155" indent="0">
              <a:buNone/>
            </a:pPr>
            <a:endParaRPr lang="de-DE" dirty="0"/>
          </a:p>
          <a:p>
            <a:pPr marL="97155" indent="0">
              <a:buNone/>
            </a:pPr>
            <a:endParaRPr lang="de-DE" dirty="0"/>
          </a:p>
          <a:p>
            <a:pPr marL="97155" indent="0">
              <a:buNone/>
            </a:pPr>
            <a:endParaRPr lang="de-DE" dirty="0"/>
          </a:p>
          <a:p>
            <a:pPr marL="97155" indent="0">
              <a:buNone/>
            </a:pPr>
            <a:endParaRPr lang="de-DE" dirty="0"/>
          </a:p>
          <a:p>
            <a:pPr marL="97155" indent="0">
              <a:buNone/>
            </a:pPr>
            <a:endParaRPr lang="de-DE" sz="1600" b="1" dirty="0"/>
          </a:p>
          <a:p>
            <a:pPr marL="97155" indent="0">
              <a:buNone/>
            </a:pPr>
            <a:r>
              <a:rPr lang="de-DE" sz="1600" b="1" dirty="0" err="1"/>
              <a:t>Projection</a:t>
            </a:r>
            <a:r>
              <a:rPr lang="de-DE" sz="1600" b="1" dirty="0"/>
              <a:t> Head g(·)</a:t>
            </a:r>
            <a:endParaRPr lang="en-DE" sz="1600" b="1" dirty="0"/>
          </a:p>
        </p:txBody>
      </p:sp>
      <p:pic>
        <p:nvPicPr>
          <p:cNvPr id="4" name="Picture 3" descr="encoder_architecture.png">
            <a:extLst>
              <a:ext uri="{FF2B5EF4-FFF2-40B4-BE49-F238E27FC236}">
                <a16:creationId xmlns:a16="http://schemas.microsoft.com/office/drawing/2014/main" id="{03EDAF35-8227-9A0E-C763-B40A29D756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80" t="9729" b="21015"/>
          <a:stretch>
            <a:fillRect/>
          </a:stretch>
        </p:blipFill>
        <p:spPr>
          <a:xfrm>
            <a:off x="34817" y="1673731"/>
            <a:ext cx="11354281" cy="24604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18188AC-477E-0728-C79D-49644D9E7A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22" t="31288" r="1622" b="31477"/>
          <a:stretch>
            <a:fillRect/>
          </a:stretch>
        </p:blipFill>
        <p:spPr>
          <a:xfrm>
            <a:off x="335361" y="4539108"/>
            <a:ext cx="10753195" cy="2318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380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3B8AF-378F-CCCD-8521-5F1CDCC16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NT-</a:t>
            </a:r>
            <a:r>
              <a:rPr lang="de-DE" dirty="0" err="1"/>
              <a:t>Xent</a:t>
            </a:r>
            <a:r>
              <a:rPr lang="de-DE" dirty="0"/>
              <a:t> Loss (</a:t>
            </a:r>
            <a:r>
              <a:rPr lang="de-DE" dirty="0" err="1"/>
              <a:t>Contrastive</a:t>
            </a:r>
            <a:r>
              <a:rPr lang="de-DE" dirty="0"/>
              <a:t>):</a:t>
            </a:r>
            <a:br>
              <a:rPr lang="de-DE" dirty="0"/>
            </a:br>
            <a:endParaRPr lang="en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ABCD99-C9F2-DBAF-AD57-900457851D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400"/>
              </a:spcBef>
              <a:spcAft>
                <a:spcPts val="200"/>
              </a:spcAft>
              <a:defRPr sz="1700" b="1" i="0">
                <a:solidFill>
                  <a:srgbClr val="005AA0"/>
                </a:solidFill>
                <a:latin typeface="Calibri"/>
              </a:defRPr>
            </a:pPr>
            <a:r>
              <a:rPr lang="de-DE" sz="2000" dirty="0" err="1"/>
              <a:t>Normalize</a:t>
            </a:r>
            <a:r>
              <a:rPr lang="de-DE" sz="2000" dirty="0"/>
              <a:t> </a:t>
            </a:r>
            <a:r>
              <a:rPr lang="de-DE" sz="2000" dirty="0" err="1"/>
              <a:t>to</a:t>
            </a:r>
            <a:r>
              <a:rPr lang="de-DE" sz="2000" dirty="0"/>
              <a:t> Unit </a:t>
            </a:r>
            <a:r>
              <a:rPr lang="de-DE" sz="2000" dirty="0" err="1"/>
              <a:t>Length</a:t>
            </a:r>
            <a:r>
              <a:rPr lang="de-DE" sz="2000" dirty="0"/>
              <a:t>: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rPr lang="de-DE" dirty="0" err="1"/>
              <a:t>z_normalized</a:t>
            </a:r>
            <a:r>
              <a:rPr lang="de-DE" dirty="0"/>
              <a:t> = z / ||z||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rPr lang="de-DE" dirty="0" err="1"/>
              <a:t>Where</a:t>
            </a:r>
            <a:r>
              <a:rPr lang="de-DE" dirty="0"/>
              <a:t> ||z|| = </a:t>
            </a:r>
            <a:r>
              <a:rPr lang="de-DE" dirty="0" err="1"/>
              <a:t>sqrt</a:t>
            </a:r>
            <a:r>
              <a:rPr lang="de-DE" dirty="0"/>
              <a:t>(z₀² + z₁² + z₂² + ... + z₁₂₇²)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endParaRPr lang="de-DE" dirty="0"/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rPr lang="de-DE" sz="2000" b="1" dirty="0" err="1">
                <a:solidFill>
                  <a:srgbClr val="005AA0"/>
                </a:solidFill>
                <a:latin typeface="Calibri"/>
              </a:rPr>
              <a:t>Compute</a:t>
            </a:r>
            <a:r>
              <a:rPr lang="de-DE" sz="2000" b="1" dirty="0">
                <a:solidFill>
                  <a:srgbClr val="005AA0"/>
                </a:solidFill>
                <a:latin typeface="Calibri"/>
              </a:rPr>
              <a:t> </a:t>
            </a:r>
            <a:r>
              <a:rPr lang="de-DE" sz="2000" b="1" dirty="0" err="1">
                <a:solidFill>
                  <a:srgbClr val="005AA0"/>
                </a:solidFill>
                <a:latin typeface="Calibri"/>
              </a:rPr>
              <a:t>Dot</a:t>
            </a:r>
            <a:r>
              <a:rPr lang="de-DE" sz="2000" b="1" dirty="0">
                <a:solidFill>
                  <a:srgbClr val="005AA0"/>
                </a:solidFill>
                <a:latin typeface="Calibri"/>
              </a:rPr>
              <a:t> </a:t>
            </a:r>
            <a:r>
              <a:rPr lang="de-DE" sz="2000" b="1" dirty="0" err="1">
                <a:solidFill>
                  <a:srgbClr val="005AA0"/>
                </a:solidFill>
                <a:latin typeface="Calibri"/>
              </a:rPr>
              <a:t>Product</a:t>
            </a:r>
            <a:r>
              <a:rPr lang="de-DE" sz="2000" b="1" dirty="0">
                <a:solidFill>
                  <a:srgbClr val="005AA0"/>
                </a:solidFill>
                <a:latin typeface="Calibri"/>
              </a:rPr>
              <a:t> </a:t>
            </a:r>
            <a:r>
              <a:rPr lang="de-DE" sz="2000" b="1" dirty="0" err="1">
                <a:solidFill>
                  <a:srgbClr val="005AA0"/>
                </a:solidFill>
                <a:latin typeface="Calibri"/>
              </a:rPr>
              <a:t>of</a:t>
            </a:r>
            <a:r>
              <a:rPr lang="de-DE" sz="2000" b="1" dirty="0">
                <a:solidFill>
                  <a:srgbClr val="005AA0"/>
                </a:solidFill>
                <a:latin typeface="Calibri"/>
              </a:rPr>
              <a:t> </a:t>
            </a:r>
            <a:r>
              <a:rPr lang="de-DE" sz="2000" b="1" dirty="0" err="1">
                <a:solidFill>
                  <a:srgbClr val="005AA0"/>
                </a:solidFill>
                <a:latin typeface="Calibri"/>
              </a:rPr>
              <a:t>two</a:t>
            </a:r>
            <a:r>
              <a:rPr lang="de-DE" sz="2000" b="1" dirty="0">
                <a:solidFill>
                  <a:srgbClr val="005AA0"/>
                </a:solidFill>
                <a:latin typeface="Calibri"/>
              </a:rPr>
              <a:t> </a:t>
            </a:r>
            <a:r>
              <a:rPr lang="de-DE" sz="2000" b="1" dirty="0" err="1">
                <a:solidFill>
                  <a:srgbClr val="005AA0"/>
                </a:solidFill>
                <a:latin typeface="Calibri"/>
              </a:rPr>
              <a:t>vectors</a:t>
            </a:r>
            <a:r>
              <a:rPr lang="de-DE" sz="2000" b="1" dirty="0">
                <a:solidFill>
                  <a:srgbClr val="005AA0"/>
                </a:solidFill>
                <a:latin typeface="Calibri"/>
              </a:rPr>
              <a:t> (</a:t>
            </a:r>
            <a:r>
              <a:rPr lang="de-DE" sz="2000" b="1" dirty="0" err="1">
                <a:solidFill>
                  <a:srgbClr val="005AA0"/>
                </a:solidFill>
                <a:latin typeface="Calibri"/>
              </a:rPr>
              <a:t>Similarity</a:t>
            </a:r>
            <a:r>
              <a:rPr lang="de-DE" sz="2000" b="1" dirty="0">
                <a:solidFill>
                  <a:srgbClr val="005AA0"/>
                </a:solidFill>
                <a:latin typeface="Calibri"/>
              </a:rPr>
              <a:t>):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rPr lang="de-DE" dirty="0" err="1"/>
              <a:t>Dot</a:t>
            </a:r>
            <a:r>
              <a:rPr lang="de-DE" dirty="0"/>
              <a:t> </a:t>
            </a:r>
            <a:r>
              <a:rPr lang="de-DE" dirty="0" err="1"/>
              <a:t>product</a:t>
            </a:r>
            <a:r>
              <a:rPr lang="de-DE" dirty="0"/>
              <a:t> : </a:t>
            </a:r>
            <a:r>
              <a:rPr lang="de-DE" dirty="0" err="1"/>
              <a:t>z_a</a:t>
            </a:r>
            <a:r>
              <a:rPr lang="de-DE" dirty="0"/>
              <a:t> · </a:t>
            </a:r>
            <a:r>
              <a:rPr lang="de-DE" dirty="0" err="1"/>
              <a:t>z_b</a:t>
            </a:r>
            <a:r>
              <a:rPr lang="de-DE" dirty="0"/>
              <a:t> = a₀×b₀ + a₁×b₁ + a₂×b₂ + ... + a₁₂₇×b₁₂₇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1">
                <a:solidFill>
                  <a:srgbClr val="000000"/>
                </a:solidFill>
                <a:latin typeface="Calibri"/>
              </a:defRPr>
            </a:pPr>
            <a:endParaRPr lang="de-DE" dirty="0"/>
          </a:p>
          <a:p>
            <a:pPr>
              <a:defRPr sz="1700" b="1">
                <a:solidFill>
                  <a:srgbClr val="003366"/>
                </a:solidFill>
                <a:latin typeface="Calibri"/>
              </a:defRPr>
            </a:pPr>
            <a:r>
              <a:rPr lang="de-DE" sz="2000" dirty="0"/>
              <a:t>NT-</a:t>
            </a:r>
            <a:r>
              <a:rPr lang="de-DE" sz="2000" dirty="0" err="1"/>
              <a:t>Xent</a:t>
            </a:r>
            <a:r>
              <a:rPr lang="de-DE" sz="2000" dirty="0"/>
              <a:t> Loss (</a:t>
            </a:r>
            <a:r>
              <a:rPr lang="de-DE" sz="2000" dirty="0" err="1"/>
              <a:t>Contrastive</a:t>
            </a:r>
            <a:r>
              <a:rPr lang="de-DE" sz="2000" dirty="0"/>
              <a:t>):  </a:t>
            </a:r>
            <a:r>
              <a:rPr lang="de-DE" dirty="0"/>
              <a:t>                                                                                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400" b="0" i="0">
                <a:solidFill>
                  <a:srgbClr val="000000"/>
                </a:solidFill>
                <a:latin typeface="Calibri"/>
              </a:defRPr>
            </a:pPr>
            <a:endParaRPr lang="de-DE" dirty="0"/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00783C"/>
                </a:solidFill>
                <a:latin typeface="Calibri"/>
              </a:defRPr>
            </a:pPr>
            <a:r>
              <a:rPr lang="de-DE" dirty="0"/>
              <a:t>(zᵢ, zⱼ) = positive pair (same </a:t>
            </a:r>
            <a:r>
              <a:rPr lang="de-DE" dirty="0" err="1"/>
              <a:t>window</a:t>
            </a:r>
            <a:r>
              <a:rPr lang="de-DE" dirty="0"/>
              <a:t>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B41E1E"/>
                </a:solidFill>
                <a:latin typeface="Calibri"/>
              </a:defRPr>
            </a:pPr>
            <a:r>
              <a:rPr lang="de-DE" dirty="0"/>
              <a:t>(zᵢ, zₖ)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k≠i</a:t>
            </a:r>
            <a:r>
              <a:rPr lang="de-DE" dirty="0"/>
              <a:t> = negative </a:t>
            </a:r>
            <a:r>
              <a:rPr lang="de-DE" dirty="0" err="1"/>
              <a:t>pairs</a:t>
            </a:r>
            <a:endParaRPr lang="de-DE" dirty="0"/>
          </a:p>
          <a:p>
            <a:pPr>
              <a:spcBef>
                <a:spcPts val="300"/>
              </a:spcBef>
              <a:spcAft>
                <a:spcPts val="200"/>
              </a:spcAft>
              <a:defRPr sz="1400" b="1">
                <a:solidFill>
                  <a:srgbClr val="000000"/>
                </a:solidFill>
                <a:latin typeface="Calibri"/>
              </a:defRPr>
            </a:pPr>
            <a:endParaRPr lang="de-DE" dirty="0"/>
          </a:p>
          <a:p>
            <a:pPr>
              <a:spcBef>
                <a:spcPts val="300"/>
              </a:spcBef>
              <a:spcAft>
                <a:spcPts val="200"/>
              </a:spcAft>
              <a:defRPr sz="1400" b="1">
                <a:solidFill>
                  <a:srgbClr val="000000"/>
                </a:solidFill>
                <a:latin typeface="Calibri"/>
              </a:defRPr>
            </a:pPr>
            <a:endParaRPr lang="de-DE" dirty="0"/>
          </a:p>
          <a:p>
            <a:pPr>
              <a:spcBef>
                <a:spcPts val="300"/>
              </a:spcBef>
              <a:spcAft>
                <a:spcPts val="200"/>
              </a:spcAft>
              <a:defRPr sz="1400" b="1">
                <a:solidFill>
                  <a:srgbClr val="000000"/>
                </a:solidFill>
                <a:latin typeface="Calibri"/>
              </a:defRPr>
            </a:pPr>
            <a:endParaRPr lang="de-DE" dirty="0"/>
          </a:p>
          <a:p>
            <a:r>
              <a:rPr lang="de-DE" sz="2000" b="1" dirty="0"/>
              <a:t>NT-</a:t>
            </a:r>
            <a:r>
              <a:rPr lang="de-DE" sz="2000" b="1" dirty="0" err="1"/>
              <a:t>Xent</a:t>
            </a:r>
            <a:r>
              <a:rPr lang="de-DE" sz="2000" b="1" dirty="0"/>
              <a:t> Loss: ℓ</a:t>
            </a:r>
            <a:r>
              <a:rPr lang="de-DE" sz="2000" b="1" dirty="0" err="1"/>
              <a:t>i,j</a:t>
            </a:r>
            <a:r>
              <a:rPr lang="de-DE" sz="2000" b="1" dirty="0"/>
              <a:t>                                                                                 , </a:t>
            </a:r>
            <a:r>
              <a:rPr lang="de-DE" sz="2000" b="1" dirty="0" err="1"/>
              <a:t>with</a:t>
            </a:r>
            <a:r>
              <a:rPr lang="de-DE" sz="2000" b="1" dirty="0"/>
              <a:t> </a:t>
            </a:r>
            <a:r>
              <a:rPr lang="el-GR" sz="2000" b="1" dirty="0"/>
              <a:t>τ = 0.5</a:t>
            </a:r>
            <a:endParaRPr lang="de-DE" sz="2000" b="1" dirty="0"/>
          </a:p>
          <a:p>
            <a:endParaRPr lang="de-DE" sz="2000" b="1" dirty="0"/>
          </a:p>
          <a:p>
            <a:pPr>
              <a:spcBef>
                <a:spcPts val="300"/>
              </a:spcBef>
              <a:spcAft>
                <a:spcPts val="200"/>
              </a:spcAft>
              <a:defRPr sz="1400" b="1">
                <a:solidFill>
                  <a:srgbClr val="000000"/>
                </a:solidFill>
                <a:latin typeface="Calibri"/>
              </a:defRPr>
            </a:pPr>
            <a:endParaRPr lang="de-DE" dirty="0"/>
          </a:p>
          <a:p>
            <a:pPr marL="97155" indent="0">
              <a:buNone/>
            </a:pPr>
            <a:endParaRPr lang="en-US" dirty="0"/>
          </a:p>
          <a:p>
            <a:pPr marL="97155" indent="0">
              <a:buNone/>
            </a:pPr>
            <a:endParaRPr lang="en-US" dirty="0"/>
          </a:p>
          <a:p>
            <a:pPr marL="97155" indent="0">
              <a:buNone/>
            </a:pPr>
            <a:endParaRPr lang="en-DE" dirty="0"/>
          </a:p>
        </p:txBody>
      </p:sp>
      <p:pic>
        <p:nvPicPr>
          <p:cNvPr id="8" name="Picture 2" descr="NT-Xent (Normalized Temperature-Scaled Cross-Entropy) Loss Explained and  Implemented in PyTorch | by Dhruv Matani | TDS Archive | Medium">
            <a:extLst>
              <a:ext uri="{FF2B5EF4-FFF2-40B4-BE49-F238E27FC236}">
                <a16:creationId xmlns:a16="http://schemas.microsoft.com/office/drawing/2014/main" id="{6FA34D71-AFD2-AC2B-22C8-B56E9D02AD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06" t="8365" r="3767" b="18563"/>
          <a:stretch>
            <a:fillRect/>
          </a:stretch>
        </p:blipFill>
        <p:spPr bwMode="auto">
          <a:xfrm>
            <a:off x="3172172" y="4860598"/>
            <a:ext cx="5518483" cy="1159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3" descr="Cross Entropy Loss: Intro, Applications, Code">
            <a:extLst>
              <a:ext uri="{FF2B5EF4-FFF2-40B4-BE49-F238E27FC236}">
                <a16:creationId xmlns:a16="http://schemas.microsoft.com/office/drawing/2014/main" id="{B7AE414A-B98E-A449-8503-DD705A56500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834345"/>
            <a:ext cx="2747055" cy="2747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DE"/>
          </a:p>
        </p:txBody>
      </p:sp>
      <p:sp>
        <p:nvSpPr>
          <p:cNvPr id="6" name="AutoShape 5" descr="Cross Entropy Loss: Intro, Applications, Code">
            <a:extLst>
              <a:ext uri="{FF2B5EF4-FFF2-40B4-BE49-F238E27FC236}">
                <a16:creationId xmlns:a16="http://schemas.microsoft.com/office/drawing/2014/main" id="{53D17ACF-7B12-4A3A-09A8-9702B7E477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DE"/>
          </a:p>
        </p:txBody>
      </p:sp>
      <p:sp>
        <p:nvSpPr>
          <p:cNvPr id="7" name="AutoShape 7" descr="Cross Entropy Loss: Intro, Applications, Code">
            <a:extLst>
              <a:ext uri="{FF2B5EF4-FFF2-40B4-BE49-F238E27FC236}">
                <a16:creationId xmlns:a16="http://schemas.microsoft.com/office/drawing/2014/main" id="{D6046D48-4241-C309-3A6C-32A878E518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32901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Anomaly</a:t>
            </a:r>
            <a:r>
              <a:rPr lang="de-DE" dirty="0"/>
              <a:t> </a:t>
            </a:r>
            <a:r>
              <a:rPr lang="de-DE" dirty="0" err="1"/>
              <a:t>Detection</a:t>
            </a:r>
            <a:r>
              <a:rPr lang="de-DE" dirty="0"/>
              <a:t> Method</a:t>
            </a:r>
            <a:br>
              <a:rPr lang="de-DE" dirty="0"/>
            </a:b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7155" indent="0">
              <a:buNone/>
            </a:pPr>
            <a:r>
              <a:rPr lang="en-US" dirty="0"/>
              <a:t> </a:t>
            </a:r>
            <a:endParaRPr dirty="0"/>
          </a:p>
        </p:txBody>
      </p:sp>
      <p:pic>
        <p:nvPicPr>
          <p:cNvPr id="5" name="Picture 4" descr="anomaly_detection_flow.png"/>
          <p:cNvPicPr>
            <a:picLocks noChangeAspect="1"/>
          </p:cNvPicPr>
          <p:nvPr/>
        </p:nvPicPr>
        <p:blipFill>
          <a:blip r:embed="rId2"/>
          <a:srcRect b="5082"/>
          <a:stretch>
            <a:fillRect/>
          </a:stretch>
        </p:blipFill>
        <p:spPr>
          <a:xfrm>
            <a:off x="0" y="1155033"/>
            <a:ext cx="11430000" cy="34625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5361" y="4617587"/>
            <a:ext cx="530352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5AA0"/>
                </a:solidFill>
                <a:latin typeface="Calibri"/>
              </a:defRPr>
            </a:pPr>
            <a:r>
              <a:rPr sz="2200" dirty="0"/>
              <a:t>Phase 2: Calibration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rPr lang="en-US" sz="2200" dirty="0"/>
              <a:t>94</a:t>
            </a:r>
            <a:r>
              <a:rPr sz="2200" dirty="0"/>
              <a:t> healthy HIL windows </a:t>
            </a:r>
            <a:endParaRPr lang="en-US" sz="2200" dirty="0"/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rPr sz="2200" dirty="0"/>
              <a:t>Pass through frozen encoder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rPr sz="2200" dirty="0"/>
              <a:t>Compute healthy centroid: μ = mean(h)</a:t>
            </a:r>
            <a:r>
              <a:rPr lang="en-US" sz="2200" dirty="0"/>
              <a:t> </a:t>
            </a:r>
            <a:endParaRPr sz="2200" dirty="0"/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rPr sz="2200" dirty="0"/>
              <a:t>Set thresholds at 6 percentile levels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0397" y="4603234"/>
            <a:ext cx="5303520" cy="23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86400"/>
                </a:solidFill>
                <a:latin typeface="Calibri"/>
              </a:defRPr>
            </a:pPr>
            <a:r>
              <a:rPr sz="2200" dirty="0"/>
              <a:t>Phase 3: Detection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rPr sz="2200" dirty="0"/>
              <a:t>Encode each test window → embedding h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rPr sz="2200" dirty="0"/>
              <a:t>Compute</a:t>
            </a:r>
            <a:r>
              <a:rPr lang="en-US" sz="2200" dirty="0"/>
              <a:t> </a:t>
            </a:r>
            <a:r>
              <a:rPr sz="2200" dirty="0"/>
              <a:t>cosine similarity</a:t>
            </a:r>
            <a:r>
              <a:rPr lang="en-DE" sz="2200" dirty="0"/>
              <a:t> → </a:t>
            </a:r>
            <a:r>
              <a:rPr lang="pt-BR" sz="2200" dirty="0"/>
              <a:t>sim(h,µh) = h·µh / ∥h∥∥µh∥</a:t>
            </a:r>
            <a:endParaRPr sz="2200" dirty="0"/>
          </a:p>
          <a:p>
            <a:pPr>
              <a:spcBef>
                <a:spcPts val="300"/>
              </a:spcBef>
              <a:spcAft>
                <a:spcPts val="200"/>
              </a:spcAft>
              <a:defRPr sz="1500" b="1">
                <a:solidFill>
                  <a:srgbClr val="B41E1E"/>
                </a:solidFill>
                <a:latin typeface="Calibri"/>
              </a:defRPr>
            </a:pPr>
            <a:r>
              <a:rPr sz="2200" dirty="0"/>
              <a:t>If sim &lt; τ : FAULTY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1">
                <a:solidFill>
                  <a:srgbClr val="00783C"/>
                </a:solidFill>
                <a:latin typeface="Calibri"/>
              </a:defRPr>
            </a:pPr>
            <a:r>
              <a:rPr sz="2200" dirty="0"/>
              <a:t>If sim ≥ τ : HEALTHY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Results</a:t>
            </a:r>
            <a:r>
              <a:rPr lang="de-DE" dirty="0"/>
              <a:t>: Multi-Threshold </a:t>
            </a:r>
            <a:r>
              <a:rPr lang="de-DE" dirty="0" err="1"/>
              <a:t>Detection</a:t>
            </a:r>
            <a:r>
              <a:rPr lang="de-DE" dirty="0"/>
              <a:t> Performance</a:t>
            </a:r>
            <a:br>
              <a:rPr lang="de-DE" dirty="0"/>
            </a:b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7155" indent="0">
              <a:buNone/>
            </a:pPr>
            <a:r>
              <a:rPr lang="en-US" dirty="0"/>
              <a:t> </a:t>
            </a:r>
            <a:endParaRPr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1099480"/>
              </p:ext>
            </p:extLst>
          </p:nvPr>
        </p:nvGraphicFramePr>
        <p:xfrm>
          <a:off x="5943599" y="1268758"/>
          <a:ext cx="5363156" cy="3971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0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07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07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07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7307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Percentile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Threshold τ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F1-Score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307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15th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dirty="0"/>
                        <a:t>0.89</a:t>
                      </a:r>
                      <a:r>
                        <a:rPr lang="en-US" dirty="0"/>
                        <a:t>01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dirty="0"/>
                        <a:t>0.</a:t>
                      </a:r>
                      <a:r>
                        <a:rPr lang="en-US" dirty="0"/>
                        <a:t>4919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dirty="0"/>
                        <a:t>0.</a:t>
                      </a:r>
                      <a:r>
                        <a:rPr lang="en-US" dirty="0"/>
                        <a:t>6510</a:t>
                      </a:r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307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20th</a:t>
                      </a:r>
                      <a:endParaRPr dirty="0"/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dirty="0"/>
                        <a:t>0.92</a:t>
                      </a:r>
                      <a:r>
                        <a:rPr lang="en-US" dirty="0"/>
                        <a:t>68</a:t>
                      </a:r>
                      <a:endParaRPr dirty="0"/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dirty="0"/>
                        <a:t>0.</a:t>
                      </a:r>
                      <a:r>
                        <a:rPr lang="en-US" dirty="0"/>
                        <a:t>6359</a:t>
                      </a:r>
                      <a:endParaRPr dirty="0"/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dirty="0"/>
                        <a:t>0.</a:t>
                      </a:r>
                      <a:r>
                        <a:rPr lang="en-US" dirty="0"/>
                        <a:t>7718</a:t>
                      </a:r>
                      <a:endParaRPr dirty="0"/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307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25th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dirty="0"/>
                        <a:t>0.94</a:t>
                      </a:r>
                      <a:r>
                        <a:rPr lang="en-US" dirty="0"/>
                        <a:t>77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dirty="0"/>
                        <a:t>0.</a:t>
                      </a:r>
                      <a:r>
                        <a:rPr lang="en-US" dirty="0"/>
                        <a:t>8616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dirty="0"/>
                        <a:t>0.925</a:t>
                      </a: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7307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30th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dirty="0"/>
                        <a:t>0.9</a:t>
                      </a:r>
                      <a:r>
                        <a:rPr lang="en-US" dirty="0"/>
                        <a:t>742</a:t>
                      </a:r>
                      <a:endParaRPr dirty="0"/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dirty="0"/>
                        <a:t>0.90</a:t>
                      </a:r>
                      <a:r>
                        <a:rPr lang="en-US" dirty="0"/>
                        <a:t>63</a:t>
                      </a:r>
                      <a:endParaRPr dirty="0"/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dirty="0"/>
                        <a:t>0.95</a:t>
                      </a:r>
                      <a:r>
                        <a:rPr lang="en-US" dirty="0"/>
                        <a:t>03</a:t>
                      </a:r>
                      <a:endParaRPr dirty="0"/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7307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35th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dirty="0"/>
                        <a:t>0.97</a:t>
                      </a:r>
                      <a:r>
                        <a:rPr lang="en-US" dirty="0"/>
                        <a:t>56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dirty="0"/>
                        <a:t>0.91</a:t>
                      </a:r>
                      <a:r>
                        <a:rPr lang="en-US" dirty="0"/>
                        <a:t>52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dirty="0"/>
                        <a:t>0.95</a:t>
                      </a:r>
                      <a:r>
                        <a:rPr lang="en-US" dirty="0"/>
                        <a:t>51</a:t>
                      </a:r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7307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783C"/>
                          </a:solidFill>
                          <a:latin typeface="Calibri"/>
                        </a:defRPr>
                      </a:pPr>
                      <a:r>
                        <a:t>40th</a:t>
                      </a:r>
                    </a:p>
                  </a:txBody>
                  <a:tcPr anchor="ctr">
                    <a:solidFill>
                      <a:srgbClr val="FFFF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783C"/>
                          </a:solidFill>
                          <a:latin typeface="Calibri"/>
                        </a:defRPr>
                      </a:pPr>
                      <a:r>
                        <a:rPr dirty="0"/>
                        <a:t>0.9</a:t>
                      </a:r>
                      <a:r>
                        <a:rPr lang="en-US" dirty="0"/>
                        <a:t>803</a:t>
                      </a:r>
                      <a:endParaRPr dirty="0"/>
                    </a:p>
                  </a:txBody>
                  <a:tcPr anchor="ctr">
                    <a:solidFill>
                      <a:srgbClr val="FFFF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783C"/>
                          </a:solidFill>
                          <a:latin typeface="Calibri"/>
                        </a:defRPr>
                      </a:pPr>
                      <a:r>
                        <a:rPr dirty="0"/>
                        <a:t>0.9</a:t>
                      </a:r>
                      <a:r>
                        <a:rPr lang="en-US" dirty="0"/>
                        <a:t>188</a:t>
                      </a:r>
                      <a:endParaRPr dirty="0"/>
                    </a:p>
                  </a:txBody>
                  <a:tcPr anchor="ctr">
                    <a:solidFill>
                      <a:srgbClr val="FFFF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783C"/>
                          </a:solidFill>
                          <a:latin typeface="Calibri"/>
                        </a:defRPr>
                      </a:pPr>
                      <a:r>
                        <a:rPr dirty="0"/>
                        <a:t>0.9</a:t>
                      </a:r>
                      <a:r>
                        <a:rPr lang="en-US" dirty="0"/>
                        <a:t>571</a:t>
                      </a:r>
                      <a:endParaRPr dirty="0"/>
                    </a:p>
                  </a:txBody>
                  <a:tcPr anchor="ctr">
                    <a:solidFill>
                      <a:srgbClr val="FFFF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0" y="4846320"/>
            <a:ext cx="5760720" cy="1997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3366"/>
                </a:solidFill>
                <a:latin typeface="Calibri"/>
              </a:defRPr>
            </a:pPr>
            <a:endParaRPr lang="en-US" dirty="0"/>
          </a:p>
          <a:p>
            <a:pPr algn="l">
              <a:defRPr sz="1700" b="1">
                <a:solidFill>
                  <a:srgbClr val="003366"/>
                </a:solidFill>
                <a:latin typeface="Calibri"/>
              </a:defRPr>
            </a:pPr>
            <a:endParaRPr lang="en-US" dirty="0"/>
          </a:p>
          <a:p>
            <a:pPr algn="l">
              <a:defRPr sz="1700" b="1">
                <a:solidFill>
                  <a:srgbClr val="003366"/>
                </a:solidFill>
                <a:latin typeface="Calibri"/>
              </a:defRPr>
            </a:pPr>
            <a:endParaRPr lang="en-US" dirty="0"/>
          </a:p>
          <a:p>
            <a:pPr algn="l">
              <a:defRPr sz="1700" b="1">
                <a:solidFill>
                  <a:srgbClr val="003366"/>
                </a:solidFill>
                <a:latin typeface="Calibri"/>
              </a:defRPr>
            </a:pPr>
            <a:r>
              <a:rPr dirty="0"/>
              <a:t>Key Findings: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1">
                <a:solidFill>
                  <a:srgbClr val="000000"/>
                </a:solidFill>
                <a:latin typeface="Calibri"/>
              </a:defRPr>
            </a:pPr>
            <a:r>
              <a:rPr lang="en-US" dirty="0"/>
              <a:t>Best F1 = 0.9571 at 40th percentile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1">
                <a:solidFill>
                  <a:srgbClr val="000000"/>
                </a:solidFill>
                <a:latin typeface="Calibri"/>
              </a:defRPr>
            </a:pPr>
            <a:r>
              <a:rPr lang="en-US" dirty="0"/>
              <a:t>Recall increases from 49.2% → 91.9%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1">
                <a:solidFill>
                  <a:srgbClr val="000000"/>
                </a:solidFill>
                <a:latin typeface="Calibri"/>
              </a:defRPr>
            </a:pPr>
            <a:r>
              <a:rPr lang="en-US" dirty="0"/>
              <a:t>Steepest improvement between 20th and 25th percentile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373BC4-1895-759A-6CC9-60DBEAB76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083" y="1161289"/>
            <a:ext cx="5850343" cy="449208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Results</a:t>
            </a:r>
            <a:r>
              <a:rPr lang="de-DE" dirty="0"/>
              <a:t>: Per-Fault Recall Analysis</a:t>
            </a:r>
            <a:br>
              <a:rPr lang="de-DE" dirty="0"/>
            </a:b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7155" indent="0">
              <a:buNone/>
            </a:pPr>
            <a:r>
              <a:rPr lang="en-US" dirty="0"/>
              <a:t> </a:t>
            </a:r>
            <a:endParaRPr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9354671"/>
              </p:ext>
            </p:extLst>
          </p:nvPr>
        </p:nvGraphicFramePr>
        <p:xfrm>
          <a:off x="6025896" y="1371600"/>
          <a:ext cx="53980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95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95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Fault Type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Detected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Acc Gain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dirty="0"/>
                        <a:t>2</a:t>
                      </a:r>
                      <a:r>
                        <a:rPr lang="en-US" dirty="0"/>
                        <a:t>79</a:t>
                      </a:r>
                      <a:r>
                        <a:rPr dirty="0"/>
                        <a:t>/314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88,9</a:t>
                      </a:r>
                      <a:r>
                        <a:rPr dirty="0"/>
                        <a:t>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dirty="0"/>
                        <a:t>0.9</a:t>
                      </a:r>
                      <a:r>
                        <a:rPr lang="en-US" dirty="0"/>
                        <a:t>410</a:t>
                      </a:r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Acc Noise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dirty="0"/>
                        <a:t>2</a:t>
                      </a:r>
                      <a:r>
                        <a:rPr lang="en-US" dirty="0"/>
                        <a:t>86</a:t>
                      </a:r>
                      <a:r>
                        <a:rPr dirty="0"/>
                        <a:t>/321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89,1</a:t>
                      </a:r>
                      <a:r>
                        <a:rPr dirty="0"/>
                        <a:t>%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dirty="0"/>
                        <a:t>0.9</a:t>
                      </a:r>
                      <a:r>
                        <a:rPr lang="en-US" dirty="0"/>
                        <a:t>423</a:t>
                      </a:r>
                      <a:endParaRPr dirty="0"/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B41E1E"/>
                          </a:solidFill>
                          <a:latin typeface="Calibri"/>
                        </a:defRPr>
                      </a:pPr>
                      <a:r>
                        <a:t>Acc Stuck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dirty="0"/>
                        <a:t>2</a:t>
                      </a:r>
                      <a:r>
                        <a:rPr lang="en-US" dirty="0"/>
                        <a:t>75</a:t>
                      </a:r>
                      <a:r>
                        <a:rPr dirty="0"/>
                        <a:t>/315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B41E1E"/>
                          </a:solidFill>
                          <a:latin typeface="Calibri"/>
                        </a:defRPr>
                      </a:pPr>
                      <a:r>
                        <a:rPr dirty="0"/>
                        <a:t>8</a:t>
                      </a:r>
                      <a:r>
                        <a:rPr lang="en-US" dirty="0"/>
                        <a:t>7,3</a:t>
                      </a:r>
                      <a:r>
                        <a:rPr dirty="0"/>
                        <a:t>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B41E1E"/>
                          </a:solidFill>
                          <a:latin typeface="Calibri"/>
                        </a:defRPr>
                      </a:pPr>
                      <a:r>
                        <a:rPr dirty="0"/>
                        <a:t>0.9</a:t>
                      </a:r>
                      <a:r>
                        <a:rPr lang="en-US" dirty="0"/>
                        <a:t>322</a:t>
                      </a:r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783C"/>
                          </a:solidFill>
                          <a:latin typeface="Calibri"/>
                        </a:defRPr>
                      </a:pPr>
                      <a:r>
                        <a:t>Speed Gain</a:t>
                      </a:r>
                    </a:p>
                  </a:txBody>
                  <a:tcPr anchor="ctr">
                    <a:solidFill>
                      <a:srgbClr val="FFFF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dirty="0"/>
                        <a:t>320/321</a:t>
                      </a:r>
                    </a:p>
                  </a:txBody>
                  <a:tcPr anchor="ctr">
                    <a:solidFill>
                      <a:srgbClr val="FFFF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783C"/>
                          </a:solidFill>
                          <a:latin typeface="Calibri"/>
                        </a:defRPr>
                      </a:pPr>
                      <a:r>
                        <a:rPr dirty="0"/>
                        <a:t>99.7%</a:t>
                      </a:r>
                    </a:p>
                  </a:txBody>
                  <a:tcPr anchor="ctr">
                    <a:solidFill>
                      <a:srgbClr val="FFFF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783C"/>
                          </a:solidFill>
                          <a:latin typeface="Calibri"/>
                        </a:defRPr>
                      </a:pPr>
                      <a:r>
                        <a:rPr dirty="0"/>
                        <a:t>0.998</a:t>
                      </a:r>
                      <a:r>
                        <a:rPr lang="en-US" dirty="0"/>
                        <a:t>4</a:t>
                      </a:r>
                      <a:endParaRPr dirty="0"/>
                    </a:p>
                  </a:txBody>
                  <a:tcPr anchor="ctr">
                    <a:solidFill>
                      <a:srgbClr val="FFFF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Speed Noise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dirty="0"/>
                        <a:t>30</a:t>
                      </a:r>
                      <a:r>
                        <a:rPr lang="en-US" dirty="0"/>
                        <a:t>4</a:t>
                      </a:r>
                      <a:r>
                        <a:rPr dirty="0"/>
                        <a:t>/315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dirty="0"/>
                        <a:t>9</a:t>
                      </a:r>
                      <a:r>
                        <a:rPr lang="en-US" dirty="0"/>
                        <a:t>6,5</a:t>
                      </a:r>
                      <a:r>
                        <a:rPr dirty="0"/>
                        <a:t>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dirty="0"/>
                        <a:t>0.9</a:t>
                      </a:r>
                      <a:r>
                        <a:rPr lang="en-US" dirty="0"/>
                        <a:t>822</a:t>
                      </a:r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14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Speed Stuck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dirty="0"/>
                        <a:t>29</a:t>
                      </a:r>
                      <a:r>
                        <a:rPr lang="en-US" dirty="0"/>
                        <a:t>2</a:t>
                      </a:r>
                      <a:r>
                        <a:rPr dirty="0"/>
                        <a:t>/325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89,9</a:t>
                      </a:r>
                      <a:r>
                        <a:rPr dirty="0"/>
                        <a:t>%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dirty="0"/>
                        <a:t>0.9</a:t>
                      </a:r>
                      <a:r>
                        <a:rPr lang="en-US" dirty="0"/>
                        <a:t>465</a:t>
                      </a:r>
                      <a:endParaRPr dirty="0"/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63582" y="4400519"/>
            <a:ext cx="5303520" cy="156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3366"/>
                </a:solidFill>
                <a:latin typeface="Calibri"/>
              </a:defRPr>
            </a:pPr>
            <a:r>
              <a:rPr sz="1700" dirty="0"/>
              <a:t>Observations (40th </a:t>
            </a:r>
            <a:r>
              <a:rPr sz="1700" dirty="0" err="1"/>
              <a:t>pctl</a:t>
            </a:r>
            <a:r>
              <a:rPr sz="1700" dirty="0"/>
              <a:t>):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1">
                <a:solidFill>
                  <a:srgbClr val="00783C"/>
                </a:solidFill>
                <a:latin typeface="Calibri"/>
              </a:defRPr>
            </a:pPr>
            <a:r>
              <a:rPr sz="1700" dirty="0"/>
              <a:t>Speed gain: 99.7% recall </a:t>
            </a:r>
            <a:r>
              <a:rPr lang="de-DE" sz="1700" dirty="0"/>
              <a:t>(</a:t>
            </a:r>
            <a:r>
              <a:rPr lang="de-DE" sz="1700" dirty="0" err="1"/>
              <a:t>easiest</a:t>
            </a:r>
            <a:r>
              <a:rPr lang="de-DE" sz="1700" dirty="0"/>
              <a:t> </a:t>
            </a:r>
            <a:r>
              <a:rPr lang="de-DE" sz="1700" dirty="0" err="1"/>
              <a:t>to</a:t>
            </a:r>
            <a:r>
              <a:rPr lang="de-DE" sz="1700" dirty="0"/>
              <a:t> </a:t>
            </a:r>
            <a:r>
              <a:rPr lang="de-DE" sz="1700" dirty="0" err="1"/>
              <a:t>detect</a:t>
            </a:r>
            <a:r>
              <a:rPr lang="de-DE" sz="1700" dirty="0"/>
              <a:t>)</a:t>
            </a:r>
          </a:p>
          <a:p>
            <a:r>
              <a:rPr sz="1700" b="1" dirty="0">
                <a:solidFill>
                  <a:srgbClr val="FF0000"/>
                </a:solidFill>
                <a:latin typeface="Calibri"/>
              </a:rPr>
              <a:t>Acc stuck: 8</a:t>
            </a:r>
            <a:r>
              <a:rPr lang="en-US" sz="1700" b="1" dirty="0">
                <a:solidFill>
                  <a:srgbClr val="FF0000"/>
                </a:solidFill>
                <a:latin typeface="Calibri"/>
              </a:rPr>
              <a:t>7,3</a:t>
            </a:r>
            <a:r>
              <a:rPr sz="1700" b="1" dirty="0">
                <a:solidFill>
                  <a:srgbClr val="FF0000"/>
                </a:solidFill>
                <a:latin typeface="Calibri"/>
              </a:rPr>
              <a:t>% recall </a:t>
            </a:r>
            <a:r>
              <a:rPr lang="de-DE" sz="1700" b="1" dirty="0">
                <a:solidFill>
                  <a:srgbClr val="FF0000"/>
                </a:solidFill>
                <a:latin typeface="Calibri"/>
              </a:rPr>
              <a:t>(</a:t>
            </a:r>
            <a:r>
              <a:rPr lang="de-DE" sz="1700" b="1" dirty="0" err="1">
                <a:solidFill>
                  <a:srgbClr val="FF0000"/>
                </a:solidFill>
                <a:latin typeface="Calibri"/>
              </a:rPr>
              <a:t>hardest</a:t>
            </a:r>
            <a:r>
              <a:rPr lang="de-DE" sz="1700" b="1" dirty="0">
                <a:solidFill>
                  <a:srgbClr val="FF0000"/>
                </a:solidFill>
                <a:latin typeface="Calibri"/>
              </a:rPr>
              <a:t> </a:t>
            </a:r>
            <a:r>
              <a:rPr lang="de-DE" sz="1700" b="1" dirty="0" err="1">
                <a:solidFill>
                  <a:srgbClr val="FF0000"/>
                </a:solidFill>
                <a:latin typeface="Calibri"/>
              </a:rPr>
              <a:t>to</a:t>
            </a:r>
            <a:r>
              <a:rPr lang="de-DE" sz="1700" b="1" dirty="0">
                <a:solidFill>
                  <a:srgbClr val="FF0000"/>
                </a:solidFill>
                <a:latin typeface="Calibri"/>
              </a:rPr>
              <a:t> </a:t>
            </a:r>
            <a:r>
              <a:rPr lang="de-DE" sz="1700" b="1" dirty="0" err="1">
                <a:solidFill>
                  <a:srgbClr val="FF0000"/>
                </a:solidFill>
                <a:latin typeface="Calibri"/>
              </a:rPr>
              <a:t>detect</a:t>
            </a:r>
            <a:r>
              <a:rPr lang="de-DE" sz="1700" b="1" dirty="0">
                <a:solidFill>
                  <a:srgbClr val="FF0000"/>
                </a:solidFill>
                <a:latin typeface="Calibri"/>
              </a:rPr>
              <a:t>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rPr lang="en-US" sz="1700" dirty="0"/>
              <a:t>Speed signals have lower natural variability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rPr sz="1700" dirty="0"/>
              <a:t>Detectability reflects physical fault severity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0A8142-498D-E10B-EA8A-B540A7188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8714"/>
            <a:ext cx="6025896" cy="457200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Binary Classification (Healthy vs. Faulty)</a:t>
            </a:r>
            <a:br>
              <a:rPr lang="en-US" dirty="0"/>
            </a:b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7155" indent="0"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132320" y="1371600"/>
            <a:ext cx="4754880" cy="164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3366"/>
                </a:solidFill>
                <a:latin typeface="Calibri"/>
              </a:defRPr>
            </a:pPr>
            <a:r>
              <a:rPr dirty="0"/>
              <a:t>Binary Results (40th Percentile):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 i="0">
                <a:solidFill>
                  <a:srgbClr val="000000"/>
                </a:solidFill>
                <a:latin typeface="Calibri"/>
              </a:defRPr>
            </a:pPr>
            <a:endParaRPr dirty="0"/>
          </a:p>
          <a:p>
            <a:pPr>
              <a:spcBef>
                <a:spcPts val="300"/>
              </a:spcBef>
              <a:spcAft>
                <a:spcPts val="200"/>
              </a:spcAft>
              <a:defRPr sz="1500" b="1">
                <a:solidFill>
                  <a:srgbClr val="000000"/>
                </a:solidFill>
                <a:latin typeface="Calibri"/>
              </a:defRPr>
            </a:pPr>
            <a:r>
              <a:rPr dirty="0"/>
              <a:t>Accuracy:    </a:t>
            </a:r>
            <a:r>
              <a:rPr lang="en-US" dirty="0"/>
              <a:t>8</a:t>
            </a:r>
            <a:r>
              <a:rPr dirty="0"/>
              <a:t>1.8%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rPr dirty="0"/>
              <a:t>Precision:    </a:t>
            </a:r>
            <a:r>
              <a:rPr lang="en-US" dirty="0"/>
              <a:t>87.5</a:t>
            </a:r>
            <a:r>
              <a:rPr dirty="0"/>
              <a:t>%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0">
                <a:solidFill>
                  <a:srgbClr val="000000"/>
                </a:solidFill>
                <a:latin typeface="Calibri"/>
              </a:defRPr>
            </a:pPr>
            <a:r>
              <a:rPr dirty="0"/>
              <a:t>Recall:        </a:t>
            </a:r>
            <a:r>
              <a:rPr lang="en-US" dirty="0"/>
              <a:t>  </a:t>
            </a:r>
            <a:r>
              <a:rPr dirty="0"/>
              <a:t>9</a:t>
            </a:r>
            <a:r>
              <a:rPr lang="en-US" dirty="0"/>
              <a:t>1.9</a:t>
            </a:r>
            <a:r>
              <a:rPr dirty="0"/>
              <a:t>%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500" b="1">
                <a:solidFill>
                  <a:srgbClr val="000000"/>
                </a:solidFill>
                <a:latin typeface="Calibri"/>
              </a:defRPr>
            </a:pPr>
            <a:r>
              <a:rPr dirty="0"/>
              <a:t>F1-Score:    0.</a:t>
            </a:r>
            <a:r>
              <a:rPr lang="en-US" dirty="0"/>
              <a:t>8964</a:t>
            </a:r>
            <a:endParaRPr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6916602"/>
              </p:ext>
            </p:extLst>
          </p:nvPr>
        </p:nvGraphicFramePr>
        <p:xfrm>
          <a:off x="7132320" y="3121044"/>
          <a:ext cx="4297680" cy="1725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509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Pred Healthy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Pred Faulty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09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True Healthy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0783C"/>
                          </a:solidFill>
                          <a:latin typeface="Calibri"/>
                        </a:defRPr>
                      </a:pPr>
                      <a:r>
                        <a:rPr dirty="0"/>
                        <a:t>TN = </a:t>
                      </a:r>
                      <a:r>
                        <a:rPr lang="en-US" dirty="0"/>
                        <a:t>65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B41E1E"/>
                          </a:solidFill>
                          <a:latin typeface="Calibri"/>
                        </a:defRPr>
                      </a:pPr>
                      <a:r>
                        <a:rPr dirty="0"/>
                        <a:t>FP = </a:t>
                      </a:r>
                      <a:r>
                        <a:rPr lang="en-US" dirty="0"/>
                        <a:t>251</a:t>
                      </a:r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09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True Faulty</a:t>
                      </a:r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B41E1E"/>
                          </a:solidFill>
                          <a:latin typeface="Calibri"/>
                        </a:defRPr>
                      </a:pPr>
                      <a:r>
                        <a:rPr dirty="0"/>
                        <a:t>FN = 1</a:t>
                      </a:r>
                      <a:r>
                        <a:rPr lang="en-US" dirty="0"/>
                        <a:t>55</a:t>
                      </a:r>
                      <a:endParaRPr dirty="0"/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783C"/>
                          </a:solidFill>
                          <a:latin typeface="Calibri"/>
                        </a:defRPr>
                      </a:pPr>
                      <a:r>
                        <a:rPr dirty="0"/>
                        <a:t>TP = 1,7</a:t>
                      </a:r>
                      <a:r>
                        <a:rPr lang="en-US" dirty="0"/>
                        <a:t>56</a:t>
                      </a:r>
                      <a:endParaRPr dirty="0"/>
                    </a:p>
                  </a:txBody>
                  <a:tcPr anchor="ctr">
                    <a:solidFill>
                      <a:srgbClr val="E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38A5F871-9E47-5E14-975F-A4ECBEEBD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" y="1317421"/>
            <a:ext cx="6971413" cy="464289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Conclusion</a:t>
            </a:r>
            <a:br>
              <a:rPr lang="de-DE" dirty="0"/>
            </a:b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7155" indent="0"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2678" y="1371600"/>
            <a:ext cx="11338560" cy="1051560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00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 b="0">
                <a:solidFill>
                  <a:srgbClr val="000000"/>
                </a:solidFill>
                <a:latin typeface="Calibri"/>
              </a:defRPr>
            </a:pPr>
            <a:r>
              <a:rPr sz="2200" dirty="0"/>
              <a:t>RQ1:  Self-supervised representations from healthy A2D2 data successfully detect sensor faults in HIL data.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 i="0">
                <a:solidFill>
                  <a:srgbClr val="00783C"/>
                </a:solidFill>
                <a:latin typeface="Calibri"/>
              </a:defRPr>
            </a:pPr>
            <a:r>
              <a:rPr sz="2200" dirty="0"/>
              <a:t>Cross-domain transfer works without any labeled fault examples.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678" y="2606040"/>
            <a:ext cx="11338560" cy="1051560"/>
          </a:xfrm>
          <a:prstGeom prst="roundRect">
            <a:avLst/>
          </a:prstGeom>
          <a:solidFill>
            <a:srgbClr val="E6FFF0"/>
          </a:solidFill>
          <a:ln w="12700">
            <a:solidFill>
              <a:srgbClr val="00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400" b="0">
                <a:solidFill>
                  <a:srgbClr val="000000"/>
                </a:solidFill>
                <a:latin typeface="Calibri"/>
              </a:defRPr>
            </a:pPr>
            <a:r>
              <a:rPr sz="2200" dirty="0"/>
              <a:t>RQ2:  </a:t>
            </a:r>
            <a:r>
              <a:rPr lang="en-US" sz="2200" dirty="0"/>
              <a:t>Recall increases from 49.2% to 91.9% across six thresholds.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 i="0">
                <a:solidFill>
                  <a:srgbClr val="00783C"/>
                </a:solidFill>
                <a:latin typeface="Calibri"/>
              </a:defRPr>
            </a:pPr>
            <a:r>
              <a:rPr sz="2200" dirty="0"/>
              <a:t>Optimal: 40th percentile (F1 = 0.9</a:t>
            </a:r>
            <a:r>
              <a:rPr lang="en-US" sz="2200" dirty="0"/>
              <a:t>571</a:t>
            </a:r>
            <a:r>
              <a:rPr sz="2200" dirty="0"/>
              <a:t>).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678" y="3840480"/>
            <a:ext cx="11338560" cy="1051560"/>
          </a:xfrm>
          <a:prstGeom prst="roundRect">
            <a:avLst/>
          </a:prstGeom>
          <a:solidFill>
            <a:srgbClr val="FFF0E6"/>
          </a:solidFill>
          <a:ln w="12700">
            <a:solidFill>
              <a:srgbClr val="C8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400" b="0">
                <a:solidFill>
                  <a:srgbClr val="000000"/>
                </a:solidFill>
                <a:latin typeface="Calibri"/>
              </a:defRPr>
            </a:pPr>
            <a:r>
              <a:rPr sz="2200" dirty="0"/>
              <a:t>RQ3:  Speed gain = 99.7% recall (easiest). Acc stuck = 8</a:t>
            </a:r>
            <a:r>
              <a:rPr lang="en-US" sz="2200" dirty="0"/>
              <a:t>7.3</a:t>
            </a:r>
            <a:r>
              <a:rPr sz="2200" dirty="0"/>
              <a:t>% (hardest).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 i="0">
                <a:solidFill>
                  <a:srgbClr val="C86400"/>
                </a:solidFill>
                <a:latin typeface="Calibri"/>
              </a:defRPr>
            </a:pPr>
            <a:r>
              <a:rPr sz="2200" dirty="0"/>
              <a:t>Detectability correlates with physical severity and sensor variability. 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74920"/>
            <a:ext cx="1124712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3366"/>
                </a:solidFill>
                <a:latin typeface="Calibri"/>
              </a:defRPr>
            </a:pPr>
            <a:r>
              <a:rPr dirty="0"/>
              <a:t>Key Contributions: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rPr sz="1800" dirty="0"/>
              <a:t>First application of </a:t>
            </a:r>
            <a:r>
              <a:rPr sz="1800" dirty="0" err="1"/>
              <a:t>SimCLR</a:t>
            </a:r>
            <a:r>
              <a:rPr sz="1800" dirty="0"/>
              <a:t> to automotive sensor fault detection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rPr sz="1800" dirty="0"/>
              <a:t>Successful cross-domain transfer: real driving data → HIL simulation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rPr sz="1800" dirty="0"/>
              <a:t>Comprehensive multi-threshold evaluation with 6 fault scenarios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 b="0">
                <a:solidFill>
                  <a:srgbClr val="000000"/>
                </a:solidFill>
                <a:latin typeface="Calibri"/>
              </a:defRPr>
            </a:pPr>
            <a:r>
              <a:rPr sz="1800" dirty="0"/>
              <a:t>Complete pipeline in </a:t>
            </a:r>
            <a:r>
              <a:rPr lang="en-DE" sz="1800" dirty="0"/>
              <a:t>~2.2</a:t>
            </a:r>
            <a:r>
              <a:rPr lang="en-US" sz="1800" dirty="0"/>
              <a:t> </a:t>
            </a:r>
            <a:r>
              <a:rPr sz="1800" dirty="0"/>
              <a:t>minute</a:t>
            </a:r>
            <a:r>
              <a:rPr lang="en-US" sz="1800" dirty="0"/>
              <a:t>s</a:t>
            </a:r>
            <a:r>
              <a:rPr sz="1800" dirty="0"/>
              <a:t> on CPU (no GPU required)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Future Work</a:t>
            </a:r>
            <a:br>
              <a:rPr lang="de-DE" dirty="0"/>
            </a:b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7155" indent="0">
              <a:buNone/>
            </a:pPr>
            <a:r>
              <a:rPr lang="en-US" dirty="0"/>
              <a:t> 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Calibri"/>
              </a:defRPr>
            </a:pPr>
            <a:r>
              <a:rPr dirty="0"/>
              <a:t>Short-term Extensions: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 i="0">
                <a:solidFill>
                  <a:srgbClr val="000000"/>
                </a:solidFill>
                <a:latin typeface="Calibri"/>
              </a:defRPr>
            </a:pPr>
            <a:endParaRPr dirty="0"/>
          </a:p>
          <a:p>
            <a:pPr>
              <a:spcBef>
                <a:spcPts val="3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rPr dirty="0"/>
              <a:t>Add more sensor channels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 i="0">
                <a:solidFill>
                  <a:srgbClr val="505050"/>
                </a:solidFill>
                <a:latin typeface="Calibri"/>
              </a:defRPr>
            </a:pPr>
            <a:r>
              <a:rPr dirty="0"/>
              <a:t>  (RPM, steering, brake pressure)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rPr dirty="0"/>
              <a:t>Fault localization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 i="0">
                <a:solidFill>
                  <a:srgbClr val="505050"/>
                </a:solidFill>
                <a:latin typeface="Calibri"/>
              </a:defRPr>
            </a:pPr>
            <a:r>
              <a:rPr dirty="0"/>
              <a:t>  Identify which sensor is faulty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rPr dirty="0"/>
              <a:t>Adaptive thresholding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 i="0">
                <a:solidFill>
                  <a:srgbClr val="505050"/>
                </a:solidFill>
                <a:latin typeface="Calibri"/>
              </a:defRPr>
            </a:pPr>
            <a:r>
              <a:rPr dirty="0"/>
              <a:t>  Eliminate manual threshold selection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rPr dirty="0"/>
              <a:t>Test with real vehicle fault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4173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  <a:latin typeface="Calibri"/>
              </a:defRPr>
            </a:pPr>
            <a:r>
              <a:rPr dirty="0"/>
              <a:t>Long-term Research: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 i="0">
                <a:solidFill>
                  <a:srgbClr val="000000"/>
                </a:solidFill>
                <a:latin typeface="Calibri"/>
              </a:defRPr>
            </a:pPr>
            <a:endParaRPr dirty="0"/>
          </a:p>
          <a:p>
            <a:pPr>
              <a:spcBef>
                <a:spcPts val="3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rPr dirty="0"/>
              <a:t>Compare SSL methods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 i="0">
                <a:solidFill>
                  <a:srgbClr val="505050"/>
                </a:solidFill>
                <a:latin typeface="Calibri"/>
              </a:defRPr>
            </a:pPr>
            <a:r>
              <a:rPr dirty="0"/>
              <a:t>  TS2Vec, MoCo, BYOL benchmarking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rPr dirty="0"/>
              <a:t>Explainability (XAI)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 i="0">
                <a:solidFill>
                  <a:srgbClr val="505050"/>
                </a:solidFill>
                <a:latin typeface="Calibri"/>
              </a:defRPr>
            </a:pPr>
            <a:r>
              <a:rPr dirty="0"/>
              <a:t>  Diagnostic insights for faults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rPr dirty="0"/>
              <a:t>Edge deployment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 i="0">
                <a:solidFill>
                  <a:srgbClr val="505050"/>
                </a:solidFill>
                <a:latin typeface="Calibri"/>
              </a:defRPr>
            </a:pPr>
            <a:r>
              <a:rPr dirty="0"/>
              <a:t>  Real-time in-vehicle detection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rPr dirty="0"/>
              <a:t>ISO 26262 ASIL integration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 i="0">
                <a:solidFill>
                  <a:srgbClr val="505050"/>
                </a:solidFill>
                <a:latin typeface="Calibri"/>
              </a:defRPr>
            </a:pPr>
            <a:r>
              <a:rPr dirty="0"/>
              <a:t>  Safety integrity level mapping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3052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  <a:latin typeface="Calibri"/>
              </a:defRPr>
            </a:pPr>
            <a:r>
              <a:rPr dirty="0"/>
              <a:t>Thank You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 i="0">
                <a:solidFill>
                  <a:srgbClr val="000000"/>
                </a:solidFill>
                <a:latin typeface="Calibri"/>
              </a:defRPr>
            </a:pPr>
            <a:endParaRPr dirty="0"/>
          </a:p>
          <a:p>
            <a:pPr algn="ctr">
              <a:spcBef>
                <a:spcPts val="400"/>
              </a:spcBef>
              <a:spcAft>
                <a:spcPts val="200"/>
              </a:spcAft>
              <a:defRPr sz="3200" b="0" i="0">
                <a:solidFill>
                  <a:srgbClr val="005AA0"/>
                </a:solidFill>
                <a:latin typeface="Calibri"/>
              </a:defRPr>
            </a:pPr>
            <a:r>
              <a:rPr dirty="0"/>
              <a:t>Questions?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000" b="0" i="0">
                <a:solidFill>
                  <a:srgbClr val="000000"/>
                </a:solidFill>
                <a:latin typeface="Calibri"/>
              </a:defRPr>
            </a:pPr>
            <a:endParaRPr dirty="0"/>
          </a:p>
          <a:p>
            <a:pPr algn="ctr">
              <a:spcBef>
                <a:spcPts val="400"/>
              </a:spcBef>
              <a:spcAft>
                <a:spcPts val="200"/>
              </a:spcAft>
              <a:defRPr sz="2000" b="0" i="0">
                <a:solidFill>
                  <a:srgbClr val="000000"/>
                </a:solidFill>
                <a:latin typeface="Calibri"/>
              </a:defRPr>
            </a:pPr>
            <a:r>
              <a:rPr dirty="0"/>
              <a:t>Yahia Amir Yahia Gamal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600" b="0" i="0">
                <a:solidFill>
                  <a:srgbClr val="505050"/>
                </a:solidFill>
                <a:latin typeface="Calibri"/>
              </a:defRPr>
            </a:pPr>
            <a:r>
              <a:rPr dirty="0"/>
              <a:t>Institute of Software and Systems Engineering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600" b="0" i="0">
                <a:solidFill>
                  <a:srgbClr val="505050"/>
                </a:solidFill>
                <a:latin typeface="Calibri"/>
              </a:defRPr>
            </a:pPr>
            <a:r>
              <a:rPr dirty="0"/>
              <a:t>TU Clausthal  |  </a:t>
            </a:r>
            <a:r>
              <a:rPr lang="en-US" dirty="0"/>
              <a:t>03.</a:t>
            </a:r>
            <a:r>
              <a:rPr dirty="0"/>
              <a:t>202</a:t>
            </a:r>
            <a:r>
              <a:rPr lang="en-US" dirty="0"/>
              <a:t>6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IPSSE_Design1">
  <a:themeElements>
    <a:clrScheme name="Lariss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IPSSE_Design1">
  <a:themeElements>
    <a:clrScheme name="Lariss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5469</TotalTime>
  <Words>1390</Words>
  <Application>Microsoft Office PowerPoint</Application>
  <DocSecurity>0</DocSecurity>
  <PresentationFormat>Widescreen</PresentationFormat>
  <Paragraphs>310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Arimo</vt:lpstr>
      <vt:lpstr>Calibri</vt:lpstr>
      <vt:lpstr>Noto Sans Symbols</vt:lpstr>
      <vt:lpstr>1_IPSSE_Design1</vt:lpstr>
      <vt:lpstr>Intelligent Analysis of Automotive Sensor Faults Using Self-Supervised Learning and Real-Time Simulation </vt:lpstr>
      <vt:lpstr>Outline </vt:lpstr>
      <vt:lpstr>Motivation and Problem Statement </vt:lpstr>
      <vt:lpstr>Research Questions </vt:lpstr>
      <vt:lpstr>Related Work: Why SimCLR? </vt:lpstr>
      <vt:lpstr>Proposed Framework: Three-Phase Architecture </vt:lpstr>
      <vt:lpstr>Datasets: A2D2 (Training) and HIL (Testing) </vt:lpstr>
      <vt:lpstr>Fault Injection Types </vt:lpstr>
      <vt:lpstr>SimCLR: Contrastive Learning Framework </vt:lpstr>
      <vt:lpstr>Data Preprocessing and Augmentation </vt:lpstr>
      <vt:lpstr>1D-CNN Encoder Architecture and Projection Head g(·)</vt:lpstr>
      <vt:lpstr>NT-Xent Loss (Contrastive): </vt:lpstr>
      <vt:lpstr>Anomaly Detection Method </vt:lpstr>
      <vt:lpstr>Results: Multi-Threshold Detection Performance </vt:lpstr>
      <vt:lpstr>Results: Per-Fault Recall Analysis </vt:lpstr>
      <vt:lpstr>Results: Binary Classification (Healthy vs. Faulty) </vt:lpstr>
      <vt:lpstr>Conclusion </vt:lpstr>
      <vt:lpstr>Future Work </vt:lpstr>
      <vt:lpstr>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Institute for Software and Systems Engineering     HiL-based real-time Test Platform   Name: Muhammad Sami khan  Date:    25th January 2023 </dc:title>
  <dc:subject/>
  <dc:creator>Hooby</dc:creator>
  <cp:keywords/>
  <dc:description/>
  <cp:lastModifiedBy>Yahia Gamal</cp:lastModifiedBy>
  <cp:revision>31</cp:revision>
  <dcterms:created xsi:type="dcterms:W3CDTF">2013-05-21T09:22:36Z</dcterms:created>
  <dcterms:modified xsi:type="dcterms:W3CDTF">2026-02-28T18:16:02Z</dcterms:modified>
  <cp:category/>
  <dc:identifier/>
  <cp:contentStatus/>
  <dc:language/>
  <cp:version/>
</cp:coreProperties>
</file>