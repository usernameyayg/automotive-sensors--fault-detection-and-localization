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75" r:id="rId5"/>
    <p:sldId id="259" r:id="rId6"/>
    <p:sldId id="260" r:id="rId7"/>
    <p:sldId id="276" r:id="rId8"/>
    <p:sldId id="261" r:id="rId9"/>
    <p:sldId id="262" r:id="rId10"/>
    <p:sldId id="263" r:id="rId11"/>
    <p:sldId id="264" r:id="rId12"/>
    <p:sldId id="265" r:id="rId13"/>
    <p:sldId id="277" r:id="rId14"/>
    <p:sldId id="279" r:id="rId15"/>
    <p:sldId id="280" r:id="rId16"/>
    <p:sldId id="278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/>
  <p:notesSz cx="12192000" cy="6858000"/>
  <p:embeddedFontLst>
    <p:embeddedFont>
      <p:font typeface="Arimo" panose="020B0604020202020204" charset="0"/>
      <p:regular r:id="rId28"/>
      <p:bold r:id="rId29"/>
      <p:italic r:id="rId30"/>
      <p:boldItalic r:id="rId31"/>
    </p:embeddedFont>
  </p:embeddedFontLst>
  <p:defaultTextStyle>
    <a:defPPr marR="0" lvl="0" algn="l">
      <a:lnSpc>
        <a:spcPct val="100000"/>
      </a:lnSpc>
      <a:spcBef>
        <a:spcPts val="0"/>
      </a:spcBef>
      <a:spcAft>
        <a:spcPts val="0"/>
      </a:spcAft>
    </a:defPPr>
    <a:lvl1pPr marR="0" lv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D87EA89-6A60-4A7B-B168-3A6FA02AAC71}">
  <a:tblStyle styleId="{5D87EA89-6A60-4A7B-B168-3A6FA02AAC71}" styleName="Table_0">
    <a:wholeTbl>
      <a:tcTxStyle>
        <a:schemeClr val="dk1"/>
      </a:tcTxStyle>
      <a:tcStyle>
        <a:tcBdr>
          <a:left>
            <a:ln w="12700">
              <a:solidFill>
                <a:schemeClr val="dk1"/>
              </a:solidFill>
            </a:ln>
          </a:left>
          <a:right>
            <a:ln w="12700">
              <a:solidFill>
                <a:schemeClr val="dk1"/>
              </a:solidFill>
            </a:ln>
          </a:right>
          <a:top>
            <a:ln w="12700">
              <a:solidFill>
                <a:schemeClr val="dk1"/>
              </a:solidFill>
            </a:ln>
          </a:top>
          <a:bottom>
            <a:ln w="12700">
              <a:solidFill>
                <a:schemeClr val="dk1"/>
              </a:solidFill>
            </a:ln>
          </a:bottom>
          <a:insideH>
            <a:ln w="12700">
              <a:solidFill>
                <a:schemeClr val="dk1"/>
              </a:solidFill>
            </a:ln>
          </a:insideH>
          <a:insideV>
            <a:ln w="12700">
              <a:solidFill>
                <a:schemeClr val="dk1"/>
              </a:solidFill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elfolie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" name="Google Shape;14;p14"/>
          <p:cNvSpPr txBox="1"/>
          <p:nvPr/>
        </p:nvSpPr>
        <p:spPr bwMode="auto">
          <a:xfrm>
            <a:off x="912295" y="1268413"/>
            <a:ext cx="921596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Google Shape;15;p14"/>
          <p:cNvSpPr txBox="1">
            <a:spLocks noGrp="1"/>
          </p:cNvSpPr>
          <p:nvPr>
            <p:ph type="ctrTitle"/>
          </p:nvPr>
        </p:nvSpPr>
        <p:spPr bwMode="auto">
          <a:xfrm>
            <a:off x="527393" y="1412777"/>
            <a:ext cx="10369153" cy="1155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>
                <a:solidFill>
                  <a:srgbClr val="008C4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" name="Google Shape;16;p14"/>
          <p:cNvSpPr txBox="1">
            <a:spLocks noGrp="1"/>
          </p:cNvSpPr>
          <p:nvPr>
            <p:ph type="subTitle" idx="1"/>
          </p:nvPr>
        </p:nvSpPr>
        <p:spPr bwMode="auto">
          <a:xfrm>
            <a:off x="527393" y="2852712"/>
            <a:ext cx="10369153" cy="2376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070"/>
              <a:buFont typeface="Noto Sans Symbols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7" name="Google Shape;17;p14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el und Inhalt" type="obj" userDrawn="1">
  <p:cSld name="OBJEC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" name="Google Shape;19;p15"/>
          <p:cNvSpPr txBox="1">
            <a:spLocks noGrp="1"/>
          </p:cNvSpPr>
          <p:nvPr>
            <p:ph type="title"/>
          </p:nvPr>
        </p:nvSpPr>
        <p:spPr bwMode="auto">
          <a:xfrm>
            <a:off x="335361" y="764705"/>
            <a:ext cx="10753195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body" idx="1"/>
          </p:nvPr>
        </p:nvSpPr>
        <p:spPr bwMode="auto">
          <a:xfrm>
            <a:off x="335361" y="1268760"/>
            <a:ext cx="10753195" cy="504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60045" algn="l">
              <a:spcBef>
                <a:spcPts val="0"/>
              </a:spcBef>
              <a:spcAft>
                <a:spcPts val="0"/>
              </a:spcAft>
              <a:buSzPts val="2070"/>
              <a:buChar char="▪"/>
              <a:defRPr/>
            </a:lvl1pPr>
            <a:lvl2pPr marL="914400" lvl="1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2pPr>
            <a:lvl3pPr marL="1371600" lvl="2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3pPr>
            <a:lvl4pPr marL="1828800" lvl="3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4pPr>
            <a:lvl5pPr marL="2286000" lvl="4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1" name="Google Shape;21;p15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CECEC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  <p:sp>
        <p:nvSpPr>
          <p:cNvPr id="22" name="Google Shape;22;p15"/>
          <p:cNvSpPr txBox="1"/>
          <p:nvPr/>
        </p:nvSpPr>
        <p:spPr bwMode="auto">
          <a:xfrm>
            <a:off x="11438478" y="6453344"/>
            <a:ext cx="76623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 sz="1800" b="0" i="0" u="none" strike="noStrike" cap="none">
                <a:solidFill>
                  <a:srgbClr val="808080"/>
                </a:solidFill>
                <a:latin typeface="Arimo"/>
                <a:ea typeface="Arimo"/>
                <a:cs typeface="Arimo"/>
              </a:rPr>
              <a:t>‹#›</a:t>
            </a:fld>
            <a:endParaRPr sz="1800" b="0" i="0" u="none" strike="noStrike" cap="none">
              <a:solidFill>
                <a:srgbClr val="808080"/>
              </a:solidFill>
              <a:latin typeface="Arimo"/>
              <a:ea typeface="Arimo"/>
              <a:cs typeface="Arimo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Abschnitts- überschrift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" name="Google Shape;30;p17"/>
          <p:cNvSpPr txBox="1">
            <a:spLocks noGrp="1"/>
          </p:cNvSpPr>
          <p:nvPr>
            <p:ph type="title"/>
          </p:nvPr>
        </p:nvSpPr>
        <p:spPr bwMode="auto">
          <a:xfrm>
            <a:off x="335361" y="4406914"/>
            <a:ext cx="10753195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000" b="1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body" idx="1"/>
          </p:nvPr>
        </p:nvSpPr>
        <p:spPr bwMode="auto">
          <a:xfrm>
            <a:off x="335361" y="2906713"/>
            <a:ext cx="10753195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2300"/>
              <a:buNone/>
              <a:defRPr sz="2000"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800"/>
              <a:buFont typeface="Arimo"/>
              <a:buNone/>
              <a:defRPr sz="1800"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600"/>
              <a:buFont typeface="Arimo"/>
              <a:buNone/>
              <a:defRPr sz="1600"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 sz="1400"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 sz="1400"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 sz="1400"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 sz="1400"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 sz="1400"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32" name="Google Shape;32;p17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  <p:sp>
        <p:nvSpPr>
          <p:cNvPr id="33" name="Google Shape;33;p17"/>
          <p:cNvSpPr txBox="1"/>
          <p:nvPr/>
        </p:nvSpPr>
        <p:spPr bwMode="auto">
          <a:xfrm>
            <a:off x="11438478" y="6453344"/>
            <a:ext cx="76623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 sz="1800">
                <a:solidFill>
                  <a:srgbClr val="808080"/>
                </a:solidFill>
                <a:latin typeface="Arimo"/>
                <a:ea typeface="Arimo"/>
                <a:cs typeface="Arimo"/>
              </a:rPr>
              <a:t>‹#›</a:t>
            </a:fld>
            <a:endParaRPr sz="1800">
              <a:solidFill>
                <a:srgbClr val="808080"/>
              </a:solidFill>
              <a:latin typeface="Arimo"/>
              <a:ea typeface="Arimo"/>
              <a:cs typeface="Arim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Nur Titel" type="titleOnly" userDrawn="1">
  <p:cSld name="TITLE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>
            <a:spLocks noGrp="1"/>
          </p:cNvSpPr>
          <p:nvPr>
            <p:ph type="title"/>
          </p:nvPr>
        </p:nvSpPr>
        <p:spPr bwMode="auto">
          <a:xfrm>
            <a:off x="335361" y="1125552"/>
            <a:ext cx="10753195" cy="574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6" name="Google Shape;36;p18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Inhalt mit Überschrift" type="objTx" userDrawn="1">
  <p:cSld name="OBJECT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" name="Google Shape;38;p19"/>
          <p:cNvSpPr txBox="1">
            <a:spLocks noGrp="1"/>
          </p:cNvSpPr>
          <p:nvPr>
            <p:ph type="title"/>
          </p:nvPr>
        </p:nvSpPr>
        <p:spPr bwMode="auto">
          <a:xfrm>
            <a:off x="335363" y="816260"/>
            <a:ext cx="4011084" cy="1162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9" name="Google Shape;39;p19"/>
          <p:cNvSpPr txBox="1">
            <a:spLocks noGrp="1"/>
          </p:cNvSpPr>
          <p:nvPr>
            <p:ph type="body" idx="1"/>
          </p:nvPr>
        </p:nvSpPr>
        <p:spPr bwMode="auto">
          <a:xfrm>
            <a:off x="4492496" y="816253"/>
            <a:ext cx="6596061" cy="5493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62280" algn="l">
              <a:spcBef>
                <a:spcPts val="0"/>
              </a:spcBef>
              <a:spcAft>
                <a:spcPts val="0"/>
              </a:spcAft>
              <a:buSzPts val="3680"/>
              <a:buChar char="▪"/>
              <a:defRPr sz="3200"/>
            </a:lvl1pPr>
            <a:lvl2pPr marL="914400" lvl="1" indent="-406400" algn="l">
              <a:spcBef>
                <a:spcPts val="0"/>
              </a:spcBef>
              <a:spcAft>
                <a:spcPts val="0"/>
              </a:spcAft>
              <a:buSzPts val="2800"/>
              <a:buFont typeface="Arimo"/>
              <a:buChar char="-"/>
              <a:defRPr sz="2800"/>
            </a:lvl2pPr>
            <a:lvl3pPr marL="1371600" lvl="2" indent="-381000" algn="l">
              <a:spcBef>
                <a:spcPts val="0"/>
              </a:spcBef>
              <a:spcAft>
                <a:spcPts val="0"/>
              </a:spcAft>
              <a:buSzPts val="2400"/>
              <a:buFont typeface="Arimo"/>
              <a:buChar char="-"/>
              <a:defRPr sz="2400"/>
            </a:lvl3pPr>
            <a:lvl4pPr marL="1828800" lvl="3" indent="-355600" algn="l">
              <a:spcBef>
                <a:spcPts val="0"/>
              </a:spcBef>
              <a:spcAft>
                <a:spcPts val="0"/>
              </a:spcAft>
              <a:buSzPts val="2000"/>
              <a:buFont typeface="Arimo"/>
              <a:buChar char="-"/>
              <a:defRPr sz="2000"/>
            </a:lvl4pPr>
            <a:lvl5pPr marL="2286000" lvl="4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/>
            </a:lvl5pPr>
            <a:lvl6pPr marL="2743200" lvl="5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/>
            </a:lvl6pPr>
            <a:lvl7pPr marL="3200400" lvl="6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/>
            </a:lvl7pPr>
            <a:lvl8pPr marL="3657600" lvl="7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/>
            </a:lvl8pPr>
            <a:lvl9pPr marL="4114800" lvl="8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2"/>
          </p:nvPr>
        </p:nvSpPr>
        <p:spPr bwMode="auto">
          <a:xfrm>
            <a:off x="335363" y="1978306"/>
            <a:ext cx="4011084" cy="43310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610"/>
              <a:buNone/>
              <a:defRPr sz="1400"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200"/>
              <a:buFont typeface="Arimo"/>
              <a:buNone/>
              <a:defRPr sz="1200"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900"/>
              <a:buFont typeface="Arimo"/>
              <a:buNone/>
              <a:defRPr sz="900"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9pPr>
          </a:lstStyle>
          <a:p>
            <a:pPr>
              <a:defRPr/>
            </a:pPr>
            <a:endParaRPr/>
          </a:p>
        </p:txBody>
      </p:sp>
      <p:sp>
        <p:nvSpPr>
          <p:cNvPr id="41" name="Google Shape;41;p19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  <p:pic>
        <p:nvPicPr>
          <p:cNvPr id="42" name="Google Shape;42;p19" descr="Logo_TUC_de_RGB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12" y="14"/>
            <a:ext cx="4078817" cy="56991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Google Shape;43;p19" descr="Logo_TUC_de_RGB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335360" y="6436782"/>
            <a:ext cx="2003517" cy="279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Google Shape;44;p19"/>
          <p:cNvPicPr/>
          <p:nvPr/>
        </p:nvPicPr>
        <p:blipFill>
          <a:blip r:embed="rId4">
            <a:alphaModFix/>
          </a:blip>
          <a:stretch/>
        </p:blipFill>
        <p:spPr bwMode="auto">
          <a:xfrm>
            <a:off x="4463819" y="6513129"/>
            <a:ext cx="2685480" cy="219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45" name="Google Shape;45;p19"/>
          <p:cNvPicPr/>
          <p:nvPr/>
        </p:nvPicPr>
        <p:blipFill>
          <a:blip r:embed="rId5">
            <a:alphaModFix/>
          </a:blip>
          <a:stretch/>
        </p:blipFill>
        <p:spPr bwMode="auto">
          <a:xfrm>
            <a:off x="8835511" y="6457363"/>
            <a:ext cx="2253055" cy="31681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19"/>
          <p:cNvPicPr/>
          <p:nvPr/>
        </p:nvPicPr>
        <p:blipFill>
          <a:blip r:embed="rId6">
            <a:alphaModFix/>
          </a:blip>
          <a:stretch/>
        </p:blipFill>
        <p:spPr bwMode="auto">
          <a:xfrm>
            <a:off x="7009749" y="253192"/>
            <a:ext cx="4078817" cy="33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ild mit Überschrift" type="picTx" userDrawn="1">
  <p:cSld name="PICTURE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 bwMode="auto">
          <a:xfrm>
            <a:off x="2389717" y="4800613"/>
            <a:ext cx="7315200" cy="566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9" name="Google Shape;49;p20"/>
          <p:cNvSpPr>
            <a:spLocks noGrp="1"/>
          </p:cNvSpPr>
          <p:nvPr>
            <p:ph type="pic" idx="2"/>
          </p:nvPr>
        </p:nvSpPr>
        <p:spPr bwMode="auto">
          <a:xfrm>
            <a:off x="2389717" y="764718"/>
            <a:ext cx="7315200" cy="3962871"/>
          </a:xfrm>
          <a:prstGeom prst="rect">
            <a:avLst/>
          </a:prstGeom>
          <a:noFill/>
          <a:ln>
            <a:noFill/>
          </a:ln>
        </p:spPr>
      </p:sp>
      <p:sp>
        <p:nvSpPr>
          <p:cNvPr id="50" name="Google Shape;50;p20"/>
          <p:cNvSpPr txBox="1">
            <a:spLocks noGrp="1"/>
          </p:cNvSpPr>
          <p:nvPr>
            <p:ph type="body" idx="1"/>
          </p:nvPr>
        </p:nvSpPr>
        <p:spPr bwMode="auto">
          <a:xfrm>
            <a:off x="2389717" y="5367351"/>
            <a:ext cx="7315200" cy="804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610"/>
              <a:buNone/>
              <a:defRPr sz="1400"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200"/>
              <a:buFont typeface="Arimo"/>
              <a:buNone/>
              <a:defRPr sz="1200"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900"/>
              <a:buFont typeface="Arimo"/>
              <a:buNone/>
              <a:defRPr sz="900"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9pPr>
          </a:lstStyle>
          <a:p>
            <a:pPr>
              <a:defRPr/>
            </a:pPr>
            <a:endParaRPr/>
          </a:p>
        </p:txBody>
      </p:sp>
      <p:sp>
        <p:nvSpPr>
          <p:cNvPr id="51" name="Google Shape;51;p20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  <p:pic>
        <p:nvPicPr>
          <p:cNvPr id="52" name="Google Shape;52;p20" descr="Logo_TUC_de_RGB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12" y="14"/>
            <a:ext cx="4078817" cy="569913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20" descr="Logo_TUC_de_RGB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335360" y="6436782"/>
            <a:ext cx="2003517" cy="279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20"/>
          <p:cNvPicPr/>
          <p:nvPr/>
        </p:nvPicPr>
        <p:blipFill>
          <a:blip r:embed="rId4">
            <a:alphaModFix/>
          </a:blip>
          <a:stretch/>
        </p:blipFill>
        <p:spPr bwMode="auto">
          <a:xfrm>
            <a:off x="4463819" y="6513129"/>
            <a:ext cx="2685480" cy="219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20"/>
          <p:cNvPicPr/>
          <p:nvPr/>
        </p:nvPicPr>
        <p:blipFill>
          <a:blip r:embed="rId5">
            <a:alphaModFix/>
          </a:blip>
          <a:stretch/>
        </p:blipFill>
        <p:spPr bwMode="auto">
          <a:xfrm>
            <a:off x="8835511" y="6457363"/>
            <a:ext cx="2253055" cy="31681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20"/>
          <p:cNvPicPr/>
          <p:nvPr/>
        </p:nvPicPr>
        <p:blipFill>
          <a:blip r:embed="rId6">
            <a:alphaModFix/>
          </a:blip>
          <a:stretch/>
        </p:blipFill>
        <p:spPr bwMode="auto">
          <a:xfrm>
            <a:off x="7009749" y="253192"/>
            <a:ext cx="4078817" cy="33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el und vertikaler Text" type="vertTx" userDrawn="1">
  <p:cSld name="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" name="Google Shape;58;p21"/>
          <p:cNvSpPr txBox="1">
            <a:spLocks noGrp="1"/>
          </p:cNvSpPr>
          <p:nvPr>
            <p:ph type="title"/>
          </p:nvPr>
        </p:nvSpPr>
        <p:spPr bwMode="auto">
          <a:xfrm>
            <a:off x="335361" y="836726"/>
            <a:ext cx="10753195" cy="574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9" name="Google Shape;59;p21"/>
          <p:cNvSpPr txBox="1">
            <a:spLocks noGrp="1"/>
          </p:cNvSpPr>
          <p:nvPr>
            <p:ph type="body" idx="1"/>
          </p:nvPr>
        </p:nvSpPr>
        <p:spPr bwMode="auto">
          <a:xfrm rot="5400000">
            <a:off x="3263687" y="-1515549"/>
            <a:ext cx="4896544" cy="10753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60045" algn="l">
              <a:spcBef>
                <a:spcPts val="0"/>
              </a:spcBef>
              <a:spcAft>
                <a:spcPts val="0"/>
              </a:spcAft>
              <a:buSzPts val="2070"/>
              <a:buChar char="▪"/>
              <a:defRPr/>
            </a:lvl1pPr>
            <a:lvl2pPr marL="914400" lvl="1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2pPr>
            <a:lvl3pPr marL="1371600" lvl="2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3pPr>
            <a:lvl4pPr marL="1828800" lvl="3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4pPr>
            <a:lvl5pPr marL="2286000" lvl="4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0" name="Google Shape;60;p21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  <p:pic>
        <p:nvPicPr>
          <p:cNvPr id="61" name="Google Shape;61;p21" descr="Logo_TUC_de_RGB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12" y="14"/>
            <a:ext cx="4078817" cy="569913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21" descr="Logo_TUC_de_RGB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335360" y="6436782"/>
            <a:ext cx="2003517" cy="279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21"/>
          <p:cNvPicPr/>
          <p:nvPr/>
        </p:nvPicPr>
        <p:blipFill>
          <a:blip r:embed="rId4">
            <a:alphaModFix/>
          </a:blip>
          <a:stretch/>
        </p:blipFill>
        <p:spPr bwMode="auto">
          <a:xfrm>
            <a:off x="4463819" y="6513129"/>
            <a:ext cx="2685480" cy="219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21"/>
          <p:cNvPicPr/>
          <p:nvPr/>
        </p:nvPicPr>
        <p:blipFill>
          <a:blip r:embed="rId5">
            <a:alphaModFix/>
          </a:blip>
          <a:stretch/>
        </p:blipFill>
        <p:spPr bwMode="auto">
          <a:xfrm>
            <a:off x="8835511" y="6457363"/>
            <a:ext cx="2253055" cy="316816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21"/>
          <p:cNvPicPr/>
          <p:nvPr/>
        </p:nvPicPr>
        <p:blipFill>
          <a:blip r:embed="rId6">
            <a:alphaModFix/>
          </a:blip>
          <a:stretch/>
        </p:blipFill>
        <p:spPr bwMode="auto">
          <a:xfrm>
            <a:off x="7009749" y="253192"/>
            <a:ext cx="4078817" cy="33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Vertikaler Titel und Text" type="vertTitleAndTx" userDrawn="1">
  <p:cSld name="VERTICAL_TITLE_AND_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" name="Google Shape;67;p22"/>
          <p:cNvSpPr txBox="1">
            <a:spLocks noGrp="1"/>
          </p:cNvSpPr>
          <p:nvPr>
            <p:ph type="title"/>
          </p:nvPr>
        </p:nvSpPr>
        <p:spPr bwMode="auto">
          <a:xfrm rot="5400000">
            <a:off x="7130484" y="2278424"/>
            <a:ext cx="5183759" cy="2732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8" name="Google Shape;68;p22"/>
          <p:cNvSpPr txBox="1">
            <a:spLocks noGrp="1"/>
          </p:cNvSpPr>
          <p:nvPr>
            <p:ph type="body" idx="1"/>
          </p:nvPr>
        </p:nvSpPr>
        <p:spPr bwMode="auto">
          <a:xfrm rot="5400000">
            <a:off x="1652287" y="-264190"/>
            <a:ext cx="5183759" cy="7817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60045" algn="l">
              <a:spcBef>
                <a:spcPts val="0"/>
              </a:spcBef>
              <a:spcAft>
                <a:spcPts val="0"/>
              </a:spcAft>
              <a:buSzPts val="2070"/>
              <a:buChar char="▪"/>
              <a:defRPr/>
            </a:lvl1pPr>
            <a:lvl2pPr marL="914400" lvl="1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2pPr>
            <a:lvl3pPr marL="1371600" lvl="2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3pPr>
            <a:lvl4pPr marL="1828800" lvl="3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4pPr>
            <a:lvl5pPr marL="2286000" lvl="4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9" name="Google Shape;69;p22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  <p:pic>
        <p:nvPicPr>
          <p:cNvPr id="70" name="Google Shape;70;p22" descr="Logo_TUC_de_RGB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12" y="14"/>
            <a:ext cx="4078817" cy="569913"/>
          </a:xfrm>
          <a:prstGeom prst="rect">
            <a:avLst/>
          </a:prstGeom>
          <a:noFill/>
          <a:ln>
            <a:noFill/>
          </a:ln>
        </p:spPr>
      </p:pic>
      <p:pic>
        <p:nvPicPr>
          <p:cNvPr id="71" name="Google Shape;71;p22" descr="Logo_TUC_de_RGB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335360" y="6436782"/>
            <a:ext cx="2003517" cy="279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22"/>
          <p:cNvPicPr/>
          <p:nvPr/>
        </p:nvPicPr>
        <p:blipFill>
          <a:blip r:embed="rId4">
            <a:alphaModFix/>
          </a:blip>
          <a:stretch/>
        </p:blipFill>
        <p:spPr bwMode="auto">
          <a:xfrm>
            <a:off x="4463819" y="6513129"/>
            <a:ext cx="2685480" cy="219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22"/>
          <p:cNvPicPr/>
          <p:nvPr/>
        </p:nvPicPr>
        <p:blipFill>
          <a:blip r:embed="rId5">
            <a:alphaModFix/>
          </a:blip>
          <a:stretch/>
        </p:blipFill>
        <p:spPr bwMode="auto">
          <a:xfrm>
            <a:off x="8835511" y="6457363"/>
            <a:ext cx="2253055" cy="316816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22"/>
          <p:cNvPicPr/>
          <p:nvPr/>
        </p:nvPicPr>
        <p:blipFill>
          <a:blip r:embed="rId6">
            <a:alphaModFix/>
          </a:blip>
          <a:stretch/>
        </p:blipFill>
        <p:spPr bwMode="auto">
          <a:xfrm>
            <a:off x="7009749" y="253192"/>
            <a:ext cx="4078817" cy="33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  <p:sp>
        <p:nvSpPr>
          <p:cNvPr id="7" name="Google Shape;7;p13"/>
          <p:cNvSpPr txBox="1"/>
          <p:nvPr/>
        </p:nvSpPr>
        <p:spPr bwMode="auto">
          <a:xfrm>
            <a:off x="11438478" y="6453344"/>
            <a:ext cx="76623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 sz="1800" b="0" i="0" u="none" strike="noStrike" cap="none">
                <a:solidFill>
                  <a:srgbClr val="808080"/>
                </a:solidFill>
                <a:latin typeface="Arimo"/>
                <a:ea typeface="Arimo"/>
                <a:cs typeface="Arimo"/>
              </a:rPr>
              <a:t>‹#›</a:t>
            </a:fld>
            <a:endParaRPr sz="1800" b="0" i="0" u="none" strike="noStrike" cap="none">
              <a:solidFill>
                <a:srgbClr val="808080"/>
              </a:solidFill>
              <a:latin typeface="Arimo"/>
              <a:ea typeface="Arimo"/>
              <a:cs typeface="Arimo"/>
            </a:endParaRPr>
          </a:p>
        </p:txBody>
      </p:sp>
      <p:sp>
        <p:nvSpPr>
          <p:cNvPr id="8" name="Google Shape;8;p13"/>
          <p:cNvSpPr txBox="1"/>
          <p:nvPr/>
        </p:nvSpPr>
        <p:spPr bwMode="auto">
          <a:xfrm>
            <a:off x="912295" y="1268413"/>
            <a:ext cx="921596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Google Shape;9;p13"/>
          <p:cNvSpPr txBox="1">
            <a:spLocks noGrp="1"/>
          </p:cNvSpPr>
          <p:nvPr>
            <p:ph type="title"/>
          </p:nvPr>
        </p:nvSpPr>
        <p:spPr bwMode="auto">
          <a:xfrm>
            <a:off x="335361" y="702204"/>
            <a:ext cx="10753195" cy="574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0" name="Google Shape;10;p13"/>
          <p:cNvSpPr txBox="1">
            <a:spLocks noGrp="1"/>
          </p:cNvSpPr>
          <p:nvPr>
            <p:ph type="body" idx="1"/>
          </p:nvPr>
        </p:nvSpPr>
        <p:spPr bwMode="auto">
          <a:xfrm>
            <a:off x="335361" y="1268417"/>
            <a:ext cx="10753195" cy="5040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60045" algn="l">
              <a:spcBef>
                <a:spcPts val="0"/>
              </a:spcBef>
              <a:spcAft>
                <a:spcPts val="0"/>
              </a:spcAft>
              <a:buClr>
                <a:srgbClr val="008C4F"/>
              </a:buClr>
              <a:buSzPts val="207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1pPr>
            <a:lvl2pPr marL="914400" marR="0" lvl="1" indent="-342900" algn="l">
              <a:spcBef>
                <a:spcPts val="0"/>
              </a:spcBef>
              <a:spcAft>
                <a:spcPts val="0"/>
              </a:spcAft>
              <a:buClr>
                <a:srgbClr val="008C4F"/>
              </a:buClr>
              <a:buSzPts val="1800"/>
              <a:buFont typeface="Arimo"/>
              <a:buChar char="-"/>
              <a:defRPr sz="18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2pPr>
            <a:lvl3pPr marL="1371600" marR="0" lvl="2" indent="-317500" algn="l">
              <a:spcBef>
                <a:spcPts val="0"/>
              </a:spcBef>
              <a:spcAft>
                <a:spcPts val="0"/>
              </a:spcAft>
              <a:buClr>
                <a:srgbClr val="008C4F"/>
              </a:buClr>
              <a:buSzPts val="1400"/>
              <a:buFont typeface="Arimo"/>
              <a:buChar char="-"/>
              <a:defRPr sz="14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3pPr>
            <a:lvl4pPr marL="1828800" marR="0" lvl="3" indent="-317500" algn="l">
              <a:spcBef>
                <a:spcPts val="0"/>
              </a:spcBef>
              <a:spcAft>
                <a:spcPts val="0"/>
              </a:spcAft>
              <a:buClr>
                <a:srgbClr val="008C4F"/>
              </a:buClr>
              <a:buSzPts val="1400"/>
              <a:buFont typeface="Arimo"/>
              <a:buChar char="-"/>
              <a:defRPr sz="14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4pPr>
            <a:lvl5pPr marL="2286000" marR="0" lvl="4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5pPr>
            <a:lvl6pPr marL="2743200" marR="0" lvl="5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6pPr>
            <a:lvl7pPr marL="3200400" marR="0" lvl="6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7pPr>
            <a:lvl8pPr marL="3657600" marR="0" lvl="7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8pPr>
            <a:lvl9pPr marL="4114800" marR="0" lvl="8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9pPr>
          </a:lstStyle>
          <a:p>
            <a:pPr>
              <a:defRPr/>
            </a:pPr>
            <a:endParaRPr/>
          </a:p>
        </p:txBody>
      </p:sp>
      <p:pic>
        <p:nvPicPr>
          <p:cNvPr id="11" name="Google Shape;11;p13" descr="Logo_TUC_de_RGB"/>
          <p:cNvPicPr/>
          <p:nvPr/>
        </p:nvPicPr>
        <p:blipFill>
          <a:blip r:embed="rId10">
            <a:alphaModFix/>
          </a:blip>
          <a:stretch/>
        </p:blipFill>
        <p:spPr bwMode="auto">
          <a:xfrm>
            <a:off x="12" y="14"/>
            <a:ext cx="3060000" cy="5699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2;p13"/>
          <p:cNvPicPr/>
          <p:nvPr/>
        </p:nvPicPr>
        <p:blipFill>
          <a:blip r:embed="rId11">
            <a:alphaModFix/>
          </a:blip>
          <a:stretch/>
        </p:blipFill>
        <p:spPr bwMode="auto">
          <a:xfrm>
            <a:off x="8040469" y="253192"/>
            <a:ext cx="3059493" cy="333381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2800" b="1">
                <a:solidFill>
                  <a:srgbClr val="003366"/>
                </a:solidFill>
                <a:latin typeface="Calibri"/>
              </a:defRPr>
            </a:pPr>
            <a:r>
              <a:rPr lang="en-US" dirty="0"/>
              <a:t>Intelligent Analysis of Automotive Sensor Faults Using Self-Supervised Learning and Real-Time Simulation</a:t>
            </a:r>
            <a:br>
              <a:rPr lang="en-US" dirty="0"/>
            </a:b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spcBef>
                <a:spcPts val="400"/>
              </a:spcBef>
              <a:spcAft>
                <a:spcPts val="200"/>
              </a:spcAft>
              <a:defRPr sz="1200" b="0" i="0">
                <a:solidFill>
                  <a:srgbClr val="000000"/>
                </a:solidFill>
                <a:latin typeface="Calibri"/>
              </a:defRPr>
            </a:pPr>
            <a:endParaRPr lang="en-US" dirty="0"/>
          </a:p>
          <a:p>
            <a:pPr>
              <a:spcBef>
                <a:spcPts val="1200"/>
              </a:spcBef>
              <a:spcAft>
                <a:spcPts val="200"/>
              </a:spcAft>
              <a:defRPr sz="1800" b="0" i="0">
                <a:solidFill>
                  <a:srgbClr val="505050"/>
                </a:solidFill>
                <a:latin typeface="Calibri"/>
              </a:defRPr>
            </a:pPr>
            <a:r>
              <a:rPr lang="en-US" dirty="0"/>
              <a:t>Master Thesis Defense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  <a:endParaRPr lang="en-US" dirty="0"/>
          </a:p>
          <a:p>
            <a:pPr>
              <a:spcBef>
                <a:spcPts val="800"/>
              </a:spcBef>
              <a:spcAft>
                <a:spcPts val="200"/>
              </a:spcAft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Presented by:  Yahia Amir Yahia Gamal</a:t>
            </a:r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Institute for Software and Systems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5486400" cy="8361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505050"/>
                </a:solidFill>
                <a:latin typeface="Calibri"/>
              </a:defRPr>
            </a:pPr>
            <a:r>
              <a:rPr dirty="0"/>
              <a:t>First Examiner:     </a:t>
            </a:r>
            <a:r>
              <a:rPr lang="de-DE" dirty="0"/>
              <a:t>Dr. Mohammad Abboush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rPr dirty="0"/>
              <a:t>Supervisor:</a:t>
            </a:r>
            <a:r>
              <a:rPr lang="en-US" dirty="0"/>
              <a:t>            </a:t>
            </a:r>
            <a:r>
              <a:rPr lang="nl-NL" dirty="0"/>
              <a:t>apl. Prof. Dr. Christoph Knieke</a:t>
            </a:r>
            <a:endParaRPr dirty="0"/>
          </a:p>
          <a:p>
            <a:pPr algn="l">
              <a:spcBef>
                <a:spcPts val="400"/>
              </a:spcBef>
              <a:spcAft>
                <a:spcPts val="200"/>
              </a:spcAft>
              <a:defRPr sz="1400" b="1" i="0">
                <a:solidFill>
                  <a:srgbClr val="003366"/>
                </a:solidFill>
                <a:latin typeface="Calibri"/>
              </a:defRPr>
            </a:pPr>
            <a:r>
              <a:rPr dirty="0"/>
              <a:t>TU Clausthal  |  </a:t>
            </a:r>
            <a:r>
              <a:rPr lang="en-US" dirty="0"/>
              <a:t>27,02.</a:t>
            </a:r>
            <a:r>
              <a:rPr dirty="0"/>
              <a:t>202</a:t>
            </a:r>
            <a:r>
              <a:rPr lang="en-US" dirty="0"/>
              <a:t>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Outline</a:t>
            </a:r>
            <a:br>
              <a:rPr lang="de-DE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058400" cy="3972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Calibri"/>
              </a:defRPr>
            </a:pPr>
            <a:endParaRPr dirty="0"/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rPr dirty="0"/>
              <a:t>1.   Motivation and Problem Statement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rPr dirty="0"/>
              <a:t>2. </a:t>
            </a:r>
            <a:r>
              <a:rPr lang="en-US" dirty="0"/>
              <a:t>  Background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3.   </a:t>
            </a:r>
            <a:r>
              <a:rPr dirty="0"/>
              <a:t>Research Questions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4</a:t>
            </a:r>
            <a:r>
              <a:rPr dirty="0"/>
              <a:t>.   Related Work: Why </a:t>
            </a:r>
            <a:r>
              <a:rPr dirty="0" err="1"/>
              <a:t>SimCLR</a:t>
            </a:r>
            <a:r>
              <a:rPr dirty="0"/>
              <a:t>?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5</a:t>
            </a:r>
            <a:r>
              <a:rPr dirty="0"/>
              <a:t>.   Proposed Framework (3 Phases)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6</a:t>
            </a:r>
            <a:r>
              <a:rPr dirty="0"/>
              <a:t>.   Datasets: A2D2 and HIL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7</a:t>
            </a:r>
            <a:r>
              <a:rPr dirty="0"/>
              <a:t>.   Fault Types and Injection Models</a:t>
            </a:r>
          </a:p>
          <a:p>
            <a:pPr marL="342900" indent="-342900">
              <a:spcBef>
                <a:spcPts val="300"/>
              </a:spcBef>
              <a:spcAft>
                <a:spcPts val="200"/>
              </a:spcAft>
              <a:buAutoNum type="arabicPeriod" startAt="8"/>
              <a:defRPr sz="1800" b="0">
                <a:solidFill>
                  <a:srgbClr val="000000"/>
                </a:solidFill>
                <a:latin typeface="Calibri"/>
              </a:defRPr>
            </a:pPr>
            <a:r>
              <a:rPr dirty="0" err="1"/>
              <a:t>SimCLR</a:t>
            </a:r>
            <a:r>
              <a:rPr dirty="0"/>
              <a:t> Architecture and 1D-CNN Encoder</a:t>
            </a:r>
            <a:endParaRPr lang="en-US" dirty="0"/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9</a:t>
            </a:r>
            <a:r>
              <a:rPr dirty="0"/>
              <a:t>.   Anomaly Detection Method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10</a:t>
            </a:r>
            <a:r>
              <a:rPr dirty="0"/>
              <a:t>. Evaluation Results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rPr dirty="0"/>
              <a:t>1</a:t>
            </a:r>
            <a:r>
              <a:rPr lang="en-US" dirty="0"/>
              <a:t>1</a:t>
            </a:r>
            <a:r>
              <a:rPr dirty="0"/>
              <a:t>. </a:t>
            </a:r>
            <a:r>
              <a:rPr lang="de-DE" dirty="0"/>
              <a:t>C</a:t>
            </a:r>
            <a:r>
              <a:rPr dirty="0" err="1"/>
              <a:t>onclusion</a:t>
            </a:r>
            <a:r>
              <a:rPr dirty="0"/>
              <a:t> and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Motivation and Problem Statement</a:t>
            </a:r>
            <a:br>
              <a:rPr lang="de-DE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2000" b="1">
                <a:solidFill>
                  <a:srgbClr val="B41E1E"/>
                </a:solidFill>
                <a:latin typeface="Calibri"/>
              </a:defRPr>
            </a:pPr>
            <a:r>
              <a:rPr lang="en-US" dirty="0"/>
              <a:t>The Problem: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Modern vehicles contain 100+ sensors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Sensor faults compromise safety-critical systems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Supervised methods need labeled fault data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Labeled data is expensive and inherently incomplete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  <a:endParaRPr lang="en-US" dirty="0"/>
          </a:p>
          <a:p>
            <a:pPr>
              <a:spcBef>
                <a:spcPts val="400"/>
              </a:spcBef>
              <a:spcAft>
                <a:spcPts val="200"/>
              </a:spcAft>
              <a:defRPr sz="2000" b="1" i="0">
                <a:solidFill>
                  <a:srgbClr val="00783C"/>
                </a:solidFill>
                <a:latin typeface="Calibri"/>
              </a:defRPr>
            </a:pPr>
            <a:r>
              <a:rPr lang="en-US" dirty="0"/>
              <a:t>Our Solution: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Learn only from healthy driving data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Self-supervised contrastive learning (</a:t>
            </a:r>
            <a:r>
              <a:rPr lang="en-US" dirty="0" err="1"/>
              <a:t>SimCLR</a:t>
            </a:r>
            <a:r>
              <a:rPr lang="en-US" dirty="0"/>
              <a:t>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Detect faults as deviations from normality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Cross-domain: train on real data → test on HIL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8E0B7-39A0-AEAB-9642-44F2D2313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Development and Learning Paradigms</a:t>
            </a:r>
            <a:endParaRPr lang="en-D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D80E7E-01EE-F16A-58F9-7D550A2B22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V-Model Development: 				 Contrastive Learning: </a:t>
            </a:r>
          </a:p>
          <a:p>
            <a:pPr marL="97155" indent="0">
              <a:buNone/>
            </a:pPr>
            <a:r>
              <a:rPr lang="en-US" dirty="0"/>
              <a:t>▶ Verification and validation 			▶ Learn representations by </a:t>
            </a:r>
          </a:p>
          <a:p>
            <a:pPr marL="97155" indent="0">
              <a:buNone/>
            </a:pPr>
            <a:r>
              <a:rPr lang="en-US" dirty="0"/>
              <a:t>across all levels					comparing views</a:t>
            </a:r>
          </a:p>
          <a:p>
            <a:pPr marL="97155" indent="0">
              <a:buNone/>
            </a:pPr>
            <a:r>
              <a:rPr lang="en-US" dirty="0"/>
              <a:t>▶ HIL simulation bridges model 	 		▶ Positive pairs: augmented </a:t>
            </a:r>
          </a:p>
          <a:p>
            <a:pPr marL="97155" indent="0">
              <a:buNone/>
            </a:pPr>
            <a:r>
              <a:rPr lang="en-US" dirty="0"/>
              <a:t>and real system					 views of same window </a:t>
            </a:r>
          </a:p>
          <a:p>
            <a:pPr marL="97155" indent="0">
              <a:buNone/>
            </a:pPr>
            <a:r>
              <a:rPr lang="en-US" dirty="0"/>
              <a:t>▶ Our approach: train on real data, 	 	▶ Negative pairs: views of different</a:t>
            </a:r>
          </a:p>
          <a:p>
            <a:pPr marL="97155" indent="0">
              <a:buNone/>
            </a:pPr>
            <a:r>
              <a:rPr lang="en-US" dirty="0"/>
              <a:t>test on HIL					 windows </a:t>
            </a:r>
          </a:p>
          <a:p>
            <a:pPr marL="97155" indent="0">
              <a:buNone/>
            </a:pPr>
            <a:r>
              <a:rPr lang="en-US" dirty="0"/>
              <a:t>						▶ NT-</a:t>
            </a:r>
            <a:r>
              <a:rPr lang="en-US" dirty="0" err="1"/>
              <a:t>Xent</a:t>
            </a:r>
            <a:r>
              <a:rPr lang="en-US" dirty="0"/>
              <a:t> loss pulls positives together, </a:t>
            </a:r>
          </a:p>
          <a:p>
            <a:pPr marL="97155" indent="0">
              <a:buNone/>
            </a:pPr>
            <a:r>
              <a:rPr lang="en-US" dirty="0"/>
              <a:t>						 pushes negatives apart</a:t>
            </a:r>
            <a:endParaRPr lang="en-DE" dirty="0"/>
          </a:p>
        </p:txBody>
      </p:sp>
      <p:pic>
        <p:nvPicPr>
          <p:cNvPr id="6" name="Picture 5" descr="vmodel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27" y="3555951"/>
            <a:ext cx="5029200" cy="2915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0506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Research Questions</a:t>
            </a:r>
            <a:br>
              <a:rPr lang="de-DE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88398" y="1451641"/>
            <a:ext cx="11247120" cy="137160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00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005AA0"/>
                </a:solidFill>
                <a:latin typeface="Calibri"/>
              </a:defRPr>
            </a:pPr>
            <a:r>
              <a:t>RQ1: Can self-supervised contrastive learning on healthy data detect sensor faults?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Test core feasibility: train on A2D2 real driving data, detect faults in HIL simulation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8" y="3006121"/>
            <a:ext cx="11247120" cy="1371600"/>
          </a:xfrm>
          <a:prstGeom prst="roundRect">
            <a:avLst/>
          </a:prstGeom>
          <a:solidFill>
            <a:srgbClr val="E6FFF0"/>
          </a:solidFill>
          <a:ln w="19050">
            <a:solidFill>
              <a:srgbClr val="0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00783C"/>
                </a:solidFill>
                <a:latin typeface="Calibri"/>
              </a:defRPr>
            </a:pPr>
            <a:r>
              <a:t>RQ2: How does the detection threshold affect precision-recall trade-off?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Evaluate six threshold percentiles (15th–40th) to find optimal operating point.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398" y="4560601"/>
            <a:ext cx="11247120" cy="1371600"/>
          </a:xfrm>
          <a:prstGeom prst="roundRect">
            <a:avLst/>
          </a:prstGeom>
          <a:solidFill>
            <a:srgbClr val="FFF0E6"/>
          </a:solidFill>
          <a:ln w="19050">
            <a:solidFill>
              <a:srgbClr val="C8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C86400"/>
                </a:solidFill>
                <a:latin typeface="Calibri"/>
              </a:defRPr>
            </a:pPr>
            <a:r>
              <a:t>RQ3: Which fault types and sensors are most/least detectable?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Compare gain, noise, stuck-at faults on accelerator vs. speed sensors.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Related</a:t>
            </a:r>
            <a:r>
              <a:rPr lang="de-DE" dirty="0"/>
              <a:t> Work: </a:t>
            </a:r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SimCLR</a:t>
            </a:r>
            <a:r>
              <a:rPr lang="de-DE" dirty="0"/>
              <a:t>?</a:t>
            </a:r>
            <a:br>
              <a:rPr lang="de-DE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dirty="0"/>
          </a:p>
        </p:txBody>
      </p:sp>
      <p:pic>
        <p:nvPicPr>
          <p:cNvPr id="5" name="Picture 4" descr="ss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81" y="1371600"/>
            <a:ext cx="77724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1463040"/>
            <a:ext cx="3840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Why SimCLR?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783C"/>
                </a:solidFill>
                <a:latin typeface="Calibri"/>
              </a:defRPr>
            </a:pPr>
            <a:r>
              <a:t>Simplest architecture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No momentum encoder (vs. MoCo)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No asymmetric networks (vs. BYOL)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Strong theory: NT-Xent loss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 algn="l"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005AA0"/>
                </a:solidFill>
                <a:latin typeface="Calibri"/>
              </a:defRPr>
            </a:pPr>
            <a:r>
              <a:t>Prior Applications: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Chen et al. (2020): ImageNet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Tang et al. (2022): Bearing faults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Wang et al. (2022): Motor diagnosis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 i="0">
                <a:solidFill>
                  <a:srgbClr val="B41E1E"/>
                </a:solidFill>
                <a:latin typeface="Calibri"/>
              </a:defRPr>
            </a:pPr>
            <a:r>
              <a:t>Gap: No automotive sensor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 i="0">
                <a:solidFill>
                  <a:srgbClr val="B41E1E"/>
                </a:solidFill>
                <a:latin typeface="Calibri"/>
              </a:defRPr>
            </a:pPr>
            <a:r>
              <a:t>fault detection with SimCLR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AFC534A-E856-156E-1D7A-A6086D5C5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  <a:endParaRPr lang="en-DE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5164F8-EB2E-8B2D-4733-8803A43B9796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268413"/>
            <a:ext cx="10753725" cy="5040312"/>
          </a:xfrm>
        </p:spPr>
        <p:txBody>
          <a:bodyPr/>
          <a:lstStyle/>
          <a:p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r>
              <a:rPr lang="en-US" dirty="0"/>
              <a:t>Chen, Ting et al. (2020). “A Simple Framework for Contrastive Learning </a:t>
            </a:r>
            <a:r>
              <a:rPr lang="en-US" dirty="0" err="1"/>
              <a:t>ofVisual</a:t>
            </a:r>
            <a:r>
              <a:rPr lang="en-US" dirty="0"/>
              <a:t> Representations”. In: Proceedings of the 37th International </a:t>
            </a:r>
            <a:r>
              <a:rPr lang="en-US" dirty="0" err="1"/>
              <a:t>Conferenceon</a:t>
            </a:r>
            <a:r>
              <a:rPr lang="en-US" dirty="0"/>
              <a:t> Machine Learning (ICML). PMLR, pp. 1597–1607.</a:t>
            </a:r>
            <a:endParaRPr lang="en-DE" dirty="0"/>
          </a:p>
        </p:txBody>
      </p:sp>
      <p:pic>
        <p:nvPicPr>
          <p:cNvPr id="1026" name="Picture 2" descr="Review — SimCLR: A Simple Framework for Contrastive Learning of Visual  Representations | by Sik-Ho Tsang | Medium">
            <a:extLst>
              <a:ext uri="{FF2B5EF4-FFF2-40B4-BE49-F238E27FC236}">
                <a16:creationId xmlns:a16="http://schemas.microsoft.com/office/drawing/2014/main" id="{EF81CEE9-58F6-1239-2E64-E0FECB82BE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9006" y="1016733"/>
            <a:ext cx="6725904" cy="47330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49721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Proposed</a:t>
            </a:r>
            <a:r>
              <a:rPr lang="de-DE" dirty="0"/>
              <a:t> Framework: </a:t>
            </a:r>
            <a:r>
              <a:rPr lang="de-DE" dirty="0" err="1"/>
              <a:t>Three</a:t>
            </a:r>
            <a:r>
              <a:rPr lang="de-DE" dirty="0"/>
              <a:t>-Phase Architecture</a:t>
            </a:r>
            <a:br>
              <a:rPr lang="de-DE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dirty="0"/>
          </a:p>
        </p:txBody>
      </p:sp>
      <p:pic>
        <p:nvPicPr>
          <p:cNvPr id="5" name="Picture 4" descr="framework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63425"/>
            <a:ext cx="11430000" cy="41311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5050"/>
                </a:solidFill>
                <a:latin typeface="Calibri"/>
              </a:defRPr>
            </a:pPr>
            <a:r>
              <a:rPr dirty="0"/>
              <a:t>Phase 1 (green): Train </a:t>
            </a:r>
            <a:r>
              <a:rPr dirty="0" err="1"/>
              <a:t>SimCLR</a:t>
            </a:r>
            <a:r>
              <a:rPr dirty="0"/>
              <a:t> encoder on healthy A2D2 data  |  Phase 2 (blue): Calibrate with 90s healthy HIL data  |  Phase 3 (orange): Detect faults in HIL test 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Datasets: A2D2 (Training) and HIL (Testing)</a:t>
            </a:r>
            <a:br>
              <a:rPr lang="en-US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303520" cy="372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3C"/>
                </a:solidFill>
                <a:latin typeface="Calibri"/>
              </a:defRPr>
            </a:pPr>
            <a:r>
              <a:rPr dirty="0"/>
              <a:t>A2D2 — Training Data (Phase 1)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dirty="0"/>
              <a:t>Audi real-world driving, Munich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dirty="0"/>
              <a:t>219,064 samples (36.5 min)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dirty="0"/>
              <a:t>Sensors: Accelerator (%), Speed (km/h)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dirty="0"/>
              <a:t>Accelerator: 100 Hz native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dirty="0"/>
              <a:t>Speed: 50 Hz → </a:t>
            </a:r>
            <a:r>
              <a:rPr dirty="0" err="1"/>
              <a:t>upsampled</a:t>
            </a:r>
            <a:r>
              <a:rPr dirty="0"/>
              <a:t> to 100 Hz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dirty="0"/>
              <a:t>3 recording sessions combined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r>
              <a:rPr dirty="0"/>
              <a:t>Only healthy data used for training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  <a:endParaRPr dirty="0"/>
          </a:p>
          <a:p>
            <a:pPr algn="l">
              <a:spcBef>
                <a:spcPts val="400"/>
              </a:spcBef>
              <a:spcAft>
                <a:spcPts val="200"/>
              </a:spcAft>
              <a:defRPr sz="1600" b="1" i="0">
                <a:solidFill>
                  <a:srgbClr val="005AA0"/>
                </a:solidFill>
                <a:latin typeface="Calibri"/>
              </a:defRPr>
            </a:pPr>
            <a:r>
              <a:rPr dirty="0"/>
              <a:t>A2D2 Statistics: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rPr dirty="0"/>
              <a:t>Acc pedal: μ=6.99%, σ=8.70%, range [0, 52]%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rPr dirty="0"/>
              <a:t>Speed: μ=17.21 km/h, σ=14.78, range [0, 73.</a:t>
            </a:r>
            <a:r>
              <a:rPr lang="en-US" dirty="0"/>
              <a:t>36</a:t>
            </a:r>
            <a:r>
              <a:rPr dirty="0"/>
              <a:t>]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rPr dirty="0"/>
              <a:t>Correlation: 0.5268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417320"/>
            <a:ext cx="5303520" cy="4403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41E1E"/>
                </a:solidFill>
                <a:latin typeface="Calibri"/>
              </a:defRPr>
            </a:pPr>
            <a:r>
              <a:rPr dirty="0"/>
              <a:t>HIL — Test Data (Phases 2-3)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dirty="0" err="1"/>
              <a:t>dSPACE</a:t>
            </a:r>
            <a:r>
              <a:rPr dirty="0"/>
              <a:t> HIL simulator, TU Clausthal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dirty="0"/>
              <a:t>1 healthy + 6 fault recordings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dirty="0"/>
              <a:t>3 fault types × 2 sensors = 6 scenarios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316 </a:t>
            </a:r>
            <a:r>
              <a:rPr dirty="0"/>
              <a:t>healthy windows</a:t>
            </a:r>
            <a:endParaRPr lang="en-US" dirty="0"/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dirty="0"/>
              <a:t>Cross-domain transfer: real → simulation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  <a:endParaRPr dirty="0"/>
          </a:p>
          <a:p>
            <a:pPr algn="l">
              <a:spcBef>
                <a:spcPts val="400"/>
              </a:spcBef>
              <a:spcAft>
                <a:spcPts val="200"/>
              </a:spcAft>
              <a:defRPr sz="1600" b="1" i="0">
                <a:solidFill>
                  <a:srgbClr val="005AA0"/>
                </a:solidFill>
                <a:latin typeface="Calibri"/>
              </a:defRPr>
            </a:pPr>
            <a:r>
              <a:rPr dirty="0"/>
              <a:t>HIL Fault Files: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A</a:t>
            </a:r>
            <a:r>
              <a:rPr dirty="0"/>
              <a:t>cc fault gain</a:t>
            </a:r>
            <a:r>
              <a:rPr lang="en-US" dirty="0"/>
              <a:t> </a:t>
            </a:r>
            <a:r>
              <a:rPr dirty="0"/>
              <a:t>(314 windows)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A</a:t>
            </a:r>
            <a:r>
              <a:rPr dirty="0"/>
              <a:t>cc fault noise</a:t>
            </a:r>
            <a:r>
              <a:rPr lang="en-US" dirty="0"/>
              <a:t> </a:t>
            </a:r>
            <a:r>
              <a:rPr dirty="0"/>
              <a:t>(321 windows)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A</a:t>
            </a:r>
            <a:r>
              <a:rPr dirty="0"/>
              <a:t>cc fault stuck</a:t>
            </a:r>
            <a:r>
              <a:rPr lang="en-US" dirty="0"/>
              <a:t> </a:t>
            </a:r>
            <a:r>
              <a:rPr dirty="0"/>
              <a:t>(315 windows)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Speed</a:t>
            </a:r>
            <a:r>
              <a:rPr dirty="0"/>
              <a:t> fault gain</a:t>
            </a:r>
            <a:r>
              <a:rPr lang="en-US" dirty="0"/>
              <a:t> </a:t>
            </a:r>
            <a:r>
              <a:rPr dirty="0"/>
              <a:t>(321 windows)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Speed</a:t>
            </a:r>
            <a:r>
              <a:rPr dirty="0"/>
              <a:t> fault noise</a:t>
            </a:r>
            <a:r>
              <a:rPr lang="en-US" dirty="0"/>
              <a:t> </a:t>
            </a:r>
            <a:r>
              <a:rPr dirty="0"/>
              <a:t>(315 windows)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Speed</a:t>
            </a:r>
            <a:r>
              <a:rPr dirty="0"/>
              <a:t> fault stuck at</a:t>
            </a:r>
            <a:r>
              <a:rPr lang="en-US" dirty="0"/>
              <a:t> </a:t>
            </a:r>
            <a:r>
              <a:rPr dirty="0"/>
              <a:t>(325 windows)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  <a:endParaRPr dirty="0"/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 i="0">
                <a:solidFill>
                  <a:srgbClr val="B41E1E"/>
                </a:solidFill>
                <a:latin typeface="Calibri"/>
              </a:defRPr>
            </a:pPr>
            <a:r>
              <a:rPr dirty="0"/>
              <a:t>Total fault windows: 1,911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Fault </a:t>
            </a:r>
            <a:r>
              <a:rPr lang="de-DE" dirty="0" err="1"/>
              <a:t>Injection</a:t>
            </a:r>
            <a:r>
              <a:rPr lang="de-DE" dirty="0"/>
              <a:t> </a:t>
            </a:r>
            <a:r>
              <a:rPr lang="de-DE" dirty="0" err="1"/>
              <a:t>Types</a:t>
            </a:r>
            <a:br>
              <a:rPr lang="de-DE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dirty="0"/>
          </a:p>
        </p:txBody>
      </p:sp>
      <p:pic>
        <p:nvPicPr>
          <p:cNvPr id="5" name="Picture 4" descr="fault_type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5880"/>
            <a:ext cx="73152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463040"/>
            <a:ext cx="3931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Fault Models: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 algn="l"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B41E1E"/>
                </a:solidFill>
                <a:latin typeface="Calibri"/>
              </a:defRPr>
            </a:pPr>
            <a:r>
              <a:t>1. Gain Fault: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 i="1">
                <a:solidFill>
                  <a:srgbClr val="000000"/>
                </a:solidFill>
                <a:latin typeface="Calibri"/>
              </a:defRPr>
            </a:pPr>
            <a:r>
              <a:t>y(t) = α · x(t)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Calibration error, amplifier drift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 algn="l"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00783C"/>
                </a:solidFill>
                <a:latin typeface="Calibri"/>
              </a:defRPr>
            </a:pPr>
            <a:r>
              <a:t>2. Noise Fault: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 i="1">
                <a:solidFill>
                  <a:srgbClr val="000000"/>
                </a:solidFill>
                <a:latin typeface="Calibri"/>
              </a:defRPr>
            </a:pPr>
            <a:r>
              <a:t>y(t) = x(t) + η(t),  η ~ N(0,σ²)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EMI, loose connections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 algn="l"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7D3C98"/>
                </a:solidFill>
                <a:latin typeface="Calibri"/>
              </a:defRPr>
            </a:pPr>
            <a:r>
              <a:t>3. Stuck-at Fault: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 i="1">
                <a:solidFill>
                  <a:srgbClr val="000000"/>
                </a:solidFill>
                <a:latin typeface="Calibri"/>
              </a:defRPr>
            </a:pPr>
            <a:r>
              <a:t>y(t) = c  (constant)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Hardware failure, frozen sensor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SimCLR</a:t>
            </a:r>
            <a:r>
              <a:rPr lang="en-US" dirty="0"/>
              <a:t> Architecture and 1D-CNN Encoder</a:t>
            </a:r>
            <a:br>
              <a:rPr lang="en-US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de-DE" dirty="0"/>
          </a:p>
          <a:p>
            <a:endParaRPr dirty="0"/>
          </a:p>
        </p:txBody>
      </p:sp>
      <p:pic>
        <p:nvPicPr>
          <p:cNvPr id="5" name="Picture 4" descr="simcl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10992394" cy="512978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 Augmentation</a:t>
            </a:r>
            <a:br>
              <a:rPr lang="de-DE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7315200" y="137160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3 Augmentation Strategies: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Gaussian Jitter (σ = 0.1)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  Simulates sensor noise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Amplitude Scaling [0.8, 1.2]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  Simulates calibration variance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Temporal Masking (10%)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  Forces temporal robustness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8912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5AA0"/>
                </a:solidFill>
                <a:latin typeface="Calibri"/>
              </a:defRPr>
            </a:pPr>
            <a:r>
              <a:t>Preprocessing Pipeline: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 i="0">
                <a:solidFill>
                  <a:srgbClr val="000000"/>
                </a:solidFill>
                <a:latin typeface="Calibri"/>
              </a:defRPr>
            </a:pPr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3957120"/>
              </p:ext>
            </p:extLst>
          </p:nvPr>
        </p:nvGraphicFramePr>
        <p:xfrm>
          <a:off x="109728" y="493776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40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66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946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Parameters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Output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Normalization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rPr dirty="0"/>
                        <a:t>Z-Score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μ, σ from A2D2 training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Zero mean, unit variance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Segmentation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Sliding Window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W=200, stride=100 (50% overlap)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2,189 windows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Augmentation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Jitter + Scale + Mask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Applied per window, per epoch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rPr dirty="0"/>
                        <a:t>2 views per window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858D9063-334D-CA61-4D37-05C2D28871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183020"/>
            <a:ext cx="7123176" cy="31203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4A6E2-5A0D-A441-B0A8-BB9FB7AEE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1D-CNN Encoder Architecture</a:t>
            </a:r>
            <a:endParaRPr lang="en-D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64225B-EECA-00B8-911E-11F98038F0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lang="en-DE" dirty="0"/>
          </a:p>
        </p:txBody>
      </p:sp>
      <p:pic>
        <p:nvPicPr>
          <p:cNvPr id="4" name="Picture 3" descr="encoder_architecture.png">
            <a:extLst>
              <a:ext uri="{FF2B5EF4-FFF2-40B4-BE49-F238E27FC236}">
                <a16:creationId xmlns:a16="http://schemas.microsoft.com/office/drawing/2014/main" id="{03EDAF35-8227-9A0E-C763-B40A29D756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17103"/>
            <a:ext cx="11466576" cy="1828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849CFE-6557-8DFD-F6C6-EC50F9697E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763" t="59666" r="27763" b="18538"/>
          <a:stretch>
            <a:fillRect/>
          </a:stretch>
        </p:blipFill>
        <p:spPr>
          <a:xfrm>
            <a:off x="1103443" y="3760438"/>
            <a:ext cx="8778493" cy="2763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3809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11934-B3B5-6F3A-98E1-96A6FD6C7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Projection</a:t>
            </a:r>
            <a:r>
              <a:rPr lang="de-DE" dirty="0"/>
              <a:t> Head g(·)</a:t>
            </a:r>
            <a:br>
              <a:rPr lang="de-DE" dirty="0"/>
            </a:br>
            <a:endParaRPr lang="en-D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88F45C-11EC-39CE-4F20-DC583F93B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ts val="400"/>
              </a:spcBef>
              <a:spcAft>
                <a:spcPts val="200"/>
              </a:spcAft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rPr lang="de-DE" dirty="0" err="1"/>
              <a:t>Two-layer</a:t>
            </a:r>
            <a:r>
              <a:rPr lang="de-DE" dirty="0"/>
              <a:t> MLP after </a:t>
            </a:r>
            <a:r>
              <a:rPr lang="de-DE" dirty="0" err="1"/>
              <a:t>encoder</a:t>
            </a:r>
            <a:r>
              <a:rPr lang="de-DE" dirty="0"/>
              <a:t>: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400" b="0" i="0">
                <a:solidFill>
                  <a:srgbClr val="000000"/>
                </a:solidFill>
                <a:latin typeface="Calibri"/>
              </a:defRPr>
            </a:pPr>
            <a:endParaRPr lang="de-DE" dirty="0"/>
          </a:p>
          <a:p>
            <a:pPr>
              <a:spcBef>
                <a:spcPts val="400"/>
              </a:spcBef>
              <a:spcAft>
                <a:spcPts val="200"/>
              </a:spcAft>
              <a:defRPr sz="1500" b="1" i="0">
                <a:solidFill>
                  <a:srgbClr val="7D3C98"/>
                </a:solidFill>
                <a:latin typeface="Calibri"/>
              </a:defRPr>
            </a:pPr>
            <a:r>
              <a:rPr lang="de-DE" dirty="0"/>
              <a:t>  h  (256-d)  →  Linear(256, 256)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 b="0" i="0">
                <a:solidFill>
                  <a:srgbClr val="505050"/>
                </a:solidFill>
                <a:latin typeface="Calibri"/>
              </a:defRPr>
            </a:pPr>
            <a:r>
              <a:rPr lang="de-DE" dirty="0"/>
              <a:t>                     →  </a:t>
            </a:r>
            <a:r>
              <a:rPr lang="de-DE" dirty="0" err="1"/>
              <a:t>BatchNorm</a:t>
            </a:r>
            <a:r>
              <a:rPr lang="de-DE" dirty="0"/>
              <a:t> + </a:t>
            </a:r>
            <a:r>
              <a:rPr lang="de-DE" dirty="0" err="1"/>
              <a:t>ReLU</a:t>
            </a:r>
            <a:endParaRPr lang="de-DE" dirty="0"/>
          </a:p>
          <a:p>
            <a:pPr>
              <a:spcBef>
                <a:spcPts val="400"/>
              </a:spcBef>
              <a:spcAft>
                <a:spcPts val="200"/>
              </a:spcAft>
              <a:defRPr sz="1500" b="1" i="0">
                <a:solidFill>
                  <a:srgbClr val="7D3C98"/>
                </a:solidFill>
                <a:latin typeface="Calibri"/>
              </a:defRPr>
            </a:pPr>
            <a:r>
              <a:rPr lang="de-DE" dirty="0"/>
              <a:t>                     →  Linear(256, 128)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 b="1" i="0">
                <a:solidFill>
                  <a:srgbClr val="B41E1E"/>
                </a:solidFill>
                <a:latin typeface="Calibri"/>
              </a:defRPr>
            </a:pPr>
            <a:r>
              <a:rPr lang="de-DE" dirty="0"/>
              <a:t>  z  (128-d)  ←  L2 </a:t>
            </a:r>
            <a:r>
              <a:rPr lang="de-DE" dirty="0" err="1"/>
              <a:t>Normalize</a:t>
            </a:r>
            <a:endParaRPr lang="de-DE" dirty="0"/>
          </a:p>
          <a:p>
            <a:pPr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  <a:endParaRPr lang="de-DE" dirty="0"/>
          </a:p>
          <a:p>
            <a:pPr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005AA0"/>
                </a:solidFill>
                <a:latin typeface="Calibri"/>
              </a:defRPr>
            </a:pPr>
            <a:endParaRPr lang="de-DE" dirty="0"/>
          </a:p>
          <a:p>
            <a:pPr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005AA0"/>
                </a:solidFill>
                <a:latin typeface="Calibri"/>
              </a:defRPr>
            </a:pPr>
            <a:endParaRPr lang="de-DE" dirty="0"/>
          </a:p>
          <a:p>
            <a:pPr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005AA0"/>
                </a:solidFill>
                <a:latin typeface="Calibri"/>
              </a:defRPr>
            </a:pPr>
            <a:endParaRPr lang="de-DE" dirty="0"/>
          </a:p>
          <a:p>
            <a:pPr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005AA0"/>
                </a:solidFill>
                <a:latin typeface="Calibri"/>
              </a:defRPr>
            </a:pPr>
            <a:endParaRPr lang="de-DE" dirty="0"/>
          </a:p>
          <a:p>
            <a:pPr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005AA0"/>
                </a:solidFill>
                <a:latin typeface="Calibri"/>
              </a:defRPr>
            </a:pPr>
            <a:endParaRPr lang="de-DE" dirty="0"/>
          </a:p>
          <a:p>
            <a:pPr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005AA0"/>
                </a:solidFill>
                <a:latin typeface="Calibri"/>
              </a:defRPr>
            </a:pPr>
            <a:endParaRPr lang="de-DE" dirty="0"/>
          </a:p>
          <a:p>
            <a:pPr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005AA0"/>
                </a:solidFill>
                <a:latin typeface="Calibri"/>
              </a:defRPr>
            </a:pPr>
            <a:r>
              <a:rPr lang="de-DE" dirty="0"/>
              <a:t>Parameters:					Key Insight: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lang="de-DE" dirty="0"/>
              <a:t>Encoder f(·):     141,504 </a:t>
            </a:r>
            <a:r>
              <a:rPr lang="de-DE" dirty="0" err="1"/>
              <a:t>params</a:t>
            </a:r>
            <a:r>
              <a:rPr lang="de-DE" dirty="0"/>
              <a:t>			</a:t>
            </a:r>
            <a:r>
              <a:rPr lang="de-DE" dirty="0" err="1"/>
              <a:t>Projection</a:t>
            </a:r>
            <a:r>
              <a:rPr lang="de-DE" dirty="0"/>
              <a:t> </a:t>
            </a:r>
            <a:r>
              <a:rPr lang="de-DE" dirty="0" err="1"/>
              <a:t>head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discarded</a:t>
            </a:r>
            <a:r>
              <a:rPr lang="de-DE" dirty="0"/>
              <a:t> after </a:t>
            </a:r>
            <a:r>
              <a:rPr lang="de-DE" dirty="0" err="1"/>
              <a:t>training</a:t>
            </a:r>
            <a:r>
              <a:rPr lang="de-DE" dirty="0"/>
              <a:t>.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lang="de-DE" dirty="0" err="1"/>
              <a:t>Projection</a:t>
            </a:r>
            <a:r>
              <a:rPr lang="de-DE" dirty="0"/>
              <a:t> g(·):   99,200 </a:t>
            </a:r>
            <a:r>
              <a:rPr lang="de-DE" dirty="0" err="1"/>
              <a:t>params</a:t>
            </a:r>
            <a:r>
              <a:rPr lang="de-DE" dirty="0"/>
              <a:t>			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encoder</a:t>
            </a:r>
            <a:r>
              <a:rPr lang="de-DE" dirty="0"/>
              <a:t> </a:t>
            </a:r>
            <a:r>
              <a:rPr lang="de-DE" dirty="0" err="1"/>
              <a:t>representations</a:t>
            </a:r>
            <a:r>
              <a:rPr lang="de-DE" dirty="0"/>
              <a:t> h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used</a:t>
            </a:r>
            <a:endParaRPr lang="de-DE" dirty="0"/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r>
              <a:rPr lang="de-DE" dirty="0"/>
              <a:t>Total:              240,704 </a:t>
            </a:r>
            <a:r>
              <a:rPr lang="de-DE" dirty="0" err="1"/>
              <a:t>params</a:t>
            </a:r>
            <a:r>
              <a:rPr lang="de-DE" dirty="0"/>
              <a:t>			</a:t>
            </a:r>
            <a:r>
              <a:rPr lang="de-DE" sz="1500" dirty="0" err="1">
                <a:solidFill>
                  <a:srgbClr val="000000"/>
                </a:solidFill>
                <a:latin typeface="Calibri"/>
              </a:rPr>
              <a:t>for</a:t>
            </a:r>
            <a:r>
              <a:rPr lang="de-DE" sz="1500" dirty="0">
                <a:solidFill>
                  <a:srgbClr val="000000"/>
                </a:solidFill>
                <a:latin typeface="Calibri"/>
              </a:rPr>
              <a:t> </a:t>
            </a:r>
            <a:r>
              <a:rPr lang="de-DE" sz="1500" dirty="0" err="1">
                <a:solidFill>
                  <a:srgbClr val="000000"/>
                </a:solidFill>
                <a:latin typeface="Calibri"/>
              </a:rPr>
              <a:t>downstream</a:t>
            </a:r>
            <a:r>
              <a:rPr lang="de-DE" sz="1500" dirty="0">
                <a:solidFill>
                  <a:srgbClr val="000000"/>
                </a:solidFill>
                <a:latin typeface="Calibri"/>
              </a:rPr>
              <a:t> </a:t>
            </a:r>
            <a:r>
              <a:rPr lang="de-DE" sz="1500" dirty="0" err="1">
                <a:solidFill>
                  <a:srgbClr val="000000"/>
                </a:solidFill>
                <a:latin typeface="Calibri"/>
              </a:rPr>
              <a:t>anomaly</a:t>
            </a:r>
            <a:r>
              <a:rPr lang="de-DE" sz="1500" dirty="0">
                <a:solidFill>
                  <a:srgbClr val="000000"/>
                </a:solidFill>
                <a:latin typeface="Calibri"/>
              </a:rPr>
              <a:t> </a:t>
            </a:r>
            <a:r>
              <a:rPr lang="de-DE" sz="1500" dirty="0" err="1">
                <a:solidFill>
                  <a:srgbClr val="000000"/>
                </a:solidFill>
                <a:latin typeface="Calibri"/>
              </a:rPr>
              <a:t>detection</a:t>
            </a:r>
            <a:r>
              <a:rPr lang="de-DE" sz="1500" dirty="0">
                <a:solidFill>
                  <a:srgbClr val="000000"/>
                </a:solidFill>
                <a:latin typeface="Calibri"/>
              </a:rPr>
              <a:t>.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endParaRPr lang="en-DE" sz="1500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endParaRPr lang="de-DE" dirty="0"/>
          </a:p>
          <a:p>
            <a:pPr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  <a:endParaRPr lang="de-DE" dirty="0"/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42271C1B-AEAA-5E94-1111-6729BF6536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DE"/>
          </a:p>
        </p:txBody>
      </p:sp>
      <p:sp>
        <p:nvSpPr>
          <p:cNvPr id="6" name="AutoShape 4">
            <a:extLst>
              <a:ext uri="{FF2B5EF4-FFF2-40B4-BE49-F238E27FC236}">
                <a16:creationId xmlns:a16="http://schemas.microsoft.com/office/drawing/2014/main" id="{3635D90D-33BA-F9BC-72D8-6E91ED8E734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D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839DC0-8F57-E8F0-4E29-FF177F5FF3F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22" t="27182" r="1622" b="15714"/>
          <a:stretch>
            <a:fillRect/>
          </a:stretch>
        </p:blipFill>
        <p:spPr>
          <a:xfrm>
            <a:off x="-1" y="1147392"/>
            <a:ext cx="11421979" cy="3777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81265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3B8AF-378F-CCCD-8521-5F1CDCC16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NT-</a:t>
            </a:r>
            <a:r>
              <a:rPr lang="de-DE" dirty="0" err="1"/>
              <a:t>Xent</a:t>
            </a:r>
            <a:r>
              <a:rPr lang="de-DE" dirty="0"/>
              <a:t> Loss (</a:t>
            </a:r>
            <a:r>
              <a:rPr lang="de-DE" dirty="0" err="1"/>
              <a:t>Contrastive</a:t>
            </a:r>
            <a:r>
              <a:rPr lang="de-DE" dirty="0"/>
              <a:t>):</a:t>
            </a:r>
            <a:br>
              <a:rPr lang="de-DE" dirty="0"/>
            </a:br>
            <a:endParaRPr lang="en-D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ABCD99-C9F2-DBAF-AD57-900457851D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005AA0"/>
                </a:solidFill>
                <a:latin typeface="Calibri"/>
              </a:defRPr>
            </a:pPr>
            <a:r>
              <a:rPr lang="de-DE" dirty="0" err="1"/>
              <a:t>Normalize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Unit </a:t>
            </a:r>
            <a:r>
              <a:rPr lang="de-DE" dirty="0" err="1"/>
              <a:t>Length</a:t>
            </a:r>
            <a:r>
              <a:rPr lang="de-DE" dirty="0"/>
              <a:t>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rPr lang="de-DE" dirty="0" err="1"/>
              <a:t>z_normalized</a:t>
            </a:r>
            <a:r>
              <a:rPr lang="de-DE" dirty="0"/>
              <a:t> = z / ||z||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rPr lang="de-DE" dirty="0" err="1"/>
              <a:t>Where</a:t>
            </a:r>
            <a:r>
              <a:rPr lang="de-DE" dirty="0"/>
              <a:t> ||z|| = </a:t>
            </a:r>
            <a:r>
              <a:rPr lang="de-DE" dirty="0" err="1"/>
              <a:t>sqrt</a:t>
            </a:r>
            <a:r>
              <a:rPr lang="de-DE" dirty="0"/>
              <a:t>(z₀² + z₁² + z₂² + ... + z₁₂₇²)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endParaRPr lang="de-DE" dirty="0"/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rPr lang="de-DE" sz="1700" b="1" dirty="0" err="1">
                <a:solidFill>
                  <a:srgbClr val="005AA0"/>
                </a:solidFill>
                <a:latin typeface="Calibri"/>
              </a:rPr>
              <a:t>Compute</a:t>
            </a:r>
            <a:r>
              <a:rPr lang="de-DE" sz="1700" b="1" dirty="0">
                <a:solidFill>
                  <a:srgbClr val="005AA0"/>
                </a:solidFill>
                <a:latin typeface="Calibri"/>
              </a:rPr>
              <a:t> </a:t>
            </a:r>
            <a:r>
              <a:rPr lang="de-DE" sz="1700" b="1" dirty="0" err="1">
                <a:solidFill>
                  <a:srgbClr val="005AA0"/>
                </a:solidFill>
                <a:latin typeface="Calibri"/>
              </a:rPr>
              <a:t>Dot</a:t>
            </a:r>
            <a:r>
              <a:rPr lang="de-DE" sz="1700" b="1" dirty="0">
                <a:solidFill>
                  <a:srgbClr val="005AA0"/>
                </a:solidFill>
                <a:latin typeface="Calibri"/>
              </a:rPr>
              <a:t> </a:t>
            </a:r>
            <a:r>
              <a:rPr lang="de-DE" sz="1700" b="1" dirty="0" err="1">
                <a:solidFill>
                  <a:srgbClr val="005AA0"/>
                </a:solidFill>
                <a:latin typeface="Calibri"/>
              </a:rPr>
              <a:t>Product</a:t>
            </a:r>
            <a:r>
              <a:rPr lang="de-DE" sz="1700" b="1" dirty="0">
                <a:solidFill>
                  <a:srgbClr val="005AA0"/>
                </a:solidFill>
                <a:latin typeface="Calibri"/>
              </a:rPr>
              <a:t> </a:t>
            </a:r>
            <a:r>
              <a:rPr lang="de-DE" sz="1700" b="1" dirty="0" err="1">
                <a:solidFill>
                  <a:srgbClr val="005AA0"/>
                </a:solidFill>
                <a:latin typeface="Calibri"/>
              </a:rPr>
              <a:t>of</a:t>
            </a:r>
            <a:r>
              <a:rPr lang="de-DE" sz="1700" b="1" dirty="0">
                <a:solidFill>
                  <a:srgbClr val="005AA0"/>
                </a:solidFill>
                <a:latin typeface="Calibri"/>
              </a:rPr>
              <a:t> </a:t>
            </a:r>
            <a:r>
              <a:rPr lang="de-DE" sz="1700" b="1" dirty="0" err="1">
                <a:solidFill>
                  <a:srgbClr val="005AA0"/>
                </a:solidFill>
                <a:latin typeface="Calibri"/>
              </a:rPr>
              <a:t>two</a:t>
            </a:r>
            <a:r>
              <a:rPr lang="de-DE" sz="1700" b="1" dirty="0">
                <a:solidFill>
                  <a:srgbClr val="005AA0"/>
                </a:solidFill>
                <a:latin typeface="Calibri"/>
              </a:rPr>
              <a:t> </a:t>
            </a:r>
            <a:r>
              <a:rPr lang="de-DE" sz="1700" b="1" dirty="0" err="1">
                <a:solidFill>
                  <a:srgbClr val="005AA0"/>
                </a:solidFill>
                <a:latin typeface="Calibri"/>
              </a:rPr>
              <a:t>vectors</a:t>
            </a:r>
            <a:r>
              <a:rPr lang="de-DE" sz="1700" b="1" dirty="0">
                <a:solidFill>
                  <a:srgbClr val="005AA0"/>
                </a:solidFill>
                <a:latin typeface="Calibri"/>
              </a:rPr>
              <a:t> (</a:t>
            </a:r>
            <a:r>
              <a:rPr lang="de-DE" sz="1700" b="1" dirty="0" err="1">
                <a:solidFill>
                  <a:srgbClr val="005AA0"/>
                </a:solidFill>
                <a:latin typeface="Calibri"/>
              </a:rPr>
              <a:t>Similarity</a:t>
            </a:r>
            <a:r>
              <a:rPr lang="de-DE" sz="1700" b="1" dirty="0">
                <a:solidFill>
                  <a:srgbClr val="005AA0"/>
                </a:solidFill>
                <a:latin typeface="Calibri"/>
              </a:rPr>
              <a:t>):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rPr lang="de-DE" dirty="0" err="1"/>
              <a:t>Dot</a:t>
            </a:r>
            <a:r>
              <a:rPr lang="de-DE" dirty="0"/>
              <a:t> </a:t>
            </a:r>
            <a:r>
              <a:rPr lang="de-DE" dirty="0" err="1"/>
              <a:t>product</a:t>
            </a:r>
            <a:r>
              <a:rPr lang="de-DE" dirty="0"/>
              <a:t> : </a:t>
            </a:r>
            <a:r>
              <a:rPr lang="de-DE" dirty="0" err="1"/>
              <a:t>z_a</a:t>
            </a:r>
            <a:r>
              <a:rPr lang="de-DE" dirty="0"/>
              <a:t> · </a:t>
            </a:r>
            <a:r>
              <a:rPr lang="de-DE" dirty="0" err="1"/>
              <a:t>z_b</a:t>
            </a:r>
            <a:r>
              <a:rPr lang="de-DE" dirty="0"/>
              <a:t> = a₀×b₀ + a₁×b₁ + a₂×b₂ + ... + a₁₂₇×b₁₂₇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1">
                <a:solidFill>
                  <a:srgbClr val="000000"/>
                </a:solidFill>
                <a:latin typeface="Calibri"/>
              </a:defRPr>
            </a:pPr>
            <a:endParaRPr lang="de-DE" dirty="0"/>
          </a:p>
          <a:p>
            <a:pPr>
              <a:defRPr sz="1700" b="1">
                <a:solidFill>
                  <a:srgbClr val="003366"/>
                </a:solidFill>
                <a:latin typeface="Calibri"/>
              </a:defRPr>
            </a:pPr>
            <a:r>
              <a:rPr lang="de-DE" dirty="0"/>
              <a:t>NT-</a:t>
            </a:r>
            <a:r>
              <a:rPr lang="de-DE" dirty="0" err="1"/>
              <a:t>Xent</a:t>
            </a:r>
            <a:r>
              <a:rPr lang="de-DE" dirty="0"/>
              <a:t> Loss (</a:t>
            </a:r>
            <a:r>
              <a:rPr lang="de-DE" dirty="0" err="1"/>
              <a:t>Contrastive</a:t>
            </a:r>
            <a:r>
              <a:rPr lang="de-DE" dirty="0"/>
              <a:t>):                                                                                  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400" b="0" i="0">
                <a:solidFill>
                  <a:srgbClr val="000000"/>
                </a:solidFill>
                <a:latin typeface="Calibri"/>
              </a:defRPr>
            </a:pPr>
            <a:endParaRPr lang="de-DE" dirty="0"/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783C"/>
                </a:solidFill>
                <a:latin typeface="Calibri"/>
              </a:defRPr>
            </a:pPr>
            <a:r>
              <a:rPr lang="de-DE" dirty="0"/>
              <a:t>(zᵢ, zⱼ) = positive pair (same </a:t>
            </a:r>
            <a:r>
              <a:rPr lang="de-DE" dirty="0" err="1"/>
              <a:t>window</a:t>
            </a:r>
            <a:r>
              <a:rPr lang="de-DE" dirty="0"/>
              <a:t>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B41E1E"/>
                </a:solidFill>
                <a:latin typeface="Calibri"/>
              </a:defRPr>
            </a:pPr>
            <a:r>
              <a:rPr lang="de-DE" dirty="0"/>
              <a:t>(zᵢ, zₖ)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k≠i</a:t>
            </a:r>
            <a:r>
              <a:rPr lang="de-DE" dirty="0"/>
              <a:t> = negative </a:t>
            </a:r>
            <a:r>
              <a:rPr lang="de-DE" dirty="0" err="1"/>
              <a:t>pairs</a:t>
            </a:r>
            <a:endParaRPr lang="de-DE" dirty="0"/>
          </a:p>
          <a:p>
            <a:pPr>
              <a:spcBef>
                <a:spcPts val="300"/>
              </a:spcBef>
              <a:spcAft>
                <a:spcPts val="200"/>
              </a:spcAft>
              <a:defRPr sz="1400" b="1">
                <a:solidFill>
                  <a:srgbClr val="000000"/>
                </a:solidFill>
                <a:latin typeface="Calibri"/>
              </a:defRPr>
            </a:pPr>
            <a:endParaRPr lang="de-DE" dirty="0"/>
          </a:p>
          <a:p>
            <a:pPr>
              <a:spcBef>
                <a:spcPts val="300"/>
              </a:spcBef>
              <a:spcAft>
                <a:spcPts val="200"/>
              </a:spcAft>
              <a:defRPr sz="1400" b="1">
                <a:solidFill>
                  <a:srgbClr val="000000"/>
                </a:solidFill>
                <a:latin typeface="Calibri"/>
              </a:defRPr>
            </a:pPr>
            <a:endParaRPr lang="de-DE" dirty="0"/>
          </a:p>
          <a:p>
            <a:pPr>
              <a:spcBef>
                <a:spcPts val="300"/>
              </a:spcBef>
              <a:spcAft>
                <a:spcPts val="200"/>
              </a:spcAft>
              <a:defRPr sz="1400" b="1">
                <a:solidFill>
                  <a:srgbClr val="000000"/>
                </a:solidFill>
                <a:latin typeface="Calibri"/>
              </a:defRPr>
            </a:pPr>
            <a:endParaRPr lang="de-DE" dirty="0"/>
          </a:p>
          <a:p>
            <a:r>
              <a:rPr lang="de-DE" sz="2000" b="1" dirty="0"/>
              <a:t>NT-</a:t>
            </a:r>
            <a:r>
              <a:rPr lang="de-DE" sz="2000" b="1" dirty="0" err="1"/>
              <a:t>Xent</a:t>
            </a:r>
            <a:r>
              <a:rPr lang="de-DE" sz="2000" b="1" dirty="0"/>
              <a:t> Loss: ℓ</a:t>
            </a:r>
            <a:r>
              <a:rPr lang="de-DE" sz="2000" b="1" dirty="0" err="1"/>
              <a:t>i,j</a:t>
            </a:r>
            <a:r>
              <a:rPr lang="de-DE" sz="2000" b="1" dirty="0"/>
              <a:t>                                                                                 , </a:t>
            </a:r>
            <a:r>
              <a:rPr lang="de-DE" sz="2000" b="1" dirty="0" err="1"/>
              <a:t>with</a:t>
            </a:r>
            <a:r>
              <a:rPr lang="de-DE" sz="2000" b="1" dirty="0"/>
              <a:t> </a:t>
            </a:r>
            <a:r>
              <a:rPr lang="el-GR" sz="2000" b="1" dirty="0"/>
              <a:t>τ = 0.5</a:t>
            </a:r>
            <a:endParaRPr lang="de-DE" sz="2000" b="1" dirty="0"/>
          </a:p>
          <a:p>
            <a:endParaRPr lang="de-DE" sz="2000" b="1" dirty="0"/>
          </a:p>
          <a:p>
            <a:pPr>
              <a:spcBef>
                <a:spcPts val="300"/>
              </a:spcBef>
              <a:spcAft>
                <a:spcPts val="200"/>
              </a:spcAft>
              <a:defRPr sz="1400" b="1">
                <a:solidFill>
                  <a:srgbClr val="000000"/>
                </a:solidFill>
                <a:latin typeface="Calibri"/>
              </a:defRPr>
            </a:pPr>
            <a:endParaRPr lang="de-DE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DE" dirty="0"/>
          </a:p>
        </p:txBody>
      </p:sp>
      <p:pic>
        <p:nvPicPr>
          <p:cNvPr id="8" name="Picture 2" descr="NT-Xent (Normalized Temperature-Scaled Cross-Entropy) Loss Explained and  Implemented in PyTorch | by Dhruv Matani | TDS Archive | Medium">
            <a:extLst>
              <a:ext uri="{FF2B5EF4-FFF2-40B4-BE49-F238E27FC236}">
                <a16:creationId xmlns:a16="http://schemas.microsoft.com/office/drawing/2014/main" id="{6FA34D71-AFD2-AC2B-22C8-B56E9D02AD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06" t="8365" r="3767" b="18563"/>
          <a:stretch>
            <a:fillRect/>
          </a:stretch>
        </p:blipFill>
        <p:spPr bwMode="auto">
          <a:xfrm>
            <a:off x="3172172" y="4860598"/>
            <a:ext cx="5518483" cy="1159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utoShape 3" descr="Cross Entropy Loss: Intro, Applications, Code">
            <a:extLst>
              <a:ext uri="{FF2B5EF4-FFF2-40B4-BE49-F238E27FC236}">
                <a16:creationId xmlns:a16="http://schemas.microsoft.com/office/drawing/2014/main" id="{B7AE414A-B98E-A449-8503-DD705A56500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834345"/>
            <a:ext cx="2747055" cy="27470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DE"/>
          </a:p>
        </p:txBody>
      </p:sp>
      <p:sp>
        <p:nvSpPr>
          <p:cNvPr id="6" name="AutoShape 5" descr="Cross Entropy Loss: Intro, Applications, Code">
            <a:extLst>
              <a:ext uri="{FF2B5EF4-FFF2-40B4-BE49-F238E27FC236}">
                <a16:creationId xmlns:a16="http://schemas.microsoft.com/office/drawing/2014/main" id="{53D17ACF-7B12-4A3A-09A8-9702B7E4773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DE"/>
          </a:p>
        </p:txBody>
      </p:sp>
      <p:sp>
        <p:nvSpPr>
          <p:cNvPr id="7" name="AutoShape 7" descr="Cross Entropy Loss: Intro, Applications, Code">
            <a:extLst>
              <a:ext uri="{FF2B5EF4-FFF2-40B4-BE49-F238E27FC236}">
                <a16:creationId xmlns:a16="http://schemas.microsoft.com/office/drawing/2014/main" id="{D6046D48-4241-C309-3A6C-32A878E5188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DE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A194FB-3E01-0AA2-C8D2-B7161AC01D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44" t="8452" r="5964" b="10278"/>
          <a:stretch>
            <a:fillRect/>
          </a:stretch>
        </p:blipFill>
        <p:spPr>
          <a:xfrm>
            <a:off x="5570073" y="1739929"/>
            <a:ext cx="5518483" cy="1755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9012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9F46-AF8C-0F7A-1235-A28E6E645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Training Summary</a:t>
            </a:r>
            <a:endParaRPr lang="en-D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6FEAE8-CDE4-4BA3-48B5-152B544D03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▶ 2,189 </a:t>
            </a:r>
            <a:r>
              <a:rPr lang="de-DE" dirty="0" err="1"/>
              <a:t>windows</a:t>
            </a:r>
            <a:r>
              <a:rPr lang="de-DE" dirty="0"/>
              <a:t> (200 </a:t>
            </a:r>
            <a:r>
              <a:rPr lang="de-DE" dirty="0" err="1"/>
              <a:t>samples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) </a:t>
            </a:r>
          </a:p>
          <a:p>
            <a:r>
              <a:rPr lang="de-DE" dirty="0"/>
              <a:t>▶ 50 </a:t>
            </a:r>
            <a:r>
              <a:rPr lang="de-DE" dirty="0" err="1"/>
              <a:t>epochs</a:t>
            </a:r>
            <a:r>
              <a:rPr lang="de-DE" dirty="0"/>
              <a:t>, 17 </a:t>
            </a:r>
            <a:r>
              <a:rPr lang="de-DE" dirty="0" err="1"/>
              <a:t>batches</a:t>
            </a:r>
            <a:r>
              <a:rPr lang="de-DE" dirty="0"/>
              <a:t>/</a:t>
            </a:r>
            <a:r>
              <a:rPr lang="de-DE" dirty="0" err="1"/>
              <a:t>epoch</a:t>
            </a:r>
            <a:r>
              <a:rPr lang="de-DE" dirty="0"/>
              <a:t> </a:t>
            </a:r>
          </a:p>
          <a:p>
            <a:r>
              <a:rPr lang="de-DE" dirty="0"/>
              <a:t>▶ Initial </a:t>
            </a:r>
            <a:r>
              <a:rPr lang="de-DE" dirty="0" err="1"/>
              <a:t>loss</a:t>
            </a:r>
            <a:r>
              <a:rPr lang="de-DE" dirty="0"/>
              <a:t>: 4.085 </a:t>
            </a:r>
          </a:p>
          <a:p>
            <a:r>
              <a:rPr lang="de-DE" dirty="0"/>
              <a:t>▶ Final </a:t>
            </a:r>
            <a:r>
              <a:rPr lang="de-DE" dirty="0" err="1"/>
              <a:t>loss</a:t>
            </a:r>
            <a:r>
              <a:rPr lang="de-DE" dirty="0"/>
              <a:t>: 3.796 </a:t>
            </a:r>
          </a:p>
          <a:p>
            <a:r>
              <a:rPr lang="de-DE" dirty="0"/>
              <a:t>▶ Training time: 118.1s on CPU </a:t>
            </a:r>
          </a:p>
          <a:p>
            <a:r>
              <a:rPr lang="de-DE" dirty="0"/>
              <a:t>▶ Total </a:t>
            </a:r>
            <a:r>
              <a:rPr lang="de-DE" dirty="0" err="1"/>
              <a:t>params</a:t>
            </a:r>
            <a:r>
              <a:rPr lang="de-DE" dirty="0"/>
              <a:t>: 240,704 </a:t>
            </a:r>
            <a:r>
              <a:rPr lang="de-DE" dirty="0" err="1"/>
              <a:t>Augmentations</a:t>
            </a:r>
            <a:r>
              <a:rPr lang="de-DE" dirty="0"/>
              <a:t>:</a:t>
            </a:r>
          </a:p>
          <a:p>
            <a:endParaRPr lang="de-DE" dirty="0"/>
          </a:p>
          <a:p>
            <a:r>
              <a:rPr lang="de-DE" dirty="0"/>
              <a:t>▶ </a:t>
            </a:r>
            <a:r>
              <a:rPr lang="de-DE" dirty="0" err="1"/>
              <a:t>Gaussian</a:t>
            </a:r>
            <a:r>
              <a:rPr lang="de-DE" dirty="0"/>
              <a:t> </a:t>
            </a:r>
            <a:r>
              <a:rPr lang="de-DE" dirty="0" err="1"/>
              <a:t>jitter</a:t>
            </a:r>
            <a:r>
              <a:rPr lang="de-DE" dirty="0"/>
              <a:t> (</a:t>
            </a:r>
            <a:r>
              <a:rPr lang="el-GR" dirty="0"/>
              <a:t>σ = 0.1) </a:t>
            </a:r>
            <a:endParaRPr lang="en-US" dirty="0"/>
          </a:p>
          <a:p>
            <a:r>
              <a:rPr lang="el-GR" dirty="0"/>
              <a:t>▶ </a:t>
            </a:r>
            <a:r>
              <a:rPr lang="de-DE" dirty="0"/>
              <a:t>Amplitude </a:t>
            </a:r>
            <a:r>
              <a:rPr lang="de-DE" dirty="0" err="1"/>
              <a:t>scaling</a:t>
            </a:r>
            <a:r>
              <a:rPr lang="de-DE" dirty="0"/>
              <a:t> ([0.8,1.2]) </a:t>
            </a:r>
          </a:p>
          <a:p>
            <a:r>
              <a:rPr lang="de-DE" dirty="0"/>
              <a:t>▶ Temporal </a:t>
            </a:r>
            <a:r>
              <a:rPr lang="de-DE" dirty="0" err="1"/>
              <a:t>masking</a:t>
            </a:r>
            <a:r>
              <a:rPr lang="de-DE" dirty="0"/>
              <a:t> (10%)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5154644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Anomaly</a:t>
            </a:r>
            <a:r>
              <a:rPr lang="de-DE" dirty="0"/>
              <a:t> </a:t>
            </a:r>
            <a:r>
              <a:rPr lang="de-DE" dirty="0" err="1"/>
              <a:t>Detection</a:t>
            </a:r>
            <a:r>
              <a:rPr lang="de-DE" dirty="0"/>
              <a:t> Method</a:t>
            </a:r>
            <a:br>
              <a:rPr lang="de-DE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dirty="0"/>
          </a:p>
        </p:txBody>
      </p:sp>
      <p:pic>
        <p:nvPicPr>
          <p:cNvPr id="5" name="Picture 4" descr="anomaly_detection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35024"/>
            <a:ext cx="11430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840480"/>
            <a:ext cx="530352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5AA0"/>
                </a:solidFill>
                <a:latin typeface="Calibri"/>
              </a:defRPr>
            </a:pPr>
            <a:r>
              <a:rPr sz="2400" dirty="0"/>
              <a:t>Phase 2: Calibration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lang="en-US" sz="2400" dirty="0"/>
              <a:t>94</a:t>
            </a:r>
            <a:r>
              <a:rPr sz="2400" dirty="0"/>
              <a:t> healthy HIL windows </a:t>
            </a:r>
            <a:endParaRPr lang="en-US" sz="2400" dirty="0"/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sz="2400" dirty="0"/>
              <a:t>Pass through frozen encoder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sz="2400" dirty="0"/>
              <a:t>Compute healthy centroid: μ = mean(h)</a:t>
            </a:r>
            <a:r>
              <a:rPr lang="en-US" sz="2400" dirty="0"/>
              <a:t> </a:t>
            </a:r>
            <a:endParaRPr sz="2400" dirty="0"/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sz="2400" dirty="0"/>
              <a:t>Set thresholds at 6 percentile levels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840480"/>
            <a:ext cx="5303520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86400"/>
                </a:solidFill>
                <a:latin typeface="Calibri"/>
              </a:defRPr>
            </a:pPr>
            <a:r>
              <a:rPr sz="2400" dirty="0"/>
              <a:t>Phase 3: Detection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sz="2300" dirty="0"/>
              <a:t>Encode each test window → embedding h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sz="2300" dirty="0"/>
              <a:t>Compute</a:t>
            </a:r>
            <a:r>
              <a:rPr lang="en-US" sz="2300" dirty="0"/>
              <a:t> </a:t>
            </a:r>
            <a:r>
              <a:rPr sz="2300" dirty="0"/>
              <a:t>cosine similarity</a:t>
            </a:r>
            <a:r>
              <a:rPr lang="en-DE" sz="2300" dirty="0"/>
              <a:t> → </a:t>
            </a:r>
            <a:r>
              <a:rPr lang="pt-BR" sz="2300" dirty="0"/>
              <a:t>sim(h,µh) = h·µh / ∥h∥∥µh∥</a:t>
            </a:r>
            <a:endParaRPr sz="2300" dirty="0"/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B41E1E"/>
                </a:solidFill>
                <a:latin typeface="Calibri"/>
              </a:defRPr>
            </a:pPr>
            <a:r>
              <a:rPr sz="2300" dirty="0"/>
              <a:t>If sim &lt; τ : FAULTY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783C"/>
                </a:solidFill>
                <a:latin typeface="Calibri"/>
              </a:defRPr>
            </a:pPr>
            <a:r>
              <a:rPr sz="2300" dirty="0"/>
              <a:t>If sim ≥ τ : HEALTHY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Results</a:t>
            </a:r>
            <a:r>
              <a:rPr lang="de-DE" dirty="0"/>
              <a:t>: Multi-Threshold </a:t>
            </a:r>
            <a:r>
              <a:rPr lang="de-DE" dirty="0" err="1"/>
              <a:t>Detection</a:t>
            </a:r>
            <a:r>
              <a:rPr lang="de-DE" dirty="0"/>
              <a:t> Performance</a:t>
            </a:r>
            <a:br>
              <a:rPr lang="de-DE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0468538"/>
              </p:ext>
            </p:extLst>
          </p:nvPr>
        </p:nvGraphicFramePr>
        <p:xfrm>
          <a:off x="5943600" y="1371600"/>
          <a:ext cx="5486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Percentile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Threshold τ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F1-Score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15th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0.893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0.707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0.825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20th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rPr dirty="0"/>
                        <a:t>0.927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0.843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rPr dirty="0"/>
                        <a:t>0.914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25th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0.862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0.925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30th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0.968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0.909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0.952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35th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0.956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40th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0.974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0.933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rPr dirty="0"/>
                        <a:t>0.965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0" y="4846320"/>
            <a:ext cx="5760720" cy="91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3366"/>
                </a:solidFill>
                <a:latin typeface="Calibri"/>
              </a:defRPr>
            </a:pPr>
            <a:r>
              <a:rPr dirty="0"/>
              <a:t>Key Findings: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r>
              <a:rPr dirty="0"/>
              <a:t>Best F1 = 0.965 at 40th percentile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Best recall = </a:t>
            </a:r>
            <a:endParaRPr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8373BC4-1895-759A-6CC9-60DBEAB76F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083" y="1161289"/>
            <a:ext cx="5850343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Results</a:t>
            </a:r>
            <a:r>
              <a:rPr lang="de-DE" dirty="0"/>
              <a:t>: Per-Fault Recall Analysis</a:t>
            </a:r>
            <a:br>
              <a:rPr lang="de-DE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8569354"/>
              </p:ext>
            </p:extLst>
          </p:nvPr>
        </p:nvGraphicFramePr>
        <p:xfrm>
          <a:off x="6025896" y="1371600"/>
          <a:ext cx="53980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8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371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95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495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Fault Type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Detected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Acc Gain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288/314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91.7%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0.957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Acc Noise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294/321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91.6%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0.956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B41E1E"/>
                          </a:solidFill>
                          <a:latin typeface="Calibri"/>
                        </a:defRPr>
                      </a:pPr>
                      <a:r>
                        <a:t>Acc Stuck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283/315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B41E1E"/>
                          </a:solidFill>
                          <a:latin typeface="Calibri"/>
                        </a:defRPr>
                      </a:pPr>
                      <a:r>
                        <a:t>89.8%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B41E1E"/>
                          </a:solidFill>
                          <a:latin typeface="Calibri"/>
                        </a:defRPr>
                      </a:pPr>
                      <a:r>
                        <a:t>0.947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Speed Gain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320/321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99.7%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0.998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Speed Noise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302/315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95.9%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0.979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8014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Speed Stuck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296/325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91.1%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rPr dirty="0"/>
                        <a:t>0.953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457200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3366"/>
                </a:solidFill>
                <a:latin typeface="Calibri"/>
              </a:defRPr>
            </a:pPr>
            <a:r>
              <a:t>Observations (40th pctl):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1">
                <a:solidFill>
                  <a:srgbClr val="00783C"/>
                </a:solidFill>
                <a:latin typeface="Calibri"/>
              </a:defRPr>
            </a:pPr>
            <a:r>
              <a:t>Speed gain: 99.7% recall (best)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B41E1E"/>
                </a:solidFill>
                <a:latin typeface="Calibri"/>
              </a:defRPr>
            </a:pPr>
            <a:r>
              <a:t>Acc stuck: 89.8% recall (hardest)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Speed signals have lower natural variability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Detectability reflects physical fault severity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80A8142-498D-E10B-EA8A-B540A7188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88714"/>
            <a:ext cx="6025896" cy="457200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Results: Binary Classification (Healthy vs. Faulty)</a:t>
            </a:r>
            <a:br>
              <a:rPr lang="en-US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7132320" y="1371600"/>
            <a:ext cx="4754880" cy="1646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3366"/>
                </a:solidFill>
                <a:latin typeface="Calibri"/>
              </a:defRPr>
            </a:pPr>
            <a:r>
              <a:rPr dirty="0"/>
              <a:t>Binary Results (40th Percentile):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 i="0">
                <a:solidFill>
                  <a:srgbClr val="000000"/>
                </a:solidFill>
                <a:latin typeface="Calibri"/>
              </a:defRPr>
            </a:pPr>
            <a:endParaRPr dirty="0"/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r>
              <a:rPr dirty="0"/>
              <a:t>Accuracy:    91.8%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dirty="0"/>
              <a:t>Precision:    </a:t>
            </a:r>
            <a:r>
              <a:rPr lang="en-US" dirty="0"/>
              <a:t>98</a:t>
            </a:r>
            <a:r>
              <a:rPr dirty="0"/>
              <a:t>.0%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dirty="0"/>
              <a:t>Recall:        93.3%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r>
              <a:rPr dirty="0"/>
              <a:t>F1-Score:    0.956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3474720"/>
          <a:ext cx="41148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endParaRPr/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Pred Healthy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Pred Faulty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True Healthy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TN = 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B41E1E"/>
                          </a:solidFill>
                          <a:latin typeface="Calibri"/>
                        </a:defRPr>
                      </a:pPr>
                      <a:r>
                        <a:t>FP = 36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True Faulty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B41E1E"/>
                          </a:solidFill>
                          <a:latin typeface="Calibri"/>
                        </a:defRPr>
                      </a:pPr>
                      <a:r>
                        <a:t>FN = 128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TP = 1,783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0" y="5029200"/>
            <a:ext cx="4754880" cy="6206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5AA0"/>
                </a:solidFill>
                <a:latin typeface="Calibri"/>
              </a:defRPr>
            </a:pPr>
            <a:r>
              <a:rPr dirty="0"/>
              <a:t>ROC-AUC = 0.85</a:t>
            </a:r>
            <a:r>
              <a:rPr lang="en-US" dirty="0"/>
              <a:t>75</a:t>
            </a:r>
            <a:endParaRPr dirty="0"/>
          </a:p>
          <a:p>
            <a:pPr algn="l">
              <a:spcBef>
                <a:spcPts val="400"/>
              </a:spcBef>
              <a:spcAft>
                <a:spcPts val="200"/>
              </a:spcAft>
              <a:defRPr sz="1400" b="0" i="0">
                <a:solidFill>
                  <a:srgbClr val="505050"/>
                </a:solidFill>
                <a:latin typeface="Calibri"/>
              </a:defRPr>
            </a:pPr>
            <a:r>
              <a:rPr dirty="0"/>
              <a:t>Significantly above random baseline (0.5)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8A5F871-9E47-5E14-975F-A4ECBEEBD2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" y="1317421"/>
            <a:ext cx="6971413" cy="464289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ROC Curves and Similarity Distributions</a:t>
            </a:r>
            <a:br>
              <a:rPr lang="en-US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5943600" y="5212080"/>
            <a:ext cx="5760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Clear separation between healthy and faulty distributions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0" i="0">
                <a:solidFill>
                  <a:srgbClr val="505050"/>
                </a:solidFill>
                <a:latin typeface="Calibri"/>
              </a:defRPr>
            </a:pPr>
            <a:r>
              <a:t>Higher threshold percentile → more recall, slightly more FP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DEDF2FD-5A46-A47A-8BC5-B77DFCFE14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6192" y="1165498"/>
            <a:ext cx="8151810" cy="404658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Computing </a:t>
            </a:r>
            <a:r>
              <a:rPr lang="de-DE" dirty="0" err="1"/>
              <a:t>Cost</a:t>
            </a:r>
            <a:r>
              <a:rPr lang="de-DE" dirty="0"/>
              <a:t> Analysis</a:t>
            </a:r>
            <a:br>
              <a:rPr lang="de-DE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6858000" cy="35618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638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Operation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Time (s)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% of Total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Part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A2D2 data loading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18.87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Part 2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SimCLR training (50 epochs)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118.08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80.5%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Part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Augmentation + other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3.09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2.1%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Part 3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Embedding extraction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1.59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1.1%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Part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Evaluation + visualization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4.98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3.4%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6392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End-to-end pipeline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146.62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0" y="1463040"/>
            <a:ext cx="3931920" cy="38933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rPr dirty="0"/>
              <a:t>Key Takeaways: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  <a:endParaRPr dirty="0"/>
          </a:p>
          <a:p>
            <a:pPr>
              <a:spcBef>
                <a:spcPts val="300"/>
              </a:spcBef>
              <a:spcAft>
                <a:spcPts val="200"/>
              </a:spcAft>
              <a:defRPr sz="1600" b="1">
                <a:solidFill>
                  <a:srgbClr val="000000"/>
                </a:solidFill>
                <a:latin typeface="Calibri"/>
              </a:defRPr>
            </a:pPr>
            <a:r>
              <a:rPr dirty="0"/>
              <a:t>Training: 118.1 s (one-time cost)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  <a:endParaRPr dirty="0"/>
          </a:p>
          <a:p>
            <a:pPr>
              <a:spcBef>
                <a:spcPts val="300"/>
              </a:spcBef>
              <a:spcAft>
                <a:spcPts val="200"/>
              </a:spcAft>
              <a:defRPr sz="1600" b="1">
                <a:solidFill>
                  <a:srgbClr val="000000"/>
                </a:solidFill>
                <a:latin typeface="Calibri"/>
              </a:defRPr>
            </a:pPr>
            <a:r>
              <a:rPr dirty="0"/>
              <a:t>Inference: ~0.5 </a:t>
            </a:r>
            <a:r>
              <a:rPr dirty="0" err="1"/>
              <a:t>ms</a:t>
            </a:r>
            <a:r>
              <a:rPr dirty="0"/>
              <a:t> per window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  <a:endParaRPr dirty="0"/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rPr dirty="0"/>
              <a:t>Total pipeline: ~147 s (~2.4 min)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  <a:endParaRPr dirty="0"/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rPr dirty="0"/>
              <a:t>Suitable for real-time deployment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 i="0">
                <a:solidFill>
                  <a:srgbClr val="000000"/>
                </a:solidFill>
                <a:latin typeface="Calibri"/>
              </a:defRPr>
            </a:pPr>
            <a:endParaRPr dirty="0"/>
          </a:p>
          <a:p>
            <a:pPr algn="l">
              <a:spcBef>
                <a:spcPts val="400"/>
              </a:spcBef>
              <a:spcAft>
                <a:spcPts val="200"/>
              </a:spcAft>
              <a:defRPr sz="1800" b="1" i="0">
                <a:solidFill>
                  <a:srgbClr val="B41E1E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vs. Supervised approach: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0" i="0">
                <a:solidFill>
                  <a:srgbClr val="505050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  Ghannoum CNN-GRU: 23,000 s (6.4 h)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1" i="0">
                <a:solidFill>
                  <a:srgbClr val="00783C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  Our approach: ~157x faster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1" i="0">
                <a:solidFill>
                  <a:srgbClr val="00783C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  + No labeled data required!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Conclusion</a:t>
            </a:r>
            <a:br>
              <a:rPr lang="de-DE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42678" y="1371600"/>
            <a:ext cx="11338560" cy="105156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00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400" b="0">
                <a:solidFill>
                  <a:srgbClr val="000000"/>
                </a:solidFill>
                <a:latin typeface="Calibri"/>
              </a:defRPr>
            </a:pPr>
            <a:r>
              <a:t>RQ1:  Self-supervised representations from healthy A2D2 data successfully detect sensor faults in HIL data.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1" i="0">
                <a:solidFill>
                  <a:srgbClr val="00783C"/>
                </a:solidFill>
                <a:latin typeface="Calibri"/>
              </a:defRPr>
            </a:pPr>
            <a:r>
              <a:t>Cross-domain transfer works without any labeled fault examples. 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678" y="2606040"/>
            <a:ext cx="11338560" cy="1051560"/>
          </a:xfrm>
          <a:prstGeom prst="roundRect">
            <a:avLst/>
          </a:prstGeom>
          <a:solidFill>
            <a:srgbClr val="E6FFF0"/>
          </a:solidFill>
          <a:ln w="12700">
            <a:solidFill>
              <a:srgbClr val="0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400" b="0">
                <a:solidFill>
                  <a:srgbClr val="000000"/>
                </a:solidFill>
                <a:latin typeface="Calibri"/>
              </a:defRPr>
            </a:pPr>
            <a:r>
              <a:t>RQ2:  Per-fault precision = 1.0 at all thresholds. Recall: 70.7% → 93.3%.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1" i="0">
                <a:solidFill>
                  <a:srgbClr val="00783C"/>
                </a:solidFill>
                <a:latin typeface="Calibri"/>
              </a:defRPr>
            </a:pPr>
            <a:r>
              <a:t>Optimal: 40th percentile (F1 = 0.965). 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8" y="3840480"/>
            <a:ext cx="11338560" cy="1051560"/>
          </a:xfrm>
          <a:prstGeom prst="roundRect">
            <a:avLst/>
          </a:prstGeom>
          <a:solidFill>
            <a:srgbClr val="FFF0E6"/>
          </a:solidFill>
          <a:ln w="12700">
            <a:solidFill>
              <a:srgbClr val="C8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400" b="0">
                <a:solidFill>
                  <a:srgbClr val="000000"/>
                </a:solidFill>
                <a:latin typeface="Calibri"/>
              </a:defRPr>
            </a:pPr>
            <a:r>
              <a:t>RQ3:  Speed gain = 99.7% recall (easiest). Acc stuck = 89.8% (hardest).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1" i="0">
                <a:solidFill>
                  <a:srgbClr val="C86400"/>
                </a:solidFill>
                <a:latin typeface="Calibri"/>
              </a:defRPr>
            </a:pPr>
            <a:r>
              <a:t>Detectability correlates with physical severity and sensor variability. 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74920"/>
            <a:ext cx="1124712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3366"/>
                </a:solidFill>
                <a:latin typeface="Calibri"/>
              </a:defRPr>
            </a:pPr>
            <a:r>
              <a:rPr dirty="0"/>
              <a:t>Key Contributions: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rPr dirty="0"/>
              <a:t>First application of </a:t>
            </a:r>
            <a:r>
              <a:rPr dirty="0" err="1"/>
              <a:t>SimCLR</a:t>
            </a:r>
            <a:r>
              <a:rPr dirty="0"/>
              <a:t> to automotive sensor fault detection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rPr dirty="0"/>
              <a:t>Successful cross-domain transfer: real driving data → HIL simulation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rPr dirty="0"/>
              <a:t>Comprehensive multi-threshold evaluation with 6 fault scenarios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rPr dirty="0"/>
              <a:t>Complete pipeline in under </a:t>
            </a:r>
            <a:r>
              <a:rPr lang="en-US" dirty="0"/>
              <a:t>2.5</a:t>
            </a:r>
            <a:r>
              <a:rPr dirty="0"/>
              <a:t> minute</a:t>
            </a:r>
            <a:r>
              <a:rPr lang="en-US" dirty="0"/>
              <a:t>s</a:t>
            </a:r>
            <a:r>
              <a:rPr dirty="0"/>
              <a:t> on CPU (no GPU required)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Future Work</a:t>
            </a:r>
            <a:br>
              <a:rPr lang="de-DE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rPr dirty="0"/>
              <a:t>Short-term Extensions: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  <a:endParaRPr dirty="0"/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rPr dirty="0"/>
              <a:t>Add more sensor channels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rPr dirty="0"/>
              <a:t>  (RPM, steering, brake pressure)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rPr dirty="0"/>
              <a:t>Fault localization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rPr dirty="0"/>
              <a:t>  Identify which sensor is faulty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rPr dirty="0"/>
              <a:t>Adaptive thresholding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rPr dirty="0"/>
              <a:t>  Eliminate manual threshold selection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rPr dirty="0"/>
              <a:t>Test with real vehicle fault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4173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rPr dirty="0"/>
              <a:t>Long-term Research: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  <a:endParaRPr dirty="0"/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rPr dirty="0"/>
              <a:t>Compare SSL methods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rPr dirty="0"/>
              <a:t>  TS2Vec, MoCo, BYOL benchmarking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rPr dirty="0"/>
              <a:t>Explainability (XAI)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rPr dirty="0"/>
              <a:t>  Diagnostic insights for faults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rPr dirty="0"/>
              <a:t>Edge deployment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rPr dirty="0"/>
              <a:t>  Real-time in-vehicle detection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rPr dirty="0"/>
              <a:t>ISO 26262 ASIL integration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rPr dirty="0"/>
              <a:t>  Safety integrity level mapping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 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 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30521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3366"/>
                </a:solidFill>
                <a:latin typeface="Calibri"/>
              </a:defRPr>
            </a:pPr>
            <a:r>
              <a:rPr dirty="0"/>
              <a:t>Thank You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 i="0">
                <a:solidFill>
                  <a:srgbClr val="000000"/>
                </a:solidFill>
                <a:latin typeface="Calibri"/>
              </a:defRPr>
            </a:pPr>
            <a:endParaRPr dirty="0"/>
          </a:p>
          <a:p>
            <a:pPr algn="ctr">
              <a:spcBef>
                <a:spcPts val="400"/>
              </a:spcBef>
              <a:spcAft>
                <a:spcPts val="200"/>
              </a:spcAft>
              <a:defRPr sz="3200" b="0" i="0">
                <a:solidFill>
                  <a:srgbClr val="005AA0"/>
                </a:solidFill>
                <a:latin typeface="Calibri"/>
              </a:defRPr>
            </a:pPr>
            <a:r>
              <a:rPr dirty="0"/>
              <a:t>Questions?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2000" b="0" i="0">
                <a:solidFill>
                  <a:srgbClr val="000000"/>
                </a:solidFill>
                <a:latin typeface="Calibri"/>
              </a:defRPr>
            </a:pPr>
            <a:endParaRPr dirty="0"/>
          </a:p>
          <a:p>
            <a:pPr algn="ctr">
              <a:spcBef>
                <a:spcPts val="400"/>
              </a:spcBef>
              <a:spcAft>
                <a:spcPts val="200"/>
              </a:spcAft>
              <a:defRPr sz="2000" b="0" i="0">
                <a:solidFill>
                  <a:srgbClr val="000000"/>
                </a:solidFill>
                <a:latin typeface="Calibri"/>
              </a:defRPr>
            </a:pPr>
            <a:r>
              <a:rPr dirty="0"/>
              <a:t>Yahia Amir Yahia Gamal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600" b="0" i="0">
                <a:solidFill>
                  <a:srgbClr val="505050"/>
                </a:solidFill>
                <a:latin typeface="Calibri"/>
              </a:defRPr>
            </a:pPr>
            <a:r>
              <a:rPr dirty="0"/>
              <a:t>Institute of Software and Systems Engineering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600" b="0" i="0">
                <a:solidFill>
                  <a:srgbClr val="505050"/>
                </a:solidFill>
                <a:latin typeface="Calibri"/>
              </a:defRPr>
            </a:pPr>
            <a:r>
              <a:rPr dirty="0"/>
              <a:t>TU Clausthal  |  </a:t>
            </a:r>
            <a:r>
              <a:rPr lang="en-US" dirty="0"/>
              <a:t>02.</a:t>
            </a:r>
            <a:r>
              <a:rPr dirty="0"/>
              <a:t>202</a:t>
            </a:r>
            <a:r>
              <a:rPr lang="en-US" dirty="0"/>
              <a:t>6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IPSSE_Design1">
  <a:themeElements>
    <a:clrScheme name="Larissa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IPSSE_Design1">
  <a:themeElements>
    <a:clrScheme name="Larissa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2819</TotalTime>
  <Words>1866</Words>
  <Application>Microsoft Office PowerPoint</Application>
  <DocSecurity>0</DocSecurity>
  <PresentationFormat>Widescreen</PresentationFormat>
  <Paragraphs>426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Noto Sans Symbols</vt:lpstr>
      <vt:lpstr>Arial</vt:lpstr>
      <vt:lpstr>Arimo</vt:lpstr>
      <vt:lpstr>Calibri</vt:lpstr>
      <vt:lpstr>1_IPSSE_Design1</vt:lpstr>
      <vt:lpstr>Intelligent Analysis of Automotive Sensor Faults Using Self-Supervised Learning and Real-Time Simulation </vt:lpstr>
      <vt:lpstr>Outline </vt:lpstr>
      <vt:lpstr>Motivation and Problem Statement </vt:lpstr>
      <vt:lpstr>Background: Development and Learning Paradigms</vt:lpstr>
      <vt:lpstr>Research Questions </vt:lpstr>
      <vt:lpstr>Related Work: Why SimCLR? </vt:lpstr>
      <vt:lpstr> </vt:lpstr>
      <vt:lpstr>Proposed Framework: Three-Phase Architecture </vt:lpstr>
      <vt:lpstr>Datasets: A2D2 (Training) and HIL (Testing) </vt:lpstr>
      <vt:lpstr>Fault Injection Types </vt:lpstr>
      <vt:lpstr>SimCLR Architecture and 1D-CNN Encoder </vt:lpstr>
      <vt:lpstr>Data Augmentation </vt:lpstr>
      <vt:lpstr>1D-CNN Encoder Architecture</vt:lpstr>
      <vt:lpstr>Projection Head g(·) </vt:lpstr>
      <vt:lpstr>NT-Xent Loss (Contrastive): </vt:lpstr>
      <vt:lpstr>Training Summary</vt:lpstr>
      <vt:lpstr>Anomaly Detection Method </vt:lpstr>
      <vt:lpstr>Results: Multi-Threshold Detection Performance </vt:lpstr>
      <vt:lpstr>Results: Per-Fault Recall Analysis </vt:lpstr>
      <vt:lpstr>Results: Binary Classification (Healthy vs. Faulty) </vt:lpstr>
      <vt:lpstr>ROC Curves and Similarity Distributions </vt:lpstr>
      <vt:lpstr>Computing Cost Analysis </vt:lpstr>
      <vt:lpstr>Conclusion </vt:lpstr>
      <vt:lpstr>Future Work </vt:lpstr>
      <vt:lpstr> 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Institute for Software and Systems Engineering     HiL-based real-time Test Platform   Name: Muhammad Sami khan  Date:    25th January 2023 </dc:title>
  <dc:subject/>
  <dc:creator>Hooby</dc:creator>
  <cp:keywords/>
  <dc:description/>
  <cp:lastModifiedBy>Yahia Gamal</cp:lastModifiedBy>
  <cp:revision>27</cp:revision>
  <dcterms:created xsi:type="dcterms:W3CDTF">2013-05-21T09:22:36Z</dcterms:created>
  <dcterms:modified xsi:type="dcterms:W3CDTF">2026-02-23T08:40:17Z</dcterms:modified>
  <cp:category/>
  <dc:identifier/>
  <cp:contentStatus/>
  <dc:language/>
  <cp:version/>
</cp:coreProperties>
</file>