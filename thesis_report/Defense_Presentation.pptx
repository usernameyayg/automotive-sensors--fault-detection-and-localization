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12192000" cy="6858000"/>
  <p:embeddedFontLst>
    <p:embeddedFont>
      <p:font typeface="Arimo" panose="020B0604020202020204" charset="0"/>
      <p:regular r:id="rId5"/>
      <p:bold r:id="rId6"/>
      <p:italic r:id="rId7"/>
      <p:boldItalic r:id="rId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87EA89-6A60-4A7B-B168-3A6FA02AAC71}">
  <a:tblStyle styleId="{5D87EA89-6A60-4A7B-B168-3A6FA02AAC71}" styleName="Table_0">
    <a:wholeTbl>
      <a:tcTxStyle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foli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/>
        </p:nvSpPr>
        <p:spPr bwMode="auto">
          <a:xfrm>
            <a:off x="912295" y="1268413"/>
            <a:ext cx="9215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14"/>
          <p:cNvSpPr txBox="1">
            <a:spLocks noGrp="1"/>
          </p:cNvSpPr>
          <p:nvPr>
            <p:ph type="ctrTitle"/>
          </p:nvPr>
        </p:nvSpPr>
        <p:spPr bwMode="auto">
          <a:xfrm>
            <a:off x="527393" y="1412777"/>
            <a:ext cx="10369153" cy="11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rgbClr val="008C4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ubTitle" idx="1"/>
          </p:nvPr>
        </p:nvSpPr>
        <p:spPr bwMode="auto">
          <a:xfrm>
            <a:off x="527393" y="2852712"/>
            <a:ext cx="10369153" cy="237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70"/>
              <a:buFont typeface="Noto Sans Symbol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14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 und Inhalt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 bwMode="auto">
          <a:xfrm>
            <a:off x="335361" y="764705"/>
            <a:ext cx="1075319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1"/>
          </p:nvPr>
        </p:nvSpPr>
        <p:spPr bwMode="auto">
          <a:xfrm>
            <a:off x="335361" y="1268760"/>
            <a:ext cx="10753195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15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22" name="Google Shape;22;p15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 b="0" i="0" u="none" strike="noStrike" cap="none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Abschnitts- überschrift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 bwMode="auto">
          <a:xfrm>
            <a:off x="335361" y="4406914"/>
            <a:ext cx="10753195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 bwMode="auto">
          <a:xfrm>
            <a:off x="335361" y="2906713"/>
            <a:ext cx="1075319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300"/>
              <a:buNone/>
              <a:defRPr sz="20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600"/>
              <a:buFont typeface="Arimo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17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33" name="Google Shape;33;p17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Nur Titel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 bwMode="auto">
          <a:xfrm>
            <a:off x="335361" y="1125552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18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Inhalt mit Überschrift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 bwMode="auto">
          <a:xfrm>
            <a:off x="335363" y="816260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 bwMode="auto">
          <a:xfrm>
            <a:off x="4492496" y="816253"/>
            <a:ext cx="6596061" cy="549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62280" algn="l">
              <a:spcBef>
                <a:spcPts val="0"/>
              </a:spcBef>
              <a:spcAft>
                <a:spcPts val="0"/>
              </a:spcAft>
              <a:buSzPts val="3680"/>
              <a:buChar char="▪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SzPts val="2800"/>
              <a:buFont typeface="Arimo"/>
              <a:buChar char="-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Font typeface="Arimo"/>
              <a:buChar char="-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-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 bwMode="auto">
          <a:xfrm>
            <a:off x="335363" y="1978306"/>
            <a:ext cx="4011084" cy="433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900"/>
              <a:buFont typeface="Arimo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19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42" name="Google Shape;42;p19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9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9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9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ld mit Überschrift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 bwMode="auto">
          <a:xfrm>
            <a:off x="2389717" y="480061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" name="Google Shape;49;p20"/>
          <p:cNvSpPr>
            <a:spLocks noGrp="1"/>
          </p:cNvSpPr>
          <p:nvPr>
            <p:ph type="pic" idx="2"/>
          </p:nvPr>
        </p:nvSpPr>
        <p:spPr bwMode="auto">
          <a:xfrm>
            <a:off x="2389717" y="764718"/>
            <a:ext cx="7315200" cy="3962871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 bwMode="auto">
          <a:xfrm>
            <a:off x="2389717" y="536735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900"/>
              <a:buFont typeface="Arimo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20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52" name="Google Shape;52;p20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0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0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0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0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 und vertikaler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>
            <a:spLocks noGrp="1"/>
          </p:cNvSpPr>
          <p:nvPr>
            <p:ph type="title"/>
          </p:nvPr>
        </p:nvSpPr>
        <p:spPr bwMode="auto">
          <a:xfrm>
            <a:off x="335361" y="836726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263687" y="-1515549"/>
            <a:ext cx="4896544" cy="10753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21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61" name="Google Shape;61;p21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1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1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kaler Titel u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 bwMode="auto">
          <a:xfrm rot="5400000">
            <a:off x="7130484" y="2278424"/>
            <a:ext cx="5183759" cy="273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652287" y="-264190"/>
            <a:ext cx="5183759" cy="781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22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70" name="Google Shape;70;p22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2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2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2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7" name="Google Shape;7;p13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 b="0" i="0" u="none" strike="noStrike" cap="none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8" name="Google Shape;8;p13"/>
          <p:cNvSpPr txBox="1"/>
          <p:nvPr/>
        </p:nvSpPr>
        <p:spPr bwMode="auto">
          <a:xfrm>
            <a:off x="912295" y="1268413"/>
            <a:ext cx="9215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9;p13"/>
          <p:cNvSpPr txBox="1">
            <a:spLocks noGrp="1"/>
          </p:cNvSpPr>
          <p:nvPr>
            <p:ph type="title"/>
          </p:nvPr>
        </p:nvSpPr>
        <p:spPr bwMode="auto">
          <a:xfrm>
            <a:off x="335361" y="702204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body" idx="1"/>
          </p:nvPr>
        </p:nvSpPr>
        <p:spPr bwMode="auto">
          <a:xfrm>
            <a:off x="335361" y="1268417"/>
            <a:ext cx="10753195" cy="5040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0045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207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914400" marR="0" lvl="1" indent="-3429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800"/>
              <a:buFont typeface="Arimo"/>
              <a:buChar char="-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1371600" marR="0" lvl="2" indent="-3175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400"/>
              <a:buFont typeface="Arimo"/>
              <a:buChar char="-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1828800" marR="0" lvl="3" indent="-3175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400"/>
              <a:buFont typeface="Arimo"/>
              <a:buChar char="-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2286000" marR="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2743200" marR="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3200400" marR="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3657600" marR="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4114800" marR="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11" name="Google Shape;11;p13" descr="Logo_TUC_de_RGB"/>
          <p:cNvPicPr/>
          <p:nvPr/>
        </p:nvPicPr>
        <p:blipFill>
          <a:blip r:embed="rId10">
            <a:alphaModFix/>
          </a:blip>
          <a:stretch/>
        </p:blipFill>
        <p:spPr bwMode="auto">
          <a:xfrm>
            <a:off x="12" y="14"/>
            <a:ext cx="3060000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3"/>
          <p:cNvPicPr/>
          <p:nvPr/>
        </p:nvPicPr>
        <p:blipFill>
          <a:blip r:embed="rId11">
            <a:alphaModFix/>
          </a:blip>
          <a:stretch/>
        </p:blipFill>
        <p:spPr bwMode="auto">
          <a:xfrm>
            <a:off x="8040469" y="253192"/>
            <a:ext cx="3059493" cy="3333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Institute for Software and Systems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Calibri"/>
              </a:defRPr>
            </a:pPr>
            <a:r>
              <a:t>Intelligent Analysis of Automotive Sensor Faults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400" b="1" i="0">
                <a:solidFill>
                  <a:srgbClr val="005AA0"/>
                </a:solidFill>
                <a:latin typeface="Calibri"/>
              </a:defRPr>
            </a:pPr>
            <a:r>
              <a:t>Using Self-Supervised Learning and Real-Time Simulation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0" i="0">
                <a:solidFill>
                  <a:srgbClr val="505050"/>
                </a:solidFill>
                <a:latin typeface="Calibri"/>
              </a:defRPr>
            </a:pPr>
            <a:r>
              <a:t>Master Thesis Defense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 i="0">
                <a:solidFill>
                  <a:srgbClr val="000000"/>
                </a:solidFill>
                <a:latin typeface="Calibri"/>
              </a:defRPr>
            </a:pPr>
            <a:r>
              <a:t>Presented by:  Yahia Amir Yahia Gamal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First Examiner:     apl. Prof. Dr. Christoph Knieke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Second Examiner:  Dr. Stefan Wittek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Supervisor:            Dr. Mohammad Abboush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003366"/>
                </a:solidFill>
                <a:latin typeface="Calibri"/>
              </a:defRPr>
            </a:pPr>
            <a:r>
              <a:t>TU Clausthal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1.   Motivation and Problem Statement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2.   Research Questions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3.   Related Work: Why SimCLR?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4.   Proposed Framework (3 Phases)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5.   Datasets: A2D2 and HIL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6.   Fault Types and Injection Models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7.   SimCLR Architecture and 1D-CNN Encoder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8.   Anomaly Detection Method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9.   Evaluation Results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10.   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Motivation and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1E1E"/>
                </a:solidFill>
                <a:latin typeface="Calibri"/>
              </a:defRPr>
            </a:pPr>
            <a:r>
              <a:t>The Problem: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Modern vehicles contain 100+ sensors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Sensor faults compromise safety-critical systems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ISO 26262 requires rigorous validation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t>Supervised methods need labeled fault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Labeled data is expensive and inherently incomplete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 i="0">
                <a:solidFill>
                  <a:srgbClr val="00783C"/>
                </a:solidFill>
                <a:latin typeface="Calibri"/>
              </a:defRPr>
            </a:pPr>
            <a:r>
              <a:t>Our Solution: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t>Learn only from healthy driving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Self-supervised contrastive learning (SimCLR)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Detect faults as deviations from normality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Cross-domain: train on real data → test on HIL</a:t>
            </a:r>
          </a:p>
        </p:txBody>
      </p:sp>
      <p:pic>
        <p:nvPicPr>
          <p:cNvPr id="6" name="Picture 5" descr="vmode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5029200" cy="2915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13716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5AA0"/>
                </a:solidFill>
                <a:latin typeface="Calibri"/>
              </a:defRPr>
            </a:pPr>
            <a:r>
              <a:t>RQ1: Can self-supervised contrastive learning on healthy data detect sensor faults?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t>Test core feasibility: train on A2D2 real driving data, detect faults in HIL simulation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371600"/>
          </a:xfrm>
          <a:prstGeom prst="roundRect">
            <a:avLst/>
          </a:prstGeom>
          <a:solidFill>
            <a:srgbClr val="E6FFF0"/>
          </a:solidFill>
          <a:ln w="19050">
            <a:solidFill>
              <a:srgbClr val="0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83C"/>
                </a:solidFill>
                <a:latin typeface="Calibri"/>
              </a:defRPr>
            </a:pPr>
            <a:r>
              <a:t>RQ2: How does the detection threshold affect precision-recall trade-off?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t>Evaluate six threshold percentiles (15th–40th) to find optimal operating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C86400"/>
                </a:solidFill>
                <a:latin typeface="Calibri"/>
              </a:defRPr>
            </a:pPr>
            <a:r>
              <a:t>RQ3: Which fault types and sensors are most/least detectable?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t>Compare gain, noise, stuck-at faults on accelerator vs. speed sensors.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Related Work: Why SimCLR?</a:t>
            </a:r>
          </a:p>
        </p:txBody>
      </p:sp>
      <p:pic>
        <p:nvPicPr>
          <p:cNvPr id="5" name="Picture 4" descr="ss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772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Why SimCLR?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783C"/>
                </a:solidFill>
                <a:latin typeface="Calibri"/>
              </a:defRPr>
            </a:pPr>
            <a:r>
              <a:t>Simplest architecture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No momentum encoder (vs. MoCo)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No asymmetric networks (vs. BYOL)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Strong theory: NT-Xent loss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005AA0"/>
                </a:solidFill>
                <a:latin typeface="Calibri"/>
              </a:defRPr>
            </a:pPr>
            <a:r>
              <a:t>Prior Applications: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Chen et al. (2020): ImageNet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Tang et al. (2022): Bearing faults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Wang et al. (2022): Motor diagnosis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 i="0">
                <a:solidFill>
                  <a:srgbClr val="B41E1E"/>
                </a:solidFill>
                <a:latin typeface="Calibri"/>
              </a:defRPr>
            </a:pPr>
            <a:r>
              <a:t>Gap: No automotive sensor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 i="0">
                <a:solidFill>
                  <a:srgbClr val="B41E1E"/>
                </a:solidFill>
                <a:latin typeface="Calibri"/>
              </a:defRPr>
            </a:pPr>
            <a:r>
              <a:t>fault detection with SimCLR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Proposed Framework: Three-Phase Architecture</a:t>
            </a:r>
          </a:p>
        </p:txBody>
      </p:sp>
      <p:pic>
        <p:nvPicPr>
          <p:cNvPr id="5" name="Picture 4" descr="framewor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41311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Phase 1 (green): Train SimCLR encoder on healthy A2D2 data  |  Phase 2 (blue): Calibrate with 90s healthy HIL data  |  Phase 3 (orange): Detect faults in HIL test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Datasets: A2D2 (Training) and HIL (Testing)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3C"/>
                </a:solidFill>
                <a:latin typeface="Calibri"/>
              </a:defRPr>
            </a:pPr>
            <a:r>
              <a:t>A2D2 — Training Data (Phase 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 real-world driving, Munich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219,064 samples (36.5 min)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Sensors: Accelerator (%), Speed (km/h)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Speed upsampled 50 Hz → 100 Hz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Only healthy data used for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41E1E"/>
                </a:solidFill>
                <a:latin typeface="Calibri"/>
              </a:defRPr>
            </a:pPr>
            <a:r>
              <a:t>HIL — Test Data (Phases 2-3)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dSPACE HIL simulator, TU Clausthal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1 healthy + 6 fault recordings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3 fault types × 2 sensors = 6 scenarios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Calibration: 89 windows (90 sec)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Cross-domain transfer: real → simulation</a:t>
            </a:r>
          </a:p>
        </p:txBody>
      </p:sp>
      <p:pic>
        <p:nvPicPr>
          <p:cNvPr id="7" name="Picture 6" descr="dataset_fu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Fault Injection Types</a:t>
            </a:r>
          </a:p>
        </p:txBody>
      </p:sp>
      <p:pic>
        <p:nvPicPr>
          <p:cNvPr id="5" name="Picture 4" descr="fault_typ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4630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Fault Models: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B41E1E"/>
                </a:solidFill>
                <a:latin typeface="Calibri"/>
              </a:defRPr>
            </a:pPr>
            <a:r>
              <a:t>1. Gain Fault: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1">
                <a:solidFill>
                  <a:srgbClr val="000000"/>
                </a:solidFill>
                <a:latin typeface="Calibri"/>
              </a:defRPr>
            </a:pPr>
            <a:r>
              <a:t>y(t) = α · x(t)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Calibration error, amplifier drift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00783C"/>
                </a:solidFill>
                <a:latin typeface="Calibri"/>
              </a:defRPr>
            </a:pPr>
            <a:r>
              <a:t>2. Noise Fault: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1">
                <a:solidFill>
                  <a:srgbClr val="000000"/>
                </a:solidFill>
                <a:latin typeface="Calibri"/>
              </a:defRPr>
            </a:pPr>
            <a:r>
              <a:t>y(t) = x(t) + η(t),  η ~ N(0,σ²)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EMI, loose connections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7D3C98"/>
                </a:solidFill>
                <a:latin typeface="Calibri"/>
              </a:defRPr>
            </a:pPr>
            <a:r>
              <a:t>3. Stuck-at Fault: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1">
                <a:solidFill>
                  <a:srgbClr val="000000"/>
                </a:solidFill>
                <a:latin typeface="Calibri"/>
              </a:defRPr>
            </a:pPr>
            <a:r>
              <a:t>y(t) = c  (constant)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Hardware failure, frozen sensor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SimCLR Architecture and 1D-CNN Encoder</a:t>
            </a:r>
          </a:p>
        </p:txBody>
      </p:sp>
      <p:pic>
        <p:nvPicPr>
          <p:cNvPr id="5" name="Picture 4" descr="simcl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6858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716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t>NT-Xent Loss (Contrastive):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783C"/>
                </a:solidFill>
                <a:latin typeface="Calibri"/>
              </a:defRPr>
            </a:pPr>
            <a:r>
              <a:t>Maximize similarity: positive pair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B41E1E"/>
                </a:solidFill>
                <a:latin typeface="Calibri"/>
              </a:defRPr>
            </a:pPr>
            <a:r>
              <a:t>Minimize similarity: 254 negatives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005AA0"/>
                </a:solidFill>
                <a:latin typeface="Calibri"/>
              </a:defRPr>
            </a:pPr>
            <a:r>
              <a:t>Training Configuration: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Temperature τ = 0.5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Batch size = 128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Epochs = 50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Windows: 2,189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Total parameters: 240,704</a:t>
            </a:r>
          </a:p>
        </p:txBody>
      </p:sp>
      <p:pic>
        <p:nvPicPr>
          <p:cNvPr id="7" name="Picture 6" descr="encod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754880"/>
            <a:ext cx="117043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Data Preprocessing and Augmentation</a:t>
            </a:r>
          </a:p>
        </p:txBody>
      </p:sp>
      <p:pic>
        <p:nvPicPr>
          <p:cNvPr id="5" name="Picture 4" descr="part2_augment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3 Augmentation Strategies: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Gaussian Jitter (σ = 0.1)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Simulates sensor noise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Amplitude Scaling [0.8, 1.2]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Simulates calibration variance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Temporal Masking (10%)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Forces temporal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AA0"/>
                </a:solidFill>
                <a:latin typeface="Calibri"/>
              </a:defRPr>
            </a:pPr>
            <a:r>
              <a:t>Preprocessing Pipeline: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93776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μ, σ from A2D2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 mean, unit variance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Segmentation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Sliding Window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W=200, stride=100 (50% overlap)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2,189 windows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Jitter + Scale + Mask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Applied per window, per epoch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 views per window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Anomaly Detection Method</a:t>
            </a:r>
          </a:p>
        </p:txBody>
      </p:sp>
      <p:pic>
        <p:nvPicPr>
          <p:cNvPr id="5" name="Picture 4" descr="anomaly_detec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40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AA0"/>
                </a:solidFill>
                <a:latin typeface="Calibri"/>
              </a:defRPr>
            </a:pPr>
            <a:r>
              <a:t>Phase 2: Calibration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89 healthy HIL windows (90 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Pass through frozen encoder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Compute healthy centroid: μ = mean(h)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Set thresholds at 6 percentile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840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6400"/>
                </a:solidFill>
                <a:latin typeface="Calibri"/>
              </a:defRPr>
            </a:pPr>
            <a:r>
              <a:t>Phase 3: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Encode each test window → embedding 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Compute: sim(h, μ) = cosine similarity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B41E1E"/>
                </a:solidFill>
                <a:latin typeface="Calibri"/>
              </a:defRPr>
            </a:pPr>
            <a:r>
              <a:t>If sim &lt; τ : FAULTY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783C"/>
                </a:solidFill>
                <a:latin typeface="Calibri"/>
              </a:defRPr>
            </a:pPr>
            <a:r>
              <a:t>If sim ≥ τ : HEALTHY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Results: Multi-Threshold Detection Performance</a:t>
            </a:r>
          </a:p>
        </p:txBody>
      </p:sp>
      <p:pic>
        <p:nvPicPr>
          <p:cNvPr id="5" name="Picture 4" descr="part3_metrics_vs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3657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Percentile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 τ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0.780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20th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0.826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0.904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0.933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30th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0.913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0.957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40th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0.971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0.929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0.963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8463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t>Key Findings: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783C"/>
                </a:solidFill>
                <a:latin typeface="Calibri"/>
              </a:defRPr>
            </a:pPr>
            <a:r>
              <a:t>Precision = 1.0 at ALL thresholds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t>Best F1 = 0.963 at 40th percentile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ROC-AUC = 0.852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Results: Per-Fault Recall Analysis</a:t>
            </a:r>
          </a:p>
        </p:txBody>
      </p:sp>
      <p:pic>
        <p:nvPicPr>
          <p:cNvPr id="5" name="Picture 4" descr="part3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3657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Fault Type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Detected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285/314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0.952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 Noise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291/321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90.7%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t>Acc Stuck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279/315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t>88.6%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t>0.939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Speed Gain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321/321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Speed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301/315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 anchor="ctr"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Speed Stuck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298/325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0.957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45720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t>Observations (40th pctl):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783C"/>
                </a:solidFill>
                <a:latin typeface="Calibri"/>
              </a:defRPr>
            </a:pPr>
            <a:r>
              <a:t>Speed gain: 100.0% recall (best)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B41E1E"/>
                </a:solidFill>
                <a:latin typeface="Calibri"/>
              </a:defRPr>
            </a:pPr>
            <a:r>
              <a:t>Acc stuck: 88.6% recall (hardest)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Speed signals have lower natural variability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Detectability reflects physical fault severity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Results: Binary Classification (Healthy vs. Faulty)</a:t>
            </a:r>
          </a:p>
        </p:txBody>
      </p:sp>
      <p:pic>
        <p:nvPicPr>
          <p:cNvPr id="5" name="Picture 4" descr="part3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25880"/>
            <a:ext cx="6858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716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t>Binary Results (40th Percentile):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t>Accuracy:    91.4%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Precision:    98.0%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Recall:        92.9%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t>F1-Score:    0.954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347472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Healthy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Faulty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True Healthy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TN = 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t>FP = 36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True Faulty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20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t>FN = 136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TP = 1,775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0292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AA0"/>
                </a:solidFill>
                <a:latin typeface="Calibri"/>
              </a:defRPr>
            </a:pPr>
            <a:r>
              <a:t>ROC-AUC = 0.852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505050"/>
                </a:solidFill>
                <a:latin typeface="Calibri"/>
              </a:defRPr>
            </a:pPr>
            <a:r>
              <a:t>Significantly above random baseline (0.5)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ROC Curves and Similarity Distributions</a:t>
            </a:r>
          </a:p>
        </p:txBody>
      </p:sp>
      <p:pic>
        <p:nvPicPr>
          <p:cNvPr id="5" name="Picture 4" descr="part3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760720" cy="4846320"/>
          </a:xfrm>
          <a:prstGeom prst="rect">
            <a:avLst/>
          </a:prstGeom>
        </p:spPr>
      </p:pic>
      <p:pic>
        <p:nvPicPr>
          <p:cNvPr id="6" name="Picture 5" descr="part3_similarity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7607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52120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  <a:latin typeface="Calibri"/>
              </a:defRPr>
            </a:pPr>
            <a:r>
              <a:t>Clear separation between healthy and faulty distributions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505050"/>
                </a:solidFill>
                <a:latin typeface="Calibri"/>
              </a:defRPr>
            </a:pPr>
            <a:r>
              <a:t>Higher threshold percentile → more recall, slightly more FP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Computing Cost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A2D2 data 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20.2%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 2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SimCLR training (50 epochs)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26.56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Augmentation + 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19.5%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 3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Embedding extraction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1.9%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Evaluation +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0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8.7%</a:t>
                      </a:r>
                    </a:p>
                  </a:txBody>
                  <a:tcPr anchor="ctr"/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End-to-end pipeline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53.49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Key Takeaways: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600" b="1">
                <a:solidFill>
                  <a:srgbClr val="000000"/>
                </a:solidFill>
                <a:latin typeface="Calibri"/>
              </a:defRPr>
            </a:pPr>
            <a:r>
              <a:t>Training: 26.6 s (one-time cost)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600" b="1">
                <a:solidFill>
                  <a:srgbClr val="000000"/>
                </a:solidFill>
                <a:latin typeface="Calibri"/>
              </a:defRPr>
            </a:pPr>
            <a:r>
              <a:t>Inference: ~0.5 ms per window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Total pipeline: under 1 minute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Suitable for real-time deployment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 i="0">
                <a:solidFill>
                  <a:srgbClr val="B41E1E"/>
                </a:solidFill>
                <a:latin typeface="Calibri"/>
              </a:defRPr>
            </a:pPr>
            <a:r>
              <a:t>vs. Supervised approach: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 i="0">
                <a:solidFill>
                  <a:srgbClr val="505050"/>
                </a:solidFill>
                <a:latin typeface="Calibri"/>
              </a:defRPr>
            </a:pPr>
            <a:r>
              <a:t>  Ghannoum CNN-GRU: 23,000 s (6.4 h)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 i="0">
                <a:solidFill>
                  <a:srgbClr val="00783C"/>
                </a:solidFill>
                <a:latin typeface="Calibri"/>
              </a:defRPr>
            </a:pPr>
            <a:r>
              <a:t>  Our approach: ~860x faster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 i="0">
                <a:solidFill>
                  <a:srgbClr val="00783C"/>
                </a:solidFill>
                <a:latin typeface="Calibri"/>
              </a:defRPr>
            </a:pPr>
            <a:r>
              <a:t>  + No labeled data required!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338560" cy="105156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RQ1:  Self-supervised representations from healthy A2D2 data successfully detect sensor faults in HIL data.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00783C"/>
                </a:solidFill>
                <a:latin typeface="Calibri"/>
              </a:defRPr>
            </a:pPr>
            <a:r>
              <a:t>Cross-domain transfer works without any labeled fault examples.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06040"/>
            <a:ext cx="11338560" cy="1051560"/>
          </a:xfrm>
          <a:prstGeom prst="roundRect">
            <a:avLst/>
          </a:prstGeom>
          <a:solidFill>
            <a:srgbClr val="E6FFF0"/>
          </a:solidFill>
          <a:ln w="12700">
            <a:solidFill>
              <a:srgbClr val="0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RQ2:  Per-fault precision = 1.0 at all thresholds. Recall: 64.6% → 92.9%.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00783C"/>
                </a:solidFill>
                <a:latin typeface="Calibri"/>
              </a:defRPr>
            </a:pPr>
            <a:r>
              <a:t>Optimal: 40th percentile (F1 = 0.963).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80"/>
            <a:ext cx="11338560" cy="105156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RQ3:  Speed gain = 100.0% recall (easiest). Acc stuck = 88.6% (hardest).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C86400"/>
                </a:solidFill>
                <a:latin typeface="Calibri"/>
              </a:defRPr>
            </a:pPr>
            <a:r>
              <a:t>Detectability correlates with physical severity and sensor variability.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t>Key Contributions: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First application of SimCLR to automotive sensor fault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Successful cross-domain transfer: real driving data → HIL simulation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Comprehensive multi-threshold evaluation with 6 fault scenarios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Complete pipeline in under 1 minute on CPU (no GPU required)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Short-term Extensions: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more sensor channels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(RPM, steering, brake pressure)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Fault localization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Identify which sensor is faulty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Adaptive thresholding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Eliminate manual threshold selection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Test with real vehicle fault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Long-term Research: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Compare SSL methods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TS2Vec, MoCo, BYOL benchmarking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Explainability (XAI)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Diagnostic insights for faults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Edge deployment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Real-time in-vehicle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ISO 26262 ASIL integration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t>  Safety integrity level mapping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Calibri"/>
              </a:defRPr>
            </a:pPr>
            <a:r>
              <a:t>Thank You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3200" b="0" i="0">
                <a:solidFill>
                  <a:srgbClr val="005AA0"/>
                </a:solidFill>
                <a:latin typeface="Calibri"/>
              </a:defRPr>
            </a:pPr>
            <a:r>
              <a:t>Questions?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 i="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 i="0">
                <a:solidFill>
                  <a:srgbClr val="000000"/>
                </a:solidFill>
                <a:latin typeface="Calibri"/>
              </a:defRPr>
            </a:pPr>
            <a:r>
              <a:t>Yahia Amir Yahia Gamal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0" i="0">
                <a:solidFill>
                  <a:srgbClr val="505050"/>
                </a:solidFill>
                <a:latin typeface="Calibri"/>
              </a:defRPr>
            </a:pPr>
            <a:r>
              <a:t>Institute of Software and Systems Engineering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0" i="0">
                <a:solidFill>
                  <a:srgbClr val="505050"/>
                </a:solidFill>
                <a:latin typeface="Calibri"/>
              </a:defRPr>
            </a:pPr>
            <a:r>
              <a:t>TU Clausthal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PSSE_Design1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IPSSE_Design1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</TotalTime>
  <Words>25</Words>
  <Application>Microsoft Office PowerPoint</Application>
  <DocSecurity>0</DocSecurity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Arimo</vt:lpstr>
      <vt:lpstr>Noto Sans Symbols</vt:lpstr>
      <vt:lpstr>Times New Roman</vt:lpstr>
      <vt:lpstr>Arial</vt:lpstr>
      <vt:lpstr>1_IPSSE_Design1</vt:lpstr>
      <vt:lpstr>Institute for Software and Systems Engineering    Title   Presented by:  </vt:lpstr>
      <vt:lpstr> Table of Content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for Software and Systems Engineering     HiL-based real-time Test Platform   Name: Muhammad Sami khan  Date:    25th January 2023 </dc:title>
  <dc:subject/>
  <dc:creator>Hooby</dc:creator>
  <cp:keywords/>
  <dc:description/>
  <cp:lastModifiedBy>Yahia Gamal</cp:lastModifiedBy>
  <cp:revision>18</cp:revision>
  <dcterms:created xsi:type="dcterms:W3CDTF">2013-05-21T09:22:36Z</dcterms:created>
  <dcterms:modified xsi:type="dcterms:W3CDTF">2026-02-14T07:17:55Z</dcterms:modified>
  <cp:category/>
  <dc:identifier/>
  <cp:contentStatus/>
  <dc:language/>
  <cp:version/>
</cp:coreProperties>
</file>