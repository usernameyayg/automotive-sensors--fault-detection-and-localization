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</p:sldIdLst>
  <p:sldSz cx="12192000" cy="6858000"/>
  <p:notesSz cx="12192000" cy="6858000"/>
  <p:embeddedFontLst>
    <p:embeddedFont>
      <p:font typeface="Arimo" panose="020B0604020202020204" charset="0"/>
      <p:regular r:id="rId5"/>
      <p:bold r:id="rId6"/>
      <p:italic r:id="rId7"/>
      <p:boldItalic r:id="rId8"/>
    </p:embeddedFont>
  </p:embeddedFontLst>
  <p:defaultTextStyle>
    <a:defPPr marR="0" lvl="0" algn="l">
      <a:lnSpc>
        <a:spcPct val="100000"/>
      </a:lnSpc>
      <a:spcBef>
        <a:spcPts val="0"/>
      </a:spcBef>
      <a:spcAft>
        <a:spcPts val="0"/>
      </a:spcAft>
    </a:defPPr>
    <a:lvl1pPr marR="0" lv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D87EA89-6A60-4A7B-B168-3A6FA02AAC71}">
  <a:tblStyle styleId="{5D87EA89-6A60-4A7B-B168-3A6FA02AAC71}" styleName="Table_0">
    <a:wholeTbl>
      <a:tcTxStyle>
        <a:schemeClr val="dk1"/>
      </a:tcTxStyle>
      <a:tcStyle>
        <a:tcBdr>
          <a:left>
            <a:ln w="12700">
              <a:solidFill>
                <a:schemeClr val="dk1"/>
              </a:solidFill>
            </a:ln>
          </a:left>
          <a:right>
            <a:ln w="12700">
              <a:solidFill>
                <a:schemeClr val="dk1"/>
              </a:solidFill>
            </a:ln>
          </a:right>
          <a:top>
            <a:ln w="12700">
              <a:solidFill>
                <a:schemeClr val="dk1"/>
              </a:solidFill>
            </a:ln>
          </a:top>
          <a:bottom>
            <a:ln w="12700">
              <a:solidFill>
                <a:schemeClr val="dk1"/>
              </a:solidFill>
            </a:ln>
          </a:bottom>
          <a:insideH>
            <a:ln w="12700">
              <a:solidFill>
                <a:schemeClr val="dk1"/>
              </a:solidFill>
            </a:ln>
          </a:insideH>
          <a:insideV>
            <a:ln w="12700">
              <a:solidFill>
                <a:schemeClr val="dk1"/>
              </a:solidFill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font" Target="fonts/font1.fntdata"/><Relationship Id="rId6" Type="http://schemas.openxmlformats.org/officeDocument/2006/relationships/font" Target="fonts/font2.fntdata"/><Relationship Id="rId7" Type="http://schemas.openxmlformats.org/officeDocument/2006/relationships/font" Target="fonts/font3.fntdata"/><Relationship Id="rId8" Type="http://schemas.openxmlformats.org/officeDocument/2006/relationships/font" Target="fonts/font4.fntdata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4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elfolie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" name="Google Shape;14;p14"/>
          <p:cNvSpPr txBox="1"/>
          <p:nvPr/>
        </p:nvSpPr>
        <p:spPr bwMode="auto">
          <a:xfrm>
            <a:off x="912295" y="1268413"/>
            <a:ext cx="921596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Google Shape;15;p14"/>
          <p:cNvSpPr txBox="1">
            <a:spLocks noGrp="1"/>
          </p:cNvSpPr>
          <p:nvPr>
            <p:ph type="ctrTitle"/>
          </p:nvPr>
        </p:nvSpPr>
        <p:spPr bwMode="auto">
          <a:xfrm>
            <a:off x="527393" y="1412777"/>
            <a:ext cx="10369153" cy="1155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>
                <a:solidFill>
                  <a:srgbClr val="008C4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6" name="Google Shape;16;p14"/>
          <p:cNvSpPr txBox="1">
            <a:spLocks noGrp="1"/>
          </p:cNvSpPr>
          <p:nvPr>
            <p:ph type="subTitle" idx="1"/>
          </p:nvPr>
        </p:nvSpPr>
        <p:spPr bwMode="auto">
          <a:xfrm>
            <a:off x="527393" y="2852712"/>
            <a:ext cx="10369153" cy="2376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070"/>
              <a:buFont typeface="Noto Sans Symbols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7" name="Google Shape;17;p14"/>
          <p:cNvSpPr/>
          <p:nvPr/>
        </p:nvSpPr>
        <p:spPr bwMode="auto">
          <a:xfrm>
            <a:off x="11444823" y="0"/>
            <a:ext cx="749300" cy="6858000"/>
          </a:xfrm>
          <a:prstGeom prst="rect">
            <a:avLst/>
          </a:prstGeom>
          <a:solidFill>
            <a:srgbClr val="000000">
              <a:alpha val="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rgbClr val="000000"/>
              </a:solidFill>
              <a:latin typeface="Arimo"/>
              <a:ea typeface="Arimo"/>
              <a:cs typeface="Arimo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el und Inhalt" type="obj" userDrawn="1">
  <p:cSld name="OBJEC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" name="Google Shape;19;p15"/>
          <p:cNvSpPr txBox="1">
            <a:spLocks noGrp="1"/>
          </p:cNvSpPr>
          <p:nvPr>
            <p:ph type="title"/>
          </p:nvPr>
        </p:nvSpPr>
        <p:spPr bwMode="auto">
          <a:xfrm>
            <a:off x="335361" y="764705"/>
            <a:ext cx="10753195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body" idx="1"/>
          </p:nvPr>
        </p:nvSpPr>
        <p:spPr bwMode="auto">
          <a:xfrm>
            <a:off x="335361" y="1268760"/>
            <a:ext cx="10753195" cy="504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60045" algn="l">
              <a:spcBef>
                <a:spcPts val="0"/>
              </a:spcBef>
              <a:spcAft>
                <a:spcPts val="0"/>
              </a:spcAft>
              <a:buSzPts val="2070"/>
              <a:buChar char="▪"/>
              <a:defRPr/>
            </a:lvl1pPr>
            <a:lvl2pPr marL="914400" lvl="1" indent="-342900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2pPr>
            <a:lvl3pPr marL="1371600" lvl="2" indent="-342900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3pPr>
            <a:lvl4pPr marL="1828800" lvl="3" indent="-342900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4pPr>
            <a:lvl5pPr marL="2286000" lvl="4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1" name="Google Shape;21;p15"/>
          <p:cNvSpPr/>
          <p:nvPr/>
        </p:nvSpPr>
        <p:spPr bwMode="auto">
          <a:xfrm>
            <a:off x="11444823" y="0"/>
            <a:ext cx="749300" cy="6858000"/>
          </a:xfrm>
          <a:prstGeom prst="rect">
            <a:avLst/>
          </a:prstGeom>
          <a:solidFill>
            <a:srgbClr val="CECEC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rgbClr val="000000"/>
              </a:solidFill>
              <a:latin typeface="Arimo"/>
              <a:ea typeface="Arimo"/>
              <a:cs typeface="Arimo"/>
            </a:endParaRPr>
          </a:p>
        </p:txBody>
      </p:sp>
      <p:sp>
        <p:nvSpPr>
          <p:cNvPr id="22" name="Google Shape;22;p15"/>
          <p:cNvSpPr txBox="1"/>
          <p:nvPr/>
        </p:nvSpPr>
        <p:spPr bwMode="auto">
          <a:xfrm>
            <a:off x="11438478" y="6453344"/>
            <a:ext cx="76623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 sz="1800" b="0" i="0" u="none" strike="noStrike" cap="none">
                <a:solidFill>
                  <a:srgbClr val="808080"/>
                </a:solidFill>
                <a:latin typeface="Arimo"/>
                <a:ea typeface="Arimo"/>
                <a:cs typeface="Arimo"/>
              </a:rPr>
              <a:t>‹#›</a:t>
            </a:fld>
            <a:endParaRPr sz="1800" b="0" i="0" u="none" strike="noStrike" cap="none">
              <a:solidFill>
                <a:srgbClr val="808080"/>
              </a:solidFill>
              <a:latin typeface="Arimo"/>
              <a:ea typeface="Arimo"/>
              <a:cs typeface="Arimo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Abschnitts- überschrift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" name="Google Shape;30;p17"/>
          <p:cNvSpPr txBox="1">
            <a:spLocks noGrp="1"/>
          </p:cNvSpPr>
          <p:nvPr>
            <p:ph type="title"/>
          </p:nvPr>
        </p:nvSpPr>
        <p:spPr bwMode="auto">
          <a:xfrm>
            <a:off x="335361" y="4406914"/>
            <a:ext cx="10753195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000" b="1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body" idx="1"/>
          </p:nvPr>
        </p:nvSpPr>
        <p:spPr bwMode="auto">
          <a:xfrm>
            <a:off x="335361" y="2906713"/>
            <a:ext cx="10753195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2300"/>
              <a:buNone/>
              <a:defRPr sz="2000"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800"/>
              <a:buFont typeface="Arimo"/>
              <a:buNone/>
              <a:defRPr sz="1800"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600"/>
              <a:buFont typeface="Arimo"/>
              <a:buNone/>
              <a:defRPr sz="1600"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 sz="1400"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 sz="1400"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 sz="1400"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 sz="1400"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 sz="1400"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32" name="Google Shape;32;p17"/>
          <p:cNvSpPr/>
          <p:nvPr/>
        </p:nvSpPr>
        <p:spPr bwMode="auto">
          <a:xfrm>
            <a:off x="11444823" y="0"/>
            <a:ext cx="749300" cy="6858000"/>
          </a:xfrm>
          <a:prstGeom prst="rect">
            <a:avLst/>
          </a:prstGeom>
          <a:solidFill>
            <a:srgbClr val="000000">
              <a:alpha val="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>
              <a:solidFill>
                <a:srgbClr val="000000"/>
              </a:solidFill>
              <a:latin typeface="Arimo"/>
              <a:ea typeface="Arimo"/>
              <a:cs typeface="Arimo"/>
            </a:endParaRPr>
          </a:p>
        </p:txBody>
      </p:sp>
      <p:sp>
        <p:nvSpPr>
          <p:cNvPr id="33" name="Google Shape;33;p17"/>
          <p:cNvSpPr txBox="1"/>
          <p:nvPr/>
        </p:nvSpPr>
        <p:spPr bwMode="auto">
          <a:xfrm>
            <a:off x="11438478" y="6453344"/>
            <a:ext cx="76623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 sz="1800">
                <a:solidFill>
                  <a:srgbClr val="808080"/>
                </a:solidFill>
                <a:latin typeface="Arimo"/>
                <a:ea typeface="Arimo"/>
                <a:cs typeface="Arimo"/>
              </a:rPr>
              <a:t>‹#›</a:t>
            </a:fld>
            <a:endParaRPr sz="1800">
              <a:solidFill>
                <a:srgbClr val="808080"/>
              </a:solidFill>
              <a:latin typeface="Arimo"/>
              <a:ea typeface="Arimo"/>
              <a:cs typeface="Arimo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Nur Titel" type="titleOnly" userDrawn="1">
  <p:cSld name="TITLE_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>
            <a:spLocks noGrp="1"/>
          </p:cNvSpPr>
          <p:nvPr>
            <p:ph type="title"/>
          </p:nvPr>
        </p:nvSpPr>
        <p:spPr bwMode="auto">
          <a:xfrm>
            <a:off x="335361" y="1125552"/>
            <a:ext cx="10753195" cy="574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6" name="Google Shape;36;p18"/>
          <p:cNvSpPr/>
          <p:nvPr/>
        </p:nvSpPr>
        <p:spPr bwMode="auto">
          <a:xfrm>
            <a:off x="11444823" y="0"/>
            <a:ext cx="749300" cy="6858000"/>
          </a:xfrm>
          <a:prstGeom prst="rect">
            <a:avLst/>
          </a:prstGeom>
          <a:solidFill>
            <a:srgbClr val="000000">
              <a:alpha val="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>
              <a:solidFill>
                <a:srgbClr val="000000"/>
              </a:solidFill>
              <a:latin typeface="Arimo"/>
              <a:ea typeface="Arimo"/>
              <a:cs typeface="Arimo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Inhalt mit Überschrift" type="objTx" userDrawn="1">
  <p:cSld name="OBJECT_WITH_CAPTION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" name="Google Shape;38;p19"/>
          <p:cNvSpPr txBox="1">
            <a:spLocks noGrp="1"/>
          </p:cNvSpPr>
          <p:nvPr>
            <p:ph type="title"/>
          </p:nvPr>
        </p:nvSpPr>
        <p:spPr bwMode="auto">
          <a:xfrm>
            <a:off x="335363" y="816260"/>
            <a:ext cx="4011084" cy="1162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9" name="Google Shape;39;p19"/>
          <p:cNvSpPr txBox="1">
            <a:spLocks noGrp="1"/>
          </p:cNvSpPr>
          <p:nvPr>
            <p:ph type="body" idx="1"/>
          </p:nvPr>
        </p:nvSpPr>
        <p:spPr bwMode="auto">
          <a:xfrm>
            <a:off x="4492496" y="816253"/>
            <a:ext cx="6596061" cy="5493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62280" algn="l">
              <a:spcBef>
                <a:spcPts val="0"/>
              </a:spcBef>
              <a:spcAft>
                <a:spcPts val="0"/>
              </a:spcAft>
              <a:buSzPts val="3680"/>
              <a:buChar char="▪"/>
              <a:defRPr sz="3200"/>
            </a:lvl1pPr>
            <a:lvl2pPr marL="914400" lvl="1" indent="-406400" algn="l">
              <a:spcBef>
                <a:spcPts val="0"/>
              </a:spcBef>
              <a:spcAft>
                <a:spcPts val="0"/>
              </a:spcAft>
              <a:buSzPts val="2800"/>
              <a:buFont typeface="Arimo"/>
              <a:buChar char="-"/>
              <a:defRPr sz="2800"/>
            </a:lvl2pPr>
            <a:lvl3pPr marL="1371600" lvl="2" indent="-381000" algn="l">
              <a:spcBef>
                <a:spcPts val="0"/>
              </a:spcBef>
              <a:spcAft>
                <a:spcPts val="0"/>
              </a:spcAft>
              <a:buSzPts val="2400"/>
              <a:buFont typeface="Arimo"/>
              <a:buChar char="-"/>
              <a:defRPr sz="2400"/>
            </a:lvl3pPr>
            <a:lvl4pPr marL="1828800" lvl="3" indent="-355600" algn="l">
              <a:spcBef>
                <a:spcPts val="0"/>
              </a:spcBef>
              <a:spcAft>
                <a:spcPts val="0"/>
              </a:spcAft>
              <a:buSzPts val="2000"/>
              <a:buFont typeface="Arimo"/>
              <a:buChar char="-"/>
              <a:defRPr sz="2000"/>
            </a:lvl4pPr>
            <a:lvl5pPr marL="2286000" lvl="4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/>
            </a:lvl5pPr>
            <a:lvl6pPr marL="2743200" lvl="5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/>
            </a:lvl6pPr>
            <a:lvl7pPr marL="3200400" lvl="6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/>
            </a:lvl7pPr>
            <a:lvl8pPr marL="3657600" lvl="7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/>
            </a:lvl8pPr>
            <a:lvl9pPr marL="4114800" lvl="8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2"/>
          </p:nvPr>
        </p:nvSpPr>
        <p:spPr bwMode="auto">
          <a:xfrm>
            <a:off x="335363" y="1978306"/>
            <a:ext cx="4011084" cy="43310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610"/>
              <a:buNone/>
              <a:defRPr sz="1400"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200"/>
              <a:buFont typeface="Arimo"/>
              <a:buNone/>
              <a:defRPr sz="1200"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900"/>
              <a:buFont typeface="Arimo"/>
              <a:buNone/>
              <a:defRPr sz="900"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9pPr>
          </a:lstStyle>
          <a:p>
            <a:pPr>
              <a:defRPr/>
            </a:pPr>
            <a:endParaRPr/>
          </a:p>
        </p:txBody>
      </p:sp>
      <p:sp>
        <p:nvSpPr>
          <p:cNvPr id="41" name="Google Shape;41;p19"/>
          <p:cNvSpPr/>
          <p:nvPr/>
        </p:nvSpPr>
        <p:spPr bwMode="auto">
          <a:xfrm>
            <a:off x="11444823" y="0"/>
            <a:ext cx="749300" cy="6858000"/>
          </a:xfrm>
          <a:prstGeom prst="rect">
            <a:avLst/>
          </a:prstGeom>
          <a:solidFill>
            <a:srgbClr val="000000">
              <a:alpha val="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>
              <a:solidFill>
                <a:srgbClr val="000000"/>
              </a:solidFill>
              <a:latin typeface="Arimo"/>
              <a:ea typeface="Arimo"/>
              <a:cs typeface="Arimo"/>
            </a:endParaRPr>
          </a:p>
        </p:txBody>
      </p:sp>
      <p:pic>
        <p:nvPicPr>
          <p:cNvPr id="42" name="Google Shape;42;p19" descr="Logo_TUC_de_RGB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12" y="14"/>
            <a:ext cx="4078817" cy="569913"/>
          </a:xfrm>
          <a:prstGeom prst="rect">
            <a:avLst/>
          </a:prstGeom>
          <a:noFill/>
          <a:ln>
            <a:noFill/>
          </a:ln>
        </p:spPr>
      </p:pic>
      <p:pic>
        <p:nvPicPr>
          <p:cNvPr id="43" name="Google Shape;43;p19" descr="Logo_TUC_de_RGB"/>
          <p:cNvPicPr/>
          <p:nvPr/>
        </p:nvPicPr>
        <p:blipFill>
          <a:blip r:embed="rId3">
            <a:alphaModFix/>
          </a:blip>
          <a:stretch/>
        </p:blipFill>
        <p:spPr bwMode="auto">
          <a:xfrm>
            <a:off x="335360" y="6436782"/>
            <a:ext cx="2003517" cy="279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Google Shape;44;p19"/>
          <p:cNvPicPr/>
          <p:nvPr/>
        </p:nvPicPr>
        <p:blipFill>
          <a:blip r:embed="rId4">
            <a:alphaModFix/>
          </a:blip>
          <a:stretch/>
        </p:blipFill>
        <p:spPr bwMode="auto">
          <a:xfrm>
            <a:off x="4463819" y="6513129"/>
            <a:ext cx="2685480" cy="219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45" name="Google Shape;45;p19"/>
          <p:cNvPicPr/>
          <p:nvPr/>
        </p:nvPicPr>
        <p:blipFill>
          <a:blip r:embed="rId5">
            <a:alphaModFix/>
          </a:blip>
          <a:stretch/>
        </p:blipFill>
        <p:spPr bwMode="auto">
          <a:xfrm>
            <a:off x="8835511" y="6457363"/>
            <a:ext cx="2253055" cy="316816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19"/>
          <p:cNvPicPr/>
          <p:nvPr/>
        </p:nvPicPr>
        <p:blipFill>
          <a:blip r:embed="rId6">
            <a:alphaModFix/>
          </a:blip>
          <a:stretch/>
        </p:blipFill>
        <p:spPr bwMode="auto">
          <a:xfrm>
            <a:off x="7009749" y="253192"/>
            <a:ext cx="4078817" cy="33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ild mit Überschrift" type="picTx" userDrawn="1">
  <p:cSld name="PICTURE_WITH_CAPTION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 bwMode="auto">
          <a:xfrm>
            <a:off x="2389717" y="4800613"/>
            <a:ext cx="7315200" cy="566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9" name="Google Shape;49;p20"/>
          <p:cNvSpPr>
            <a:spLocks noGrp="1"/>
          </p:cNvSpPr>
          <p:nvPr>
            <p:ph type="pic" idx="2"/>
          </p:nvPr>
        </p:nvSpPr>
        <p:spPr bwMode="auto">
          <a:xfrm>
            <a:off x="2389717" y="764718"/>
            <a:ext cx="7315200" cy="3962871"/>
          </a:xfrm>
          <a:prstGeom prst="rect">
            <a:avLst/>
          </a:prstGeom>
          <a:noFill/>
          <a:ln>
            <a:noFill/>
          </a:ln>
        </p:spPr>
      </p:sp>
      <p:sp>
        <p:nvSpPr>
          <p:cNvPr id="50" name="Google Shape;50;p20"/>
          <p:cNvSpPr txBox="1">
            <a:spLocks noGrp="1"/>
          </p:cNvSpPr>
          <p:nvPr>
            <p:ph type="body" idx="1"/>
          </p:nvPr>
        </p:nvSpPr>
        <p:spPr bwMode="auto">
          <a:xfrm>
            <a:off x="2389717" y="5367351"/>
            <a:ext cx="7315200" cy="8048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610"/>
              <a:buNone/>
              <a:defRPr sz="1400"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200"/>
              <a:buFont typeface="Arimo"/>
              <a:buNone/>
              <a:defRPr sz="1200"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900"/>
              <a:buFont typeface="Arimo"/>
              <a:buNone/>
              <a:defRPr sz="900"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9pPr>
          </a:lstStyle>
          <a:p>
            <a:pPr>
              <a:defRPr/>
            </a:pPr>
            <a:endParaRPr/>
          </a:p>
        </p:txBody>
      </p:sp>
      <p:sp>
        <p:nvSpPr>
          <p:cNvPr id="51" name="Google Shape;51;p20"/>
          <p:cNvSpPr/>
          <p:nvPr/>
        </p:nvSpPr>
        <p:spPr bwMode="auto">
          <a:xfrm>
            <a:off x="11444823" y="0"/>
            <a:ext cx="749300" cy="6858000"/>
          </a:xfrm>
          <a:prstGeom prst="rect">
            <a:avLst/>
          </a:prstGeom>
          <a:solidFill>
            <a:srgbClr val="000000">
              <a:alpha val="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>
              <a:solidFill>
                <a:srgbClr val="000000"/>
              </a:solidFill>
              <a:latin typeface="Arimo"/>
              <a:ea typeface="Arimo"/>
              <a:cs typeface="Arimo"/>
            </a:endParaRPr>
          </a:p>
        </p:txBody>
      </p:sp>
      <p:pic>
        <p:nvPicPr>
          <p:cNvPr id="52" name="Google Shape;52;p20" descr="Logo_TUC_de_RGB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12" y="14"/>
            <a:ext cx="4078817" cy="569913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20" descr="Logo_TUC_de_RGB"/>
          <p:cNvPicPr/>
          <p:nvPr/>
        </p:nvPicPr>
        <p:blipFill>
          <a:blip r:embed="rId3">
            <a:alphaModFix/>
          </a:blip>
          <a:stretch/>
        </p:blipFill>
        <p:spPr bwMode="auto">
          <a:xfrm>
            <a:off x="335360" y="6436782"/>
            <a:ext cx="2003517" cy="279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20"/>
          <p:cNvPicPr/>
          <p:nvPr/>
        </p:nvPicPr>
        <p:blipFill>
          <a:blip r:embed="rId4">
            <a:alphaModFix/>
          </a:blip>
          <a:stretch/>
        </p:blipFill>
        <p:spPr bwMode="auto">
          <a:xfrm>
            <a:off x="4463819" y="6513129"/>
            <a:ext cx="2685480" cy="219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20"/>
          <p:cNvPicPr/>
          <p:nvPr/>
        </p:nvPicPr>
        <p:blipFill>
          <a:blip r:embed="rId5">
            <a:alphaModFix/>
          </a:blip>
          <a:stretch/>
        </p:blipFill>
        <p:spPr bwMode="auto">
          <a:xfrm>
            <a:off x="8835511" y="6457363"/>
            <a:ext cx="2253055" cy="31681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20"/>
          <p:cNvPicPr/>
          <p:nvPr/>
        </p:nvPicPr>
        <p:blipFill>
          <a:blip r:embed="rId6">
            <a:alphaModFix/>
          </a:blip>
          <a:stretch/>
        </p:blipFill>
        <p:spPr bwMode="auto">
          <a:xfrm>
            <a:off x="7009749" y="253192"/>
            <a:ext cx="4078817" cy="33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el und vertikaler Text" type="vertTx" userDrawn="1">
  <p:cSld name="VERTICAL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" name="Google Shape;58;p21"/>
          <p:cNvSpPr txBox="1">
            <a:spLocks noGrp="1"/>
          </p:cNvSpPr>
          <p:nvPr>
            <p:ph type="title"/>
          </p:nvPr>
        </p:nvSpPr>
        <p:spPr bwMode="auto">
          <a:xfrm>
            <a:off x="335361" y="836726"/>
            <a:ext cx="10753195" cy="574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9" name="Google Shape;59;p21"/>
          <p:cNvSpPr txBox="1">
            <a:spLocks noGrp="1"/>
          </p:cNvSpPr>
          <p:nvPr>
            <p:ph type="body" idx="1"/>
          </p:nvPr>
        </p:nvSpPr>
        <p:spPr bwMode="auto">
          <a:xfrm rot="5400000">
            <a:off x="3263687" y="-1515549"/>
            <a:ext cx="4896544" cy="10753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60045" algn="l">
              <a:spcBef>
                <a:spcPts val="0"/>
              </a:spcBef>
              <a:spcAft>
                <a:spcPts val="0"/>
              </a:spcAft>
              <a:buSzPts val="2070"/>
              <a:buChar char="▪"/>
              <a:defRPr/>
            </a:lvl1pPr>
            <a:lvl2pPr marL="914400" lvl="1" indent="-342900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2pPr>
            <a:lvl3pPr marL="1371600" lvl="2" indent="-342900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3pPr>
            <a:lvl4pPr marL="1828800" lvl="3" indent="-342900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4pPr>
            <a:lvl5pPr marL="2286000" lvl="4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0" name="Google Shape;60;p21"/>
          <p:cNvSpPr/>
          <p:nvPr/>
        </p:nvSpPr>
        <p:spPr bwMode="auto">
          <a:xfrm>
            <a:off x="11444823" y="0"/>
            <a:ext cx="749300" cy="6858000"/>
          </a:xfrm>
          <a:prstGeom prst="rect">
            <a:avLst/>
          </a:prstGeom>
          <a:solidFill>
            <a:srgbClr val="000000">
              <a:alpha val="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>
              <a:solidFill>
                <a:srgbClr val="000000"/>
              </a:solidFill>
              <a:latin typeface="Arimo"/>
              <a:ea typeface="Arimo"/>
              <a:cs typeface="Arimo"/>
            </a:endParaRPr>
          </a:p>
        </p:txBody>
      </p:sp>
      <p:pic>
        <p:nvPicPr>
          <p:cNvPr id="61" name="Google Shape;61;p21" descr="Logo_TUC_de_RGB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12" y="14"/>
            <a:ext cx="4078817" cy="569913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21" descr="Logo_TUC_de_RGB"/>
          <p:cNvPicPr/>
          <p:nvPr/>
        </p:nvPicPr>
        <p:blipFill>
          <a:blip r:embed="rId3">
            <a:alphaModFix/>
          </a:blip>
          <a:stretch/>
        </p:blipFill>
        <p:spPr bwMode="auto">
          <a:xfrm>
            <a:off x="335360" y="6436782"/>
            <a:ext cx="2003517" cy="279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21"/>
          <p:cNvPicPr/>
          <p:nvPr/>
        </p:nvPicPr>
        <p:blipFill>
          <a:blip r:embed="rId4">
            <a:alphaModFix/>
          </a:blip>
          <a:stretch/>
        </p:blipFill>
        <p:spPr bwMode="auto">
          <a:xfrm>
            <a:off x="4463819" y="6513129"/>
            <a:ext cx="2685480" cy="219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21"/>
          <p:cNvPicPr/>
          <p:nvPr/>
        </p:nvPicPr>
        <p:blipFill>
          <a:blip r:embed="rId5">
            <a:alphaModFix/>
          </a:blip>
          <a:stretch/>
        </p:blipFill>
        <p:spPr bwMode="auto">
          <a:xfrm>
            <a:off x="8835511" y="6457363"/>
            <a:ext cx="2253055" cy="316816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21"/>
          <p:cNvPicPr/>
          <p:nvPr/>
        </p:nvPicPr>
        <p:blipFill>
          <a:blip r:embed="rId6">
            <a:alphaModFix/>
          </a:blip>
          <a:stretch/>
        </p:blipFill>
        <p:spPr bwMode="auto">
          <a:xfrm>
            <a:off x="7009749" y="253192"/>
            <a:ext cx="4078817" cy="33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Vertikaler Titel und Text" type="vertTitleAndTx" userDrawn="1">
  <p:cSld name="VERTICAL_TITLE_AND_VERTICAL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" name="Google Shape;67;p22"/>
          <p:cNvSpPr txBox="1">
            <a:spLocks noGrp="1"/>
          </p:cNvSpPr>
          <p:nvPr>
            <p:ph type="title"/>
          </p:nvPr>
        </p:nvSpPr>
        <p:spPr bwMode="auto">
          <a:xfrm rot="5400000">
            <a:off x="7130484" y="2278424"/>
            <a:ext cx="5183759" cy="2732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8" name="Google Shape;68;p22"/>
          <p:cNvSpPr txBox="1">
            <a:spLocks noGrp="1"/>
          </p:cNvSpPr>
          <p:nvPr>
            <p:ph type="body" idx="1"/>
          </p:nvPr>
        </p:nvSpPr>
        <p:spPr bwMode="auto">
          <a:xfrm rot="5400000">
            <a:off x="1652287" y="-264190"/>
            <a:ext cx="5183759" cy="7817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60045" algn="l">
              <a:spcBef>
                <a:spcPts val="0"/>
              </a:spcBef>
              <a:spcAft>
                <a:spcPts val="0"/>
              </a:spcAft>
              <a:buSzPts val="2070"/>
              <a:buChar char="▪"/>
              <a:defRPr/>
            </a:lvl1pPr>
            <a:lvl2pPr marL="914400" lvl="1" indent="-342900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2pPr>
            <a:lvl3pPr marL="1371600" lvl="2" indent="-342900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3pPr>
            <a:lvl4pPr marL="1828800" lvl="3" indent="-342900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4pPr>
            <a:lvl5pPr marL="2286000" lvl="4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9" name="Google Shape;69;p22"/>
          <p:cNvSpPr/>
          <p:nvPr/>
        </p:nvSpPr>
        <p:spPr bwMode="auto">
          <a:xfrm>
            <a:off x="11444823" y="0"/>
            <a:ext cx="749300" cy="6858000"/>
          </a:xfrm>
          <a:prstGeom prst="rect">
            <a:avLst/>
          </a:prstGeom>
          <a:solidFill>
            <a:srgbClr val="000000">
              <a:alpha val="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>
              <a:solidFill>
                <a:srgbClr val="000000"/>
              </a:solidFill>
              <a:latin typeface="Arimo"/>
              <a:ea typeface="Arimo"/>
              <a:cs typeface="Arimo"/>
            </a:endParaRPr>
          </a:p>
        </p:txBody>
      </p:sp>
      <p:pic>
        <p:nvPicPr>
          <p:cNvPr id="70" name="Google Shape;70;p22" descr="Logo_TUC_de_RGB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12" y="14"/>
            <a:ext cx="4078817" cy="569913"/>
          </a:xfrm>
          <a:prstGeom prst="rect">
            <a:avLst/>
          </a:prstGeom>
          <a:noFill/>
          <a:ln>
            <a:noFill/>
          </a:ln>
        </p:spPr>
      </p:pic>
      <p:pic>
        <p:nvPicPr>
          <p:cNvPr id="71" name="Google Shape;71;p22" descr="Logo_TUC_de_RGB"/>
          <p:cNvPicPr/>
          <p:nvPr/>
        </p:nvPicPr>
        <p:blipFill>
          <a:blip r:embed="rId3">
            <a:alphaModFix/>
          </a:blip>
          <a:stretch/>
        </p:blipFill>
        <p:spPr bwMode="auto">
          <a:xfrm>
            <a:off x="335360" y="6436782"/>
            <a:ext cx="2003517" cy="279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22"/>
          <p:cNvPicPr/>
          <p:nvPr/>
        </p:nvPicPr>
        <p:blipFill>
          <a:blip r:embed="rId4">
            <a:alphaModFix/>
          </a:blip>
          <a:stretch/>
        </p:blipFill>
        <p:spPr bwMode="auto">
          <a:xfrm>
            <a:off x="4463819" y="6513129"/>
            <a:ext cx="2685480" cy="219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22"/>
          <p:cNvPicPr/>
          <p:nvPr/>
        </p:nvPicPr>
        <p:blipFill>
          <a:blip r:embed="rId5">
            <a:alphaModFix/>
          </a:blip>
          <a:stretch/>
        </p:blipFill>
        <p:spPr bwMode="auto">
          <a:xfrm>
            <a:off x="8835511" y="6457363"/>
            <a:ext cx="2253055" cy="316816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22"/>
          <p:cNvPicPr/>
          <p:nvPr/>
        </p:nvPicPr>
        <p:blipFill>
          <a:blip r:embed="rId6">
            <a:alphaModFix/>
          </a:blip>
          <a:stretch/>
        </p:blipFill>
        <p:spPr bwMode="auto">
          <a:xfrm>
            <a:off x="7009749" y="253192"/>
            <a:ext cx="4078817" cy="33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Relationship Id="rId10" Type="http://schemas.openxmlformats.org/officeDocument/2006/relationships/image" Target="../media/image1.png"/><Relationship Id="rId11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Google Shape;6;p13"/>
          <p:cNvSpPr/>
          <p:nvPr/>
        </p:nvSpPr>
        <p:spPr bwMode="auto">
          <a:xfrm>
            <a:off x="11444823" y="0"/>
            <a:ext cx="749300" cy="6858000"/>
          </a:xfrm>
          <a:prstGeom prst="rect">
            <a:avLst/>
          </a:prstGeom>
          <a:solidFill>
            <a:srgbClr val="000000">
              <a:alpha val="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rgbClr val="000000"/>
              </a:solidFill>
              <a:latin typeface="Arimo"/>
              <a:ea typeface="Arimo"/>
              <a:cs typeface="Arimo"/>
            </a:endParaRPr>
          </a:p>
        </p:txBody>
      </p:sp>
      <p:sp>
        <p:nvSpPr>
          <p:cNvPr id="7" name="Google Shape;7;p13"/>
          <p:cNvSpPr txBox="1"/>
          <p:nvPr/>
        </p:nvSpPr>
        <p:spPr bwMode="auto">
          <a:xfrm>
            <a:off x="11438478" y="6453344"/>
            <a:ext cx="76623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 sz="1800" b="0" i="0" u="none" strike="noStrike" cap="none">
                <a:solidFill>
                  <a:srgbClr val="808080"/>
                </a:solidFill>
                <a:latin typeface="Arimo"/>
                <a:ea typeface="Arimo"/>
                <a:cs typeface="Arimo"/>
              </a:rPr>
              <a:t>‹#›</a:t>
            </a:fld>
            <a:endParaRPr sz="1800" b="0" i="0" u="none" strike="noStrike" cap="none">
              <a:solidFill>
                <a:srgbClr val="808080"/>
              </a:solidFill>
              <a:latin typeface="Arimo"/>
              <a:ea typeface="Arimo"/>
              <a:cs typeface="Arimo"/>
            </a:endParaRPr>
          </a:p>
        </p:txBody>
      </p:sp>
      <p:sp>
        <p:nvSpPr>
          <p:cNvPr id="8" name="Google Shape;8;p13"/>
          <p:cNvSpPr txBox="1"/>
          <p:nvPr/>
        </p:nvSpPr>
        <p:spPr bwMode="auto">
          <a:xfrm>
            <a:off x="912295" y="1268413"/>
            <a:ext cx="921596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Google Shape;9;p13"/>
          <p:cNvSpPr txBox="1">
            <a:spLocks noGrp="1"/>
          </p:cNvSpPr>
          <p:nvPr>
            <p:ph type="title"/>
          </p:nvPr>
        </p:nvSpPr>
        <p:spPr bwMode="auto">
          <a:xfrm>
            <a:off x="335361" y="702204"/>
            <a:ext cx="10753195" cy="574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1pPr>
            <a:lvl2pPr marR="0"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2"/>
                </a:solidFill>
                <a:latin typeface="Arimo"/>
                <a:ea typeface="Arimo"/>
                <a:cs typeface="Arimo"/>
              </a:defRPr>
            </a:lvl2pPr>
            <a:lvl3pPr marR="0"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2"/>
                </a:solidFill>
                <a:latin typeface="Arimo"/>
                <a:ea typeface="Arimo"/>
                <a:cs typeface="Arimo"/>
              </a:defRPr>
            </a:lvl3pPr>
            <a:lvl4pPr marR="0"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2"/>
                </a:solidFill>
                <a:latin typeface="Arimo"/>
                <a:ea typeface="Arimo"/>
                <a:cs typeface="Arimo"/>
              </a:defRPr>
            </a:lvl4pPr>
            <a:lvl5pPr marR="0"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2"/>
                </a:solidFill>
                <a:latin typeface="Arimo"/>
                <a:ea typeface="Arimo"/>
                <a:cs typeface="Arimo"/>
              </a:defRPr>
            </a:lvl5pPr>
            <a:lvl6pPr marR="0"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2"/>
                </a:solidFill>
                <a:latin typeface="Arimo"/>
                <a:ea typeface="Arimo"/>
                <a:cs typeface="Arimo"/>
              </a:defRPr>
            </a:lvl6pPr>
            <a:lvl7pPr marR="0"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2"/>
                </a:solidFill>
                <a:latin typeface="Arimo"/>
                <a:ea typeface="Arimo"/>
                <a:cs typeface="Arimo"/>
              </a:defRPr>
            </a:lvl7pPr>
            <a:lvl8pPr marR="0"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2"/>
                </a:solidFill>
                <a:latin typeface="Arimo"/>
                <a:ea typeface="Arimo"/>
                <a:cs typeface="Arimo"/>
              </a:defRPr>
            </a:lvl8pPr>
            <a:lvl9pPr marR="0"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2"/>
                </a:solidFill>
                <a:latin typeface="Arimo"/>
                <a:ea typeface="Arimo"/>
                <a:cs typeface="Arimo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0" name="Google Shape;10;p13"/>
          <p:cNvSpPr txBox="1">
            <a:spLocks noGrp="1"/>
          </p:cNvSpPr>
          <p:nvPr>
            <p:ph type="body" idx="1"/>
          </p:nvPr>
        </p:nvSpPr>
        <p:spPr bwMode="auto">
          <a:xfrm>
            <a:off x="335361" y="1268417"/>
            <a:ext cx="10753195" cy="5040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60045" algn="l">
              <a:spcBef>
                <a:spcPts val="0"/>
              </a:spcBef>
              <a:spcAft>
                <a:spcPts val="0"/>
              </a:spcAft>
              <a:buClr>
                <a:srgbClr val="008C4F"/>
              </a:buClr>
              <a:buSzPts val="207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1pPr>
            <a:lvl2pPr marL="914400" marR="0" lvl="1" indent="-342900" algn="l">
              <a:spcBef>
                <a:spcPts val="0"/>
              </a:spcBef>
              <a:spcAft>
                <a:spcPts val="0"/>
              </a:spcAft>
              <a:buClr>
                <a:srgbClr val="008C4F"/>
              </a:buClr>
              <a:buSzPts val="1800"/>
              <a:buFont typeface="Arimo"/>
              <a:buChar char="-"/>
              <a:defRPr sz="18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2pPr>
            <a:lvl3pPr marL="1371600" marR="0" lvl="2" indent="-317500" algn="l">
              <a:spcBef>
                <a:spcPts val="0"/>
              </a:spcBef>
              <a:spcAft>
                <a:spcPts val="0"/>
              </a:spcAft>
              <a:buClr>
                <a:srgbClr val="008C4F"/>
              </a:buClr>
              <a:buSzPts val="1400"/>
              <a:buFont typeface="Arimo"/>
              <a:buChar char="-"/>
              <a:defRPr sz="14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3pPr>
            <a:lvl4pPr marL="1828800" marR="0" lvl="3" indent="-317500" algn="l">
              <a:spcBef>
                <a:spcPts val="0"/>
              </a:spcBef>
              <a:spcAft>
                <a:spcPts val="0"/>
              </a:spcAft>
              <a:buClr>
                <a:srgbClr val="008C4F"/>
              </a:buClr>
              <a:buSzPts val="1400"/>
              <a:buFont typeface="Arimo"/>
              <a:buChar char="-"/>
              <a:defRPr sz="14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4pPr>
            <a:lvl5pPr marL="2286000" marR="0" lvl="4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5pPr>
            <a:lvl6pPr marL="2743200" marR="0" lvl="5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6pPr>
            <a:lvl7pPr marL="3200400" marR="0" lvl="6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7pPr>
            <a:lvl8pPr marL="3657600" marR="0" lvl="7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8pPr>
            <a:lvl9pPr marL="4114800" marR="0" lvl="8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9pPr>
          </a:lstStyle>
          <a:p>
            <a:pPr>
              <a:defRPr/>
            </a:pPr>
            <a:endParaRPr/>
          </a:p>
        </p:txBody>
      </p:sp>
      <p:pic>
        <p:nvPicPr>
          <p:cNvPr id="11" name="Google Shape;11;p13" descr="Logo_TUC_de_RGB"/>
          <p:cNvPicPr/>
          <p:nvPr/>
        </p:nvPicPr>
        <p:blipFill>
          <a:blip r:embed="rId10">
            <a:alphaModFix/>
          </a:blip>
          <a:stretch/>
        </p:blipFill>
        <p:spPr bwMode="auto">
          <a:xfrm>
            <a:off x="12" y="14"/>
            <a:ext cx="3060000" cy="5699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12;p13"/>
          <p:cNvPicPr/>
          <p:nvPr/>
        </p:nvPicPr>
        <p:blipFill>
          <a:blip r:embed="rId11">
            <a:alphaModFix/>
          </a:blip>
          <a:stretch/>
        </p:blipFill>
        <p:spPr bwMode="auto">
          <a:xfrm>
            <a:off x="8040469" y="253192"/>
            <a:ext cx="3059493" cy="333381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 dt="0"/>
  <p:txStyles>
    <p:title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  <a:latin typeface="Calibri"/>
              </a:defRPr>
            </a:pPr>
            <a:r>
              <a:t>Institute for Software and Systems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8686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  <a:latin typeface="Calibri"/>
              </a:defRPr>
            </a:pPr>
            <a:r>
              <a:t>Intelligent Analysis of Automotive Sensor Faults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2400" b="1" i="0">
                <a:solidFill>
                  <a:srgbClr val="005AA0"/>
                </a:solidFill>
                <a:latin typeface="Calibri"/>
              </a:defRPr>
            </a:pPr>
            <a:r>
              <a:t>Using Self-Supervised Learning and Real-Time Simulation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1200"/>
              </a:spcBef>
              <a:spcAft>
                <a:spcPts val="200"/>
              </a:spcAft>
              <a:defRPr sz="1800" b="0" i="0">
                <a:solidFill>
                  <a:srgbClr val="505050"/>
                </a:solidFill>
                <a:latin typeface="Calibri"/>
              </a:defRPr>
            </a:pPr>
            <a:r>
              <a:t>Master Thesis Defense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800"/>
              </a:spcBef>
              <a:spcAft>
                <a:spcPts val="200"/>
              </a:spcAft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t>Presented by:  Yahia Amir Yahia Gamal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5050"/>
                </a:solidFill>
                <a:latin typeface="Calibri"/>
              </a:defRPr>
            </a:pPr>
            <a:r>
              <a:t>First Examiner:     apl. Prof. Dr. Christoph Knieke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Second Examiner:  Dr. Stefan Wittek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Supervisor:            Dr. Mohammad Abboush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1" i="0">
                <a:solidFill>
                  <a:srgbClr val="003366"/>
                </a:solidFill>
                <a:latin typeface="Calibri"/>
              </a:defRPr>
            </a:pPr>
            <a:r>
              <a:t>TU Clausthal  | 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  <a:latin typeface="Calibri"/>
              </a:defRPr>
            </a:pPr>
            <a:r>
              <a:t>Outline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1.   Motivation and Problem Statement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2.   Research Questions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3.   Related Work: Why SimCLR?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4.   Proposed Framework (3 Phases)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5.   Datasets: A2D2 and HIL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6.   Fault Types and Injection Models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7.   SimCLR Architecture and 1D-CNN Encoder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8.   Anomaly Detection Method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9.   Evaluation Results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10.   Conclusion and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  <a:latin typeface="Calibri"/>
              </a:defRPr>
            </a:pPr>
            <a:r>
              <a:t>Motivation and 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41E1E"/>
                </a:solidFill>
                <a:latin typeface="Calibri"/>
              </a:defRPr>
            </a:pPr>
            <a:r>
              <a:t>The Problem: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Modern vehicles contain 100+ sensors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Sensor faults compromise safety-critical systems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ISO 26262 requires rigorous validation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0000"/>
                </a:solidFill>
                <a:latin typeface="Calibri"/>
              </a:defRPr>
            </a:pPr>
            <a:r>
              <a:t>Supervised methods need labeled fault data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Labeled data is expensive and inherently incomplete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2000" b="1" i="0">
                <a:solidFill>
                  <a:srgbClr val="00783C"/>
                </a:solidFill>
                <a:latin typeface="Calibri"/>
              </a:defRPr>
            </a:pPr>
            <a:r>
              <a:t>Our Solution: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0000"/>
                </a:solidFill>
                <a:latin typeface="Calibri"/>
              </a:defRPr>
            </a:pPr>
            <a:r>
              <a:t>Learn only from healthy driving data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Self-supervised contrastive learning (SimCLR)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Detect faults as deviations from normality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Cross-domain: train on real data → test on HIL</a:t>
            </a:r>
          </a:p>
        </p:txBody>
      </p:sp>
      <p:pic>
        <p:nvPicPr>
          <p:cNvPr id="6" name="Picture 5" descr="vmodel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54480"/>
            <a:ext cx="5029200" cy="29150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  <a:latin typeface="Calibri"/>
              </a:defRPr>
            </a:pPr>
            <a:r>
              <a:t>Research Questions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11247120" cy="137160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00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005AA0"/>
                </a:solidFill>
                <a:latin typeface="Calibri"/>
              </a:defRPr>
            </a:pPr>
            <a:r>
              <a:t>RQ1: Can self-supervised contrastive learning on healthy data detect sensor faults?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Test core feasibility: train on A2D2 real driving data, detect faults in HIL simulation data.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017520"/>
            <a:ext cx="11247120" cy="1371600"/>
          </a:xfrm>
          <a:prstGeom prst="roundRect">
            <a:avLst/>
          </a:prstGeom>
          <a:solidFill>
            <a:srgbClr val="E6FFF0"/>
          </a:solidFill>
          <a:ln w="19050">
            <a:solidFill>
              <a:srgbClr val="00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00783C"/>
                </a:solidFill>
                <a:latin typeface="Calibri"/>
              </a:defRPr>
            </a:pPr>
            <a:r>
              <a:t>RQ2: How does the detection threshold affect precision-recall trade-off?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Evaluate six threshold percentiles (15th–40th) to find optimal operating point.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572000"/>
            <a:ext cx="11247120" cy="1371600"/>
          </a:xfrm>
          <a:prstGeom prst="roundRect">
            <a:avLst/>
          </a:prstGeom>
          <a:solidFill>
            <a:srgbClr val="FFF0E6"/>
          </a:solidFill>
          <a:ln w="19050">
            <a:solidFill>
              <a:srgbClr val="C8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C86400"/>
                </a:solidFill>
                <a:latin typeface="Calibri"/>
              </a:defRPr>
            </a:pPr>
            <a:r>
              <a:t>RQ3: Which fault types and sensors are most/least detectable?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Compare gain, noise, stuck-at faults on accelerator vs. speed sensors.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  <a:latin typeface="Calibri"/>
              </a:defRPr>
            </a:pPr>
            <a:r>
              <a:t>Related Work: Why SimCLR?</a:t>
            </a:r>
          </a:p>
        </p:txBody>
      </p:sp>
      <p:pic>
        <p:nvPicPr>
          <p:cNvPr id="5" name="Picture 4" descr="ss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77724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1463040"/>
            <a:ext cx="3840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Why SimCLR?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783C"/>
                </a:solidFill>
                <a:latin typeface="Calibri"/>
              </a:defRPr>
            </a:pPr>
            <a:r>
              <a:t>Simplest architecture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No momentum encoder (vs. MoCo)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No asymmetric networks (vs. BYOL)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Strong theory: NT-Xent loss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700" b="1" i="0">
                <a:solidFill>
                  <a:srgbClr val="005AA0"/>
                </a:solidFill>
                <a:latin typeface="Calibri"/>
              </a:defRPr>
            </a:pPr>
            <a:r>
              <a:t>Prior Applications: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t>Chen et al. (2020): ImageNet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t>Tang et al. (2022): Bearing faults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t>Wang et al. (2022): Motor diagnosis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 i="0">
                <a:solidFill>
                  <a:srgbClr val="B41E1E"/>
                </a:solidFill>
                <a:latin typeface="Calibri"/>
              </a:defRPr>
            </a:pPr>
            <a:r>
              <a:t>Gap: No automotive sensor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 i="0">
                <a:solidFill>
                  <a:srgbClr val="B41E1E"/>
                </a:solidFill>
                <a:latin typeface="Calibri"/>
              </a:defRPr>
            </a:pPr>
            <a:r>
              <a:t>fault detection with SimCLR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  <a:latin typeface="Calibri"/>
              </a:defRPr>
            </a:pPr>
            <a:r>
              <a:t>Proposed Framework: Three-Phase Architecture</a:t>
            </a:r>
          </a:p>
        </p:txBody>
      </p:sp>
      <p:pic>
        <p:nvPicPr>
          <p:cNvPr id="5" name="Picture 4" descr="framework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11430000" cy="41311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5050"/>
                </a:solidFill>
                <a:latin typeface="Calibri"/>
              </a:defRPr>
            </a:pPr>
            <a:r>
              <a:t>Phase 1 (green): Train SimCLR encoder on healthy A2D2 data  |  Phase 2 (blue): Calibrate with 90s healthy HIL data  |  Phase 3 (orange): Detect faults in HIL test 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  <a:latin typeface="Calibri"/>
              </a:defRPr>
            </a:pPr>
            <a:r>
              <a:t>Datasets: A2D2 (Training) and HIL (Testing)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83C"/>
                </a:solidFill>
                <a:latin typeface="Calibri"/>
              </a:defRPr>
            </a:pPr>
            <a:r>
              <a:t>A2D2 — Training Data (Phase 1)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Audi real-world driving, Munich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219,064 samples (36.5 min)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Sensors: Accelerator (%), Speed (km/h)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Accelerator: 100 Hz native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Speed: 50 Hz → upsampled to 100 Hz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3 recording sessions combined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0000"/>
                </a:solidFill>
                <a:latin typeface="Calibri"/>
              </a:defRPr>
            </a:pPr>
            <a:r>
              <a:t>Only healthy data used for training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1" i="0">
                <a:solidFill>
                  <a:srgbClr val="005AA0"/>
                </a:solidFill>
                <a:latin typeface="Calibri"/>
              </a:defRPr>
            </a:pPr>
            <a:r>
              <a:t>A2D2 Statistics: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t>Acc pedal: μ=6.99%, σ=8.70%, range [0, 52]%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t>Speed: μ=17.21 km/h, σ=14.78, range [0, 73.4]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t>Correlation: 0.5268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4173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41E1E"/>
                </a:solidFill>
                <a:latin typeface="Calibri"/>
              </a:defRPr>
            </a:pPr>
            <a:r>
              <a:t>HIL — Test Data (Phases 2-3)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dSPACE HIL simulator, TU Clausthal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1 healthy + 6 fault recordings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3 fault types × 2 sensors = 6 scenarios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Calibration: 89 healthy windows (90 sec)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0000"/>
                </a:solidFill>
                <a:latin typeface="Calibri"/>
              </a:defRPr>
            </a:pPr>
            <a:r>
              <a:t>Cross-domain transfer: real → simulation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1" i="0">
                <a:solidFill>
                  <a:srgbClr val="005AA0"/>
                </a:solidFill>
                <a:latin typeface="Calibri"/>
              </a:defRPr>
            </a:pPr>
            <a:r>
              <a:t>HIL Fault Files: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t>acc fault gain.csv (314 windows)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t>acc fault noise.csv (321 windows)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t>acc fault stuck.csv (315 windows)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t>rpm fault gain.csv (321 windows)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t>rpm fault noise.csv (315 windows)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t>rpm fault stuck at.csv (325 windows)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 i="0">
                <a:solidFill>
                  <a:srgbClr val="B41E1E"/>
                </a:solidFill>
                <a:latin typeface="Calibri"/>
              </a:defRPr>
            </a:pPr>
            <a:r>
              <a:t>Total fault windows: 1,911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  <a:latin typeface="Calibri"/>
              </a:defRPr>
            </a:pPr>
            <a:r>
              <a:t>Fault Injection Types</a:t>
            </a:r>
          </a:p>
        </p:txBody>
      </p:sp>
      <p:pic>
        <p:nvPicPr>
          <p:cNvPr id="5" name="Picture 4" descr="fault_type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25880"/>
            <a:ext cx="73152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463040"/>
            <a:ext cx="3931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Fault Models: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700" b="1" i="0">
                <a:solidFill>
                  <a:srgbClr val="B41E1E"/>
                </a:solidFill>
                <a:latin typeface="Calibri"/>
              </a:defRPr>
            </a:pPr>
            <a:r>
              <a:t>1. Gain Fault: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 i="1">
                <a:solidFill>
                  <a:srgbClr val="000000"/>
                </a:solidFill>
                <a:latin typeface="Calibri"/>
              </a:defRPr>
            </a:pPr>
            <a:r>
              <a:t>y(t) = α · x(t)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Calibration error, amplifier drift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700" b="1" i="0">
                <a:solidFill>
                  <a:srgbClr val="00783C"/>
                </a:solidFill>
                <a:latin typeface="Calibri"/>
              </a:defRPr>
            </a:pPr>
            <a:r>
              <a:t>2. Noise Fault: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 i="1">
                <a:solidFill>
                  <a:srgbClr val="000000"/>
                </a:solidFill>
                <a:latin typeface="Calibri"/>
              </a:defRPr>
            </a:pPr>
            <a:r>
              <a:t>y(t) = x(t) + η(t),  η ~ N(0,σ²)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EMI, loose connections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700" b="1" i="0">
                <a:solidFill>
                  <a:srgbClr val="7D3C98"/>
                </a:solidFill>
                <a:latin typeface="Calibri"/>
              </a:defRPr>
            </a:pPr>
            <a:r>
              <a:t>3. Stuck-at Fault: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 i="1">
                <a:solidFill>
                  <a:srgbClr val="000000"/>
                </a:solidFill>
                <a:latin typeface="Calibri"/>
              </a:defRPr>
            </a:pPr>
            <a:r>
              <a:t>y(t) = c  (constant)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Hardware failure, frozen sensor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  <a:latin typeface="Calibri"/>
              </a:defRPr>
            </a:pPr>
            <a:r>
              <a:t>SimCLR Architecture and 1D-CNN Encoder</a:t>
            </a:r>
          </a:p>
        </p:txBody>
      </p:sp>
      <p:pic>
        <p:nvPicPr>
          <p:cNvPr id="5" name="Picture 4" descr="simcl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71600"/>
            <a:ext cx="685800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37160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3366"/>
                </a:solidFill>
                <a:latin typeface="Calibri"/>
              </a:defRPr>
            </a:pPr>
            <a:r>
              <a:t>NT-Xent Loss (Contrastive):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400" b="0" i="0">
                <a:solidFill>
                  <a:srgbClr val="000000"/>
                </a:solidFill>
                <a:latin typeface="Calibri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783C"/>
                </a:solidFill>
                <a:latin typeface="Calibri"/>
              </a:defRPr>
            </a:pPr>
            <a:r>
              <a:t>Maximize similarity: positive pair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B41E1E"/>
                </a:solidFill>
                <a:latin typeface="Calibri"/>
              </a:defRPr>
            </a:pPr>
            <a:r>
              <a:t>Minimize similarity: 254 negatives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700" b="1" i="0">
                <a:solidFill>
                  <a:srgbClr val="005AA0"/>
                </a:solidFill>
                <a:latin typeface="Calibri"/>
              </a:defRPr>
            </a:pPr>
            <a:r>
              <a:t>Training Configuration: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Temperature τ = 0.5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Batch size = 128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Epochs = 50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Windows: 2,189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1">
                <a:solidFill>
                  <a:srgbClr val="000000"/>
                </a:solidFill>
                <a:latin typeface="Calibri"/>
              </a:defRPr>
            </a:pPr>
            <a:r>
              <a:t>Total parameters: 240,704</a:t>
            </a:r>
          </a:p>
        </p:txBody>
      </p:sp>
      <p:pic>
        <p:nvPicPr>
          <p:cNvPr id="7" name="Picture 6" descr="encoder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4754880"/>
            <a:ext cx="1170432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  <a:latin typeface="Calibri"/>
              </a:defRPr>
            </a:pPr>
            <a:r>
              <a:t>Projection Head and NT-Xent Loss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Projection Head g(·)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t>Two-layer MLP after encoder: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4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 i="0">
                <a:solidFill>
                  <a:srgbClr val="7D3C98"/>
                </a:solidFill>
                <a:latin typeface="Calibri"/>
              </a:defRPr>
            </a:pPr>
            <a:r>
              <a:t>  h  (256-d)  →  Linear(256, 256)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0" i="0">
                <a:solidFill>
                  <a:srgbClr val="505050"/>
                </a:solidFill>
                <a:latin typeface="Calibri"/>
              </a:defRPr>
            </a:pPr>
            <a:r>
              <a:t>                     →  BatchNorm + ReLU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 i="0">
                <a:solidFill>
                  <a:srgbClr val="7D3C98"/>
                </a:solidFill>
                <a:latin typeface="Calibri"/>
              </a:defRPr>
            </a:pPr>
            <a:r>
              <a:t>                     →  Linear(256, 128)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 i="0">
                <a:solidFill>
                  <a:srgbClr val="B41E1E"/>
                </a:solidFill>
                <a:latin typeface="Calibri"/>
              </a:defRPr>
            </a:pPr>
            <a:r>
              <a:t>  z  (128-d)  ←  L2 Normalize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700" b="1" i="0">
                <a:solidFill>
                  <a:srgbClr val="005AA0"/>
                </a:solidFill>
                <a:latin typeface="Calibri"/>
              </a:defRPr>
            </a:pPr>
            <a:r>
              <a:t>Parameters: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Encoder f(·):     141,504 params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Projection g(·):   99,200 params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0000"/>
                </a:solidFill>
                <a:latin typeface="Calibri"/>
              </a:defRPr>
            </a:pPr>
            <a:r>
              <a:t>Total:              240,704 params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700" b="1" i="0">
                <a:solidFill>
                  <a:srgbClr val="B41E1E"/>
                </a:solidFill>
                <a:latin typeface="Calibri"/>
              </a:defRPr>
            </a:pPr>
            <a:r>
              <a:t>Key Insight: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  Projection head is discarded after training.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  Only encoder representations h are used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  for downstream anomaly detection.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4173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NT-Xent Loss (Contrastive Objective)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6400800" y="2103120"/>
            <a:ext cx="5029200" cy="1463040"/>
          </a:xfrm>
          <a:prstGeom prst="roundRect">
            <a:avLst/>
          </a:prstGeom>
          <a:solidFill>
            <a:srgbClr val="F5F5FF"/>
          </a:solidFill>
          <a:ln w="19050">
            <a:solidFill>
              <a:srgbClr val="00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600" b="0">
                <a:solidFill>
                  <a:srgbClr val="000000"/>
                </a:solidFill>
                <a:latin typeface="Calibri"/>
              </a:defRPr>
            </a:pPr>
          </a:p>
          <a:p>
            <a:pPr algn="ctr">
              <a:spcBef>
                <a:spcPts val="400"/>
              </a:spcBef>
              <a:spcAft>
                <a:spcPts val="200"/>
              </a:spcAft>
              <a:defRPr sz="1600" b="1" i="0">
                <a:solidFill>
                  <a:srgbClr val="000000"/>
                </a:solidFill>
                <a:latin typeface="Calibri"/>
              </a:defRPr>
            </a:pPr>
            <a:r>
              <a:t>ℓ(i,j) = − log [ exp(sim(zᵢ, zⱼ) / τ) ]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200" b="0" i="0">
                <a:solidFill>
                  <a:srgbClr val="005AA0"/>
                </a:solidFill>
                <a:latin typeface="Calibri"/>
              </a:defRPr>
            </a:pPr>
            <a:r>
              <a:t>───────────────────────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600" b="1" i="0">
                <a:solidFill>
                  <a:srgbClr val="000000"/>
                </a:solidFill>
                <a:latin typeface="Calibri"/>
              </a:defRPr>
            </a:pPr>
            <a:r>
              <a:t>Σ(k≠i) exp(sim(zᵢ, zₖ) / 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3749039"/>
            <a:ext cx="5486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</a:defRPr>
            </a:pPr>
            <a:r>
              <a:t>Where: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sim(u, v) = uᵀv / (||u|| · ||v||)    (cosine similarity)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τ = 0.5    (temperature parameter)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783C"/>
                </a:solidFill>
                <a:latin typeface="Calibri"/>
              </a:defRPr>
            </a:pPr>
            <a:r>
              <a:t>(zᵢ, zⱼ) = positive pair (same window)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B41E1E"/>
                </a:solidFill>
                <a:latin typeface="Calibri"/>
              </a:defRPr>
            </a:pPr>
            <a:r>
              <a:t>(zᵢ, zₖ) for k≠i = negative pairs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700" b="1" i="0">
                <a:solidFill>
                  <a:srgbClr val="005AA0"/>
                </a:solidFill>
                <a:latin typeface="Calibri"/>
              </a:defRPr>
            </a:pPr>
            <a:r>
              <a:t>Training Configuration: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Batch size = 128 → 254 negatives per sample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Epochs = 50, LR = 0.001 (Adam)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1">
                <a:solidFill>
                  <a:srgbClr val="000000"/>
                </a:solidFill>
                <a:latin typeface="Calibri"/>
              </a:defRPr>
            </a:pPr>
            <a:r>
              <a:t>Loss: 4.0855 → 3.7955 (7.1% reduction)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Training time: 118.08 s on CPU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  <a:latin typeface="Calibri"/>
              </a:defRPr>
            </a:pPr>
            <a:r>
              <a:t>Data Preprocessing and Augmentation</a:t>
            </a:r>
          </a:p>
        </p:txBody>
      </p:sp>
      <p:pic>
        <p:nvPicPr>
          <p:cNvPr id="5" name="Picture 4" descr="part2_augmentation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6858000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37160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3 Augmentation Strategies: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Gaussian Jitter (σ = 0.1)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  Simulates sensor noise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Amplitude Scaling [0.8, 1.2]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  Simulates calibration variance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Temporal Masking (10%)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  Forces temporal robustness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8912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5AA0"/>
                </a:solidFill>
                <a:latin typeface="Calibri"/>
              </a:defRPr>
            </a:pPr>
            <a:r>
              <a:t>Preprocessing Pipeline: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400" b="0" i="0">
                <a:solidFill>
                  <a:srgbClr val="000000"/>
                </a:solidFill>
                <a:latin typeface="Calibri"/>
              </a:defRPr>
            </a:pP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93776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Step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Parameters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Output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Normalization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Z-Score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μ, σ from A2D2 training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Zero mean, unit variance</a:t>
                      </a:r>
                    </a:p>
                  </a:txBody>
                  <a:tcPr anchor="ctr"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Segmentation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Sliding Window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W=200, stride=100 (50% overlap)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2,189 windows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Augmentation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Jitter + Scale + Mask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Applied per window, per epoch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 views per window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  <a:latin typeface="Calibri"/>
              </a:defRPr>
            </a:pPr>
            <a:r>
              <a:t>Anomaly Detection Method</a:t>
            </a:r>
          </a:p>
        </p:txBody>
      </p:sp>
      <p:pic>
        <p:nvPicPr>
          <p:cNvPr id="5" name="Picture 4" descr="anomaly_detection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114300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84048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5AA0"/>
                </a:solidFill>
                <a:latin typeface="Calibri"/>
              </a:defRPr>
            </a:pPr>
            <a:r>
              <a:t>Phase 2: Calibration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89 healthy HIL windows (90 s)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Pass through frozen encoder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Compute healthy centroid: μ = mean(h)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Set thresholds at 6 percentile levels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84048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86400"/>
                </a:solidFill>
                <a:latin typeface="Calibri"/>
              </a:defRPr>
            </a:pPr>
            <a:r>
              <a:t>Phase 3: Detection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Encode each test window → embedding h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Compute: sim(h, μ) = cosine similarity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B41E1E"/>
                </a:solidFill>
                <a:latin typeface="Calibri"/>
              </a:defRPr>
            </a:pPr>
            <a:r>
              <a:t>If sim &lt; τ : FAULTY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783C"/>
                </a:solidFill>
                <a:latin typeface="Calibri"/>
              </a:defRPr>
            </a:pPr>
            <a:r>
              <a:t>If sim ≥ τ : HEALTHY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  <a:latin typeface="Calibri"/>
              </a:defRPr>
            </a:pPr>
            <a:r>
              <a:t>Results: Multi-Threshold Detection Performance</a:t>
            </a:r>
          </a:p>
        </p:txBody>
      </p:sp>
      <p:pic>
        <p:nvPicPr>
          <p:cNvPr id="5" name="Picture 4" descr="part3_metrics_vs_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5486400" cy="36576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0" y="1371600"/>
          <a:ext cx="57607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2144"/>
                <a:gridCol w="1152144"/>
                <a:gridCol w="1152144"/>
                <a:gridCol w="1152144"/>
                <a:gridCol w="1152144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Percentile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Threshold τ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Recall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F1-Score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15th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0.893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0.707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0.825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20th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0.927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1.000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0.843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0.914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25th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0.862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0.925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30th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0.968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1.000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0.909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0.952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35th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0.971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0.956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40th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0.974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1.000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0.933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0.965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0" y="4846320"/>
            <a:ext cx="5760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3366"/>
                </a:solidFill>
                <a:latin typeface="Calibri"/>
              </a:defRPr>
            </a:pPr>
            <a:r>
              <a:t>Key Findings: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783C"/>
                </a:solidFill>
                <a:latin typeface="Calibri"/>
              </a:defRPr>
            </a:pPr>
            <a:r>
              <a:t>Precision = 1.0 at ALL thresholds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0000"/>
                </a:solidFill>
                <a:latin typeface="Calibri"/>
              </a:defRPr>
            </a:pPr>
            <a:r>
              <a:t>Best F1 = 0.965 at 40th percentile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ROC-AUC = 0.858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  <a:latin typeface="Calibri"/>
              </a:defRPr>
            </a:pPr>
            <a:r>
              <a:t>Results: Per-Fault Recall Analysis</a:t>
            </a:r>
          </a:p>
        </p:txBody>
      </p:sp>
      <p:pic>
        <p:nvPicPr>
          <p:cNvPr id="5" name="Picture 4" descr="part3_recall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5943600" cy="36576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371600"/>
          <a:ext cx="53035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Fault Type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Detected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Recall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Acc Gain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288/314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91.7%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0.957</a:t>
                      </a:r>
                    </a:p>
                  </a:txBody>
                  <a:tcPr anchor="ctr"/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Acc Noise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294/321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91.6%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0.956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B41E1E"/>
                          </a:solidFill>
                          <a:latin typeface="Calibri"/>
                        </a:defRPr>
                      </a:pPr>
                      <a:r>
                        <a:t>Acc Stuck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283/315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B41E1E"/>
                          </a:solidFill>
                          <a:latin typeface="Calibri"/>
                        </a:defRPr>
                      </a:pPr>
                      <a:r>
                        <a:t>89.8%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B41E1E"/>
                          </a:solidFill>
                          <a:latin typeface="Calibri"/>
                        </a:defRPr>
                      </a:pPr>
                      <a:r>
                        <a:t>0.947</a:t>
                      </a:r>
                    </a:p>
                  </a:txBody>
                  <a:tcPr anchor="ctr"/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Speed Gain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320/321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99.7%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0.998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Speed Noise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302/315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95.9%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0.979</a:t>
                      </a:r>
                    </a:p>
                  </a:txBody>
                  <a:tcPr anchor="ctr"/>
                </a:tc>
              </a:tr>
              <a:tr h="418014"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Speed Stuck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296/325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91.1%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0.953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4572000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3366"/>
                </a:solidFill>
                <a:latin typeface="Calibri"/>
              </a:defRPr>
            </a:pPr>
            <a:r>
              <a:t>Observations (40th pctl):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1">
                <a:solidFill>
                  <a:srgbClr val="00783C"/>
                </a:solidFill>
                <a:latin typeface="Calibri"/>
              </a:defRPr>
            </a:pPr>
            <a:r>
              <a:t>Speed gain: 99.7% recall (best)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B41E1E"/>
                </a:solidFill>
                <a:latin typeface="Calibri"/>
              </a:defRPr>
            </a:pPr>
            <a:r>
              <a:t>Acc stuck: 89.8% recall (hardest)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Speed signals have lower natural variability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Detectability reflects physical fault severity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  <a:latin typeface="Calibri"/>
              </a:defRPr>
            </a:pPr>
            <a:r>
              <a:t>Results: Binary Classification (Healthy vs. Faulty)</a:t>
            </a:r>
          </a:p>
        </p:txBody>
      </p:sp>
      <p:pic>
        <p:nvPicPr>
          <p:cNvPr id="5" name="Picture 4" descr="part3_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325880"/>
            <a:ext cx="68580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3716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3366"/>
                </a:solidFill>
                <a:latin typeface="Calibri"/>
              </a:defRPr>
            </a:pPr>
            <a:r>
              <a:t>Binary Results (40th Percentile):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400" b="0" i="0">
                <a:solidFill>
                  <a:srgbClr val="000000"/>
                </a:solidFill>
                <a:latin typeface="Calibri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0000"/>
                </a:solidFill>
                <a:latin typeface="Calibri"/>
              </a:defRPr>
            </a:pPr>
            <a:r>
              <a:t>Accuracy:    91.8%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Precision:    98.0%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Recall:        93.3%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0000"/>
                </a:solidFill>
                <a:latin typeface="Calibri"/>
              </a:defRPr>
            </a:pPr>
            <a:r>
              <a:t>F1-Score:    0.956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3474720"/>
          <a:ext cx="41148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Pred Healthy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Pred Faulty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True Healthy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TN = 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B41E1E"/>
                          </a:solidFill>
                          <a:latin typeface="Calibri"/>
                        </a:defRPr>
                      </a:pPr>
                      <a:r>
                        <a:t>FP = 36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True Faulty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200">
                          <a:solidFill>
                            <a:srgbClr val="B41E1E"/>
                          </a:solidFill>
                          <a:latin typeface="Calibri"/>
                        </a:defRPr>
                      </a:pPr>
                      <a:r>
                        <a:t>FN = 128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TP = 1,783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0" y="502920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5AA0"/>
                </a:solidFill>
                <a:latin typeface="Calibri"/>
              </a:defRPr>
            </a:pPr>
            <a:r>
              <a:t>ROC-AUC = 0.858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0" i="0">
                <a:solidFill>
                  <a:srgbClr val="505050"/>
                </a:solidFill>
                <a:latin typeface="Calibri"/>
              </a:defRPr>
            </a:pPr>
            <a:r>
              <a:t>Significantly above random baseline (0.5)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  <a:latin typeface="Calibri"/>
              </a:defRPr>
            </a:pPr>
            <a:r>
              <a:t>ROC Curves and Similarity Distributions</a:t>
            </a:r>
          </a:p>
        </p:txBody>
      </p:sp>
      <p:pic>
        <p:nvPicPr>
          <p:cNvPr id="5" name="Picture 4" descr="part3_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71600"/>
            <a:ext cx="5760720" cy="4846320"/>
          </a:xfrm>
          <a:prstGeom prst="rect">
            <a:avLst/>
          </a:prstGeom>
        </p:spPr>
      </p:pic>
      <p:pic>
        <p:nvPicPr>
          <p:cNvPr id="6" name="Picture 5" descr="part3_similarity_distribu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371600"/>
            <a:ext cx="576072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5212080"/>
            <a:ext cx="5760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Clear separation between healthy and faulty distributions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0" i="0">
                <a:solidFill>
                  <a:srgbClr val="505050"/>
                </a:solidFill>
                <a:latin typeface="Calibri"/>
              </a:defRPr>
            </a:pPr>
            <a:r>
              <a:t>Higher threshold percentile → more recall, slightly more FP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  <a:latin typeface="Calibri"/>
              </a:defRPr>
            </a:pPr>
            <a:r>
              <a:t>Computing Cost Analysis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6858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496388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Operation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Time (s)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% of Total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Part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A2D2 data loading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18.87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12.9%</a:t>
                      </a:r>
                    </a:p>
                  </a:txBody>
                  <a:tcPr anchor="ctr"/>
                </a:tc>
              </a:tr>
              <a:tr h="496388"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Part 2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SimCLR training (50 epochs)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118.08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80.5%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Part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Augmentation + other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3.09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2.1%</a:t>
                      </a:r>
                    </a:p>
                  </a:txBody>
                  <a:tcPr anchor="ctr"/>
                </a:tc>
              </a:tr>
              <a:tr h="496388"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Part 3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Embedding extraction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1.59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1.1%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Part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Evaluation + visualization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4.98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b="0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3.4%</a:t>
                      </a:r>
                    </a:p>
                  </a:txBody>
                  <a:tcPr anchor="ctr"/>
                </a:tc>
              </a:tr>
              <a:tr h="496392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End-to-end pipeline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146.62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0" y="146304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Key Takeaways: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600" b="1">
                <a:solidFill>
                  <a:srgbClr val="000000"/>
                </a:solidFill>
                <a:latin typeface="Calibri"/>
              </a:defRPr>
            </a:pPr>
            <a:r>
              <a:t>Training: 118.1 s (one-time cost)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600" b="1">
                <a:solidFill>
                  <a:srgbClr val="000000"/>
                </a:solidFill>
                <a:latin typeface="Calibri"/>
              </a:defRPr>
            </a:pPr>
            <a:r>
              <a:t>Inference: ~0.5 ms per window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Total pipeline: ~147 s (~2.4 min)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Suitable for real-time deployment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800" b="1" i="0">
                <a:solidFill>
                  <a:srgbClr val="B41E1E"/>
                </a:solidFill>
                <a:latin typeface="Calibri"/>
              </a:defRPr>
            </a:pPr>
            <a:r>
              <a:t>vs. Supervised approach: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0" i="0">
                <a:solidFill>
                  <a:srgbClr val="505050"/>
                </a:solidFill>
                <a:latin typeface="Calibri"/>
              </a:defRPr>
            </a:pPr>
            <a:r>
              <a:t>  Ghannoum CNN-GRU: 23,000 s (6.4 h)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1" i="0">
                <a:solidFill>
                  <a:srgbClr val="00783C"/>
                </a:solidFill>
                <a:latin typeface="Calibri"/>
              </a:defRPr>
            </a:pPr>
            <a:r>
              <a:t>  Our approach: ~157x faster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1" i="0">
                <a:solidFill>
                  <a:srgbClr val="00783C"/>
                </a:solidFill>
                <a:latin typeface="Calibri"/>
              </a:defRPr>
            </a:pPr>
            <a:r>
              <a:t>  + No labeled data required!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371600"/>
            <a:ext cx="11338560" cy="105156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00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0">
                <a:solidFill>
                  <a:srgbClr val="000000"/>
                </a:solidFill>
                <a:latin typeface="Calibri"/>
              </a:defRPr>
            </a:pPr>
            <a:r>
              <a:t>RQ1:  Self-supervised representations from healthy A2D2 data successfully detect sensor faults in HIL data.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1" i="0">
                <a:solidFill>
                  <a:srgbClr val="00783C"/>
                </a:solidFill>
                <a:latin typeface="Calibri"/>
              </a:defRPr>
            </a:pPr>
            <a:r>
              <a:t>Cross-domain transfer works without any labeled fault examples. 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606040"/>
            <a:ext cx="11338560" cy="1051560"/>
          </a:xfrm>
          <a:prstGeom prst="roundRect">
            <a:avLst/>
          </a:prstGeom>
          <a:solidFill>
            <a:srgbClr val="E6FFF0"/>
          </a:solidFill>
          <a:ln w="12700">
            <a:solidFill>
              <a:srgbClr val="00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0">
                <a:solidFill>
                  <a:srgbClr val="000000"/>
                </a:solidFill>
                <a:latin typeface="Calibri"/>
              </a:defRPr>
            </a:pPr>
            <a:r>
              <a:t>RQ2:  Per-fault precision = 1.0 at all thresholds. Recall: 70.7% → 93.3%.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1" i="0">
                <a:solidFill>
                  <a:srgbClr val="00783C"/>
                </a:solidFill>
                <a:latin typeface="Calibri"/>
              </a:defRPr>
            </a:pPr>
            <a:r>
              <a:t>Optimal: 40th percentile (F1 = 0.965). 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3840480"/>
            <a:ext cx="11338560" cy="1051560"/>
          </a:xfrm>
          <a:prstGeom prst="roundRect">
            <a:avLst/>
          </a:prstGeom>
          <a:solidFill>
            <a:srgbClr val="FFF0E6"/>
          </a:solidFill>
          <a:ln w="12700">
            <a:solidFill>
              <a:srgbClr val="C8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0">
                <a:solidFill>
                  <a:srgbClr val="000000"/>
                </a:solidFill>
                <a:latin typeface="Calibri"/>
              </a:defRPr>
            </a:pPr>
            <a:r>
              <a:t>RQ3:  Speed gain = 99.7% recall (easiest). Acc stuck = 89.8% (hardest).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1" i="0">
                <a:solidFill>
                  <a:srgbClr val="C86400"/>
                </a:solidFill>
                <a:latin typeface="Calibri"/>
              </a:defRPr>
            </a:pPr>
            <a:r>
              <a:t>Detectability correlates with physical severity and sensor variability. 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7492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3366"/>
                </a:solidFill>
                <a:latin typeface="Calibri"/>
              </a:defRPr>
            </a:pPr>
            <a:r>
              <a:t>Key Contributions: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First application of SimCLR to automotive sensor fault detection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Successful cross-domain transfer: real driving data → HIL simulation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Comprehensive multi-threshold evaluation with 6 fault scenarios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Complete pipeline in under 1 minute on CPU (no GPU required)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Short-term Extensions: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Add more sensor channels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  (RPM, steering, brake pressure)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Fault localization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  Identify which sensor is faulty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Adaptive thresholding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  Eliminate manual threshold selection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Test with real vehicle fault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4173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Long-term Research: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Compare SSL methods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  TS2Vec, MoCo, BYOL benchmarking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Explainability (XAI)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  Diagnostic insights for faults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Edge deployment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  Real-time in-vehicle detection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ISO 26262 ASIL integration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  Safety integrity level mapping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3366"/>
                </a:solidFill>
                <a:latin typeface="Calibri"/>
              </a:defRPr>
            </a:pPr>
            <a:r>
              <a:t>Thank You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 i="0">
                <a:solidFill>
                  <a:srgbClr val="000000"/>
                </a:solidFill>
                <a:latin typeface="Calibri"/>
              </a:defRPr>
            </a:pPr>
          </a:p>
          <a:p>
            <a:pPr algn="ctr">
              <a:spcBef>
                <a:spcPts val="400"/>
              </a:spcBef>
              <a:spcAft>
                <a:spcPts val="200"/>
              </a:spcAft>
              <a:defRPr sz="3200" b="0" i="0">
                <a:solidFill>
                  <a:srgbClr val="005AA0"/>
                </a:solidFill>
                <a:latin typeface="Calibri"/>
              </a:defRPr>
            </a:pPr>
            <a:r>
              <a:t>Questions?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2000" b="0" i="0">
                <a:solidFill>
                  <a:srgbClr val="000000"/>
                </a:solidFill>
                <a:latin typeface="Calibri"/>
              </a:defRPr>
            </a:pPr>
          </a:p>
          <a:p>
            <a:pPr algn="ctr">
              <a:spcBef>
                <a:spcPts val="400"/>
              </a:spcBef>
              <a:spcAft>
                <a:spcPts val="200"/>
              </a:spcAft>
              <a:defRPr sz="2000" b="0" i="0">
                <a:solidFill>
                  <a:srgbClr val="000000"/>
                </a:solidFill>
                <a:latin typeface="Calibri"/>
              </a:defRPr>
            </a:pPr>
            <a:r>
              <a:t>Yahia Amir Yahia Gamal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600" b="0" i="0">
                <a:solidFill>
                  <a:srgbClr val="505050"/>
                </a:solidFill>
                <a:latin typeface="Calibri"/>
              </a:defRPr>
            </a:pPr>
            <a:r>
              <a:t>Institute of Software and Systems Engineering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600" b="0" i="0">
                <a:solidFill>
                  <a:srgbClr val="505050"/>
                </a:solidFill>
                <a:latin typeface="Calibri"/>
              </a:defRPr>
            </a:pPr>
            <a:r>
              <a:t>TU Clausthal  | 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IPSSE_Design1">
  <a:themeElements>
    <a:clrScheme name="Larissa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IPSSE_Design1">
  <a:themeElements>
    <a:clrScheme name="Larissa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1287</TotalTime>
  <Words>25</Words>
  <Application>Microsoft Office PowerPoint</Application>
  <DocSecurity>0</DocSecurity>
  <PresentationFormat>Widescreen</PresentationFormat>
  <Paragraphs>4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Arimo</vt:lpstr>
      <vt:lpstr>Noto Sans Symbols</vt:lpstr>
      <vt:lpstr>Times New Roman</vt:lpstr>
      <vt:lpstr>Arial</vt:lpstr>
      <vt:lpstr>1_IPSSE_Design1</vt:lpstr>
      <vt:lpstr>Institute for Software and Systems Engineering    Title   Presented by:  </vt:lpstr>
      <vt:lpstr> Table of Content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Institute for Software and Systems Engineering     HiL-based real-time Test Platform   Name: Muhammad Sami khan  Date:    25th January 2023 </dc:title>
  <dc:subject/>
  <dc:creator>Hooby</dc:creator>
  <cp:keywords/>
  <dc:description/>
  <cp:lastModifiedBy>Yahia Gamal</cp:lastModifiedBy>
  <cp:revision>18</cp:revision>
  <dcterms:created xsi:type="dcterms:W3CDTF">2013-05-21T09:22:36Z</dcterms:created>
  <dcterms:modified xsi:type="dcterms:W3CDTF">2026-02-14T07:17:55Z</dcterms:modified>
  <cp:category/>
  <dc:identifier/>
  <cp:contentStatus/>
  <dc:language/>
  <cp:version/>
</cp:coreProperties>
</file>