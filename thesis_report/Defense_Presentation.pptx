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</p:sldIdLst>
  <p:sldSz cx="12192000" cy="6858000"/>
  <p:notesSz cx="12192000" cy="6858000"/>
  <p:embeddedFontLst>
    <p:embeddedFont>
      <p:font typeface="Arimo" panose="020B0604020202020204" charset="0"/>
      <p:regular r:id="rId5"/>
      <p:bold r:id="rId6"/>
      <p:italic r:id="rId7"/>
      <p:boldItalic r:id="rId8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D87EA89-6A60-4A7B-B168-3A6FA02AAC71}">
  <a:tblStyle styleId="{5D87EA89-6A60-4A7B-B168-3A6FA02AAC71}" styleName="Table_0">
    <a:wholeTbl>
      <a:tcTxStyle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solidFill>
                <a:schemeClr val="dk1"/>
              </a:solidFill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font" Target="fonts/font3.fntdata"/><Relationship Id="rId8" Type="http://schemas.openxmlformats.org/officeDocument/2006/relationships/font" Target="fonts/font4.fntdata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foli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Google Shape;14;p14"/>
          <p:cNvSpPr txBox="1"/>
          <p:nvPr/>
        </p:nvSpPr>
        <p:spPr bwMode="auto">
          <a:xfrm>
            <a:off x="912295" y="1268413"/>
            <a:ext cx="92159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Google Shape;15;p14"/>
          <p:cNvSpPr txBox="1">
            <a:spLocks noGrp="1"/>
          </p:cNvSpPr>
          <p:nvPr>
            <p:ph type="ctrTitle"/>
          </p:nvPr>
        </p:nvSpPr>
        <p:spPr bwMode="auto">
          <a:xfrm>
            <a:off x="527393" y="1412777"/>
            <a:ext cx="10369153" cy="11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rgbClr val="008C4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" name="Google Shape;16;p14"/>
          <p:cNvSpPr txBox="1">
            <a:spLocks noGrp="1"/>
          </p:cNvSpPr>
          <p:nvPr>
            <p:ph type="subTitle" idx="1"/>
          </p:nvPr>
        </p:nvSpPr>
        <p:spPr bwMode="auto">
          <a:xfrm>
            <a:off x="527393" y="2852712"/>
            <a:ext cx="10369153" cy="2376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070"/>
              <a:buFont typeface="Noto Sans Symbols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" name="Google Shape;17;p14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 und Inhalt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" name="Google Shape;19;p15"/>
          <p:cNvSpPr txBox="1">
            <a:spLocks noGrp="1"/>
          </p:cNvSpPr>
          <p:nvPr>
            <p:ph type="title"/>
          </p:nvPr>
        </p:nvSpPr>
        <p:spPr bwMode="auto">
          <a:xfrm>
            <a:off x="335361" y="764705"/>
            <a:ext cx="10753195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body" idx="1"/>
          </p:nvPr>
        </p:nvSpPr>
        <p:spPr bwMode="auto">
          <a:xfrm>
            <a:off x="335361" y="1268760"/>
            <a:ext cx="10753195" cy="504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" name="Google Shape;21;p15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22" name="Google Shape;22;p15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 b="0" i="0" u="none" strike="noStrike" cap="none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 b="0" i="0" u="none" strike="noStrike" cap="none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Abschnitts- überschrift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" name="Google Shape;30;p17"/>
          <p:cNvSpPr txBox="1">
            <a:spLocks noGrp="1"/>
          </p:cNvSpPr>
          <p:nvPr>
            <p:ph type="title"/>
          </p:nvPr>
        </p:nvSpPr>
        <p:spPr bwMode="auto">
          <a:xfrm>
            <a:off x="335361" y="4406914"/>
            <a:ext cx="10753195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 b="1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body" idx="1"/>
          </p:nvPr>
        </p:nvSpPr>
        <p:spPr bwMode="auto">
          <a:xfrm>
            <a:off x="335361" y="2906713"/>
            <a:ext cx="1075319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2300"/>
              <a:buNone/>
              <a:defRPr sz="20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800"/>
              <a:buFont typeface="Arimo"/>
              <a:buNone/>
              <a:defRPr sz="18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600"/>
              <a:buFont typeface="Arimo"/>
              <a:buNone/>
              <a:defRPr sz="16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 sz="14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32" name="Google Shape;32;p17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33" name="Google Shape;33;p17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Nur Titel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 bwMode="auto">
          <a:xfrm>
            <a:off x="335361" y="1125552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6" name="Google Shape;36;p18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Inhalt mit Überschrift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>
            <a:spLocks noGrp="1"/>
          </p:cNvSpPr>
          <p:nvPr>
            <p:ph type="title"/>
          </p:nvPr>
        </p:nvSpPr>
        <p:spPr bwMode="auto">
          <a:xfrm>
            <a:off x="335363" y="816260"/>
            <a:ext cx="4011084" cy="116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1"/>
          </p:nvPr>
        </p:nvSpPr>
        <p:spPr bwMode="auto">
          <a:xfrm>
            <a:off x="4492496" y="816253"/>
            <a:ext cx="6596061" cy="5493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62280" algn="l">
              <a:spcBef>
                <a:spcPts val="0"/>
              </a:spcBef>
              <a:spcAft>
                <a:spcPts val="0"/>
              </a:spcAft>
              <a:buSzPts val="3680"/>
              <a:buChar char="▪"/>
              <a:defRPr sz="3200"/>
            </a:lvl1pPr>
            <a:lvl2pPr marL="914400" lvl="1" indent="-406400" algn="l">
              <a:spcBef>
                <a:spcPts val="0"/>
              </a:spcBef>
              <a:spcAft>
                <a:spcPts val="0"/>
              </a:spcAft>
              <a:buSzPts val="2800"/>
              <a:buFont typeface="Arimo"/>
              <a:buChar char="-"/>
              <a:defRPr sz="2800"/>
            </a:lvl2pPr>
            <a:lvl3pPr marL="1371600" lvl="2" indent="-381000" algn="l">
              <a:spcBef>
                <a:spcPts val="0"/>
              </a:spcBef>
              <a:spcAft>
                <a:spcPts val="0"/>
              </a:spcAft>
              <a:buSzPts val="2400"/>
              <a:buFont typeface="Arimo"/>
              <a:buChar char="-"/>
              <a:defRPr sz="2400"/>
            </a:lvl3pPr>
            <a:lvl4pPr marL="1828800" lvl="3" indent="-355600" algn="l">
              <a:spcBef>
                <a:spcPts val="0"/>
              </a:spcBef>
              <a:spcAft>
                <a:spcPts val="0"/>
              </a:spcAft>
              <a:buSzPts val="2000"/>
              <a:buFont typeface="Arimo"/>
              <a:buChar char="-"/>
              <a:defRPr sz="2000"/>
            </a:lvl4pPr>
            <a:lvl5pPr marL="2286000" lvl="4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5pPr>
            <a:lvl6pPr marL="2743200" lvl="5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6pPr>
            <a:lvl7pPr marL="3200400" lvl="6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7pPr>
            <a:lvl8pPr marL="3657600" lvl="7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8pPr>
            <a:lvl9pPr marL="4114800" lvl="8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2"/>
          </p:nvPr>
        </p:nvSpPr>
        <p:spPr bwMode="auto">
          <a:xfrm>
            <a:off x="335363" y="1978306"/>
            <a:ext cx="4011084" cy="4331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610"/>
              <a:buNone/>
              <a:defRPr sz="14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200"/>
              <a:buFont typeface="Arimo"/>
              <a:buNone/>
              <a:defRPr sz="12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900"/>
              <a:buFont typeface="Arimo"/>
              <a:buNone/>
              <a:defRPr sz="9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41" name="Google Shape;41;p19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42" name="Google Shape;42;p19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19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19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9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19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ild mit Überschrift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 bwMode="auto">
          <a:xfrm>
            <a:off x="2389717" y="4800613"/>
            <a:ext cx="7315200" cy="566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" name="Google Shape;49;p20"/>
          <p:cNvSpPr>
            <a:spLocks noGrp="1"/>
          </p:cNvSpPr>
          <p:nvPr>
            <p:ph type="pic" idx="2"/>
          </p:nvPr>
        </p:nvSpPr>
        <p:spPr bwMode="auto">
          <a:xfrm>
            <a:off x="2389717" y="764718"/>
            <a:ext cx="7315200" cy="3962871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 bwMode="auto">
          <a:xfrm>
            <a:off x="2389717" y="5367351"/>
            <a:ext cx="7315200" cy="8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610"/>
              <a:buNone/>
              <a:defRPr sz="14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200"/>
              <a:buFont typeface="Arimo"/>
              <a:buNone/>
              <a:defRPr sz="12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900"/>
              <a:buFont typeface="Arimo"/>
              <a:buNone/>
              <a:defRPr sz="9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51" name="Google Shape;51;p20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52" name="Google Shape;52;p20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20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20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20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20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 und vertikaler Text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" name="Google Shape;58;p21"/>
          <p:cNvSpPr txBox="1">
            <a:spLocks noGrp="1"/>
          </p:cNvSpPr>
          <p:nvPr>
            <p:ph type="title"/>
          </p:nvPr>
        </p:nvSpPr>
        <p:spPr bwMode="auto">
          <a:xfrm>
            <a:off x="335361" y="836726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9" name="Google Shape;59;p21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263687" y="-1515549"/>
            <a:ext cx="4896544" cy="10753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0" name="Google Shape;60;p21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61" name="Google Shape;61;p21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21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21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21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21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Vertikaler Titel und Text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" name="Google Shape;67;p22"/>
          <p:cNvSpPr txBox="1">
            <a:spLocks noGrp="1"/>
          </p:cNvSpPr>
          <p:nvPr>
            <p:ph type="title"/>
          </p:nvPr>
        </p:nvSpPr>
        <p:spPr bwMode="auto">
          <a:xfrm rot="5400000">
            <a:off x="7130484" y="2278424"/>
            <a:ext cx="5183759" cy="2732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8" name="Google Shape;68;p22"/>
          <p:cNvSpPr txBox="1">
            <a:spLocks noGrp="1"/>
          </p:cNvSpPr>
          <p:nvPr>
            <p:ph type="body" idx="1"/>
          </p:nvPr>
        </p:nvSpPr>
        <p:spPr bwMode="auto">
          <a:xfrm rot="5400000">
            <a:off x="1652287" y="-264190"/>
            <a:ext cx="5183759" cy="7817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9" name="Google Shape;69;p22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70" name="Google Shape;70;p22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22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22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22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22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png"/><Relationship Id="rId11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7" name="Google Shape;7;p13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 b="0" i="0" u="none" strike="noStrike" cap="none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 b="0" i="0" u="none" strike="noStrike" cap="none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8" name="Google Shape;8;p13"/>
          <p:cNvSpPr txBox="1"/>
          <p:nvPr/>
        </p:nvSpPr>
        <p:spPr bwMode="auto">
          <a:xfrm>
            <a:off x="912295" y="1268413"/>
            <a:ext cx="92159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Google Shape;9;p13"/>
          <p:cNvSpPr txBox="1">
            <a:spLocks noGrp="1"/>
          </p:cNvSpPr>
          <p:nvPr>
            <p:ph type="title"/>
          </p:nvPr>
        </p:nvSpPr>
        <p:spPr bwMode="auto">
          <a:xfrm>
            <a:off x="335361" y="702204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" name="Google Shape;10;p13"/>
          <p:cNvSpPr txBox="1">
            <a:spLocks noGrp="1"/>
          </p:cNvSpPr>
          <p:nvPr>
            <p:ph type="body" idx="1"/>
          </p:nvPr>
        </p:nvSpPr>
        <p:spPr bwMode="auto">
          <a:xfrm>
            <a:off x="335361" y="1268417"/>
            <a:ext cx="10753195" cy="5040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60045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207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1pPr>
            <a:lvl2pPr marL="914400" marR="0" lvl="1" indent="-3429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800"/>
              <a:buFont typeface="Arimo"/>
              <a:buChar char="-"/>
              <a:defRPr sz="18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2pPr>
            <a:lvl3pPr marL="1371600" marR="0" lvl="2" indent="-3175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400"/>
              <a:buFont typeface="Arimo"/>
              <a:buChar char="-"/>
              <a:defRPr sz="14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3pPr>
            <a:lvl4pPr marL="1828800" marR="0" lvl="3" indent="-3175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400"/>
              <a:buFont typeface="Arimo"/>
              <a:buChar char="-"/>
              <a:defRPr sz="14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4pPr>
            <a:lvl5pPr marL="2286000" marR="0" lvl="4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5pPr>
            <a:lvl6pPr marL="2743200" marR="0" lvl="5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6pPr>
            <a:lvl7pPr marL="3200400" marR="0" lvl="6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7pPr>
            <a:lvl8pPr marL="3657600" marR="0" lvl="7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8pPr>
            <a:lvl9pPr marL="4114800" marR="0" lvl="8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9pPr>
          </a:lstStyle>
          <a:p>
            <a:pPr>
              <a:defRPr/>
            </a:pPr>
            <a:endParaRPr/>
          </a:p>
        </p:txBody>
      </p:sp>
      <p:pic>
        <p:nvPicPr>
          <p:cNvPr id="11" name="Google Shape;11;p13" descr="Logo_TUC_de_RGB"/>
          <p:cNvPicPr/>
          <p:nvPr/>
        </p:nvPicPr>
        <p:blipFill>
          <a:blip r:embed="rId10">
            <a:alphaModFix/>
          </a:blip>
          <a:stretch/>
        </p:blipFill>
        <p:spPr bwMode="auto">
          <a:xfrm>
            <a:off x="12" y="14"/>
            <a:ext cx="3060000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3"/>
          <p:cNvPicPr/>
          <p:nvPr/>
        </p:nvPicPr>
        <p:blipFill>
          <a:blip r:embed="rId11">
            <a:alphaModFix/>
          </a:blip>
          <a:stretch/>
        </p:blipFill>
        <p:spPr bwMode="auto">
          <a:xfrm>
            <a:off x="8040469" y="253192"/>
            <a:ext cx="3059493" cy="333381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Institute for Software and Systems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  <a:latin typeface="Calibri"/>
              </a:defRPr>
            </a:pPr>
            <a:r>
              <a:t>Intelligent Analysis of Automotive Sensor Faults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5AA0"/>
                </a:solidFill>
                <a:latin typeface="Calibri"/>
              </a:defRPr>
            </a:pPr>
            <a:r>
              <a:t>Using Self-Supervised Learning and Real-Time Simulation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1200"/>
              </a:spcBef>
              <a:spcAft>
                <a:spcPts val="200"/>
              </a:spcAft>
              <a:defRPr sz="1800" b="0" i="0">
                <a:solidFill>
                  <a:srgbClr val="505050"/>
                </a:solidFill>
                <a:latin typeface="Calibri"/>
              </a:defRPr>
            </a:pPr>
            <a:r>
              <a:t>Master Thesis Defense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Presented by:  Yahia Amir Yahia Gamal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First Examiner:     apl. Prof. Dr. Christoph Knieke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Second Examiner:  Dr. Stefan Wittek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Supervisor:            Dr. Mohammad Abboush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3366"/>
                </a:solidFill>
                <a:latin typeface="Calibri"/>
              </a:defRPr>
            </a:pPr>
            <a:r>
              <a:t>TU Clausthal  | 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1.   Motivation and Problem Statement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2.   Research Questions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3.   Related Work: Why SimCLR?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4.   Proposed Framework (3 Phases)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5.   Datasets: A2D2 and HIL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6.   Fault Types and Injection Models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7.   SimCLR Architecture and 1D-CNN Encoder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8.   Anomaly Detection Method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9.   Evaluation Results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10.   Conclusion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Motivation and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41E1E"/>
                </a:solidFill>
                <a:latin typeface="Calibri"/>
              </a:defRPr>
            </a:pPr>
            <a:r>
              <a:t>The Problem: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Modern vehicles contain 100+ sensors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Sensor faults compromise safety-critical systems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ISO 26262 requires rigorous validation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Supervised methods need labeled fault data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Labeled data is expensive and inherently incomplete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1" i="0">
                <a:solidFill>
                  <a:srgbClr val="00783C"/>
                </a:solidFill>
                <a:latin typeface="Calibri"/>
              </a:defRPr>
            </a:pPr>
            <a:r>
              <a:t>Our Solution: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Learn only from healthy driving data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Self-supervised contrastive learning (SimCLR)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Detect faults as deviations from normality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Cross-domain: train on real data → test on HIL</a:t>
            </a:r>
          </a:p>
        </p:txBody>
      </p:sp>
      <p:pic>
        <p:nvPicPr>
          <p:cNvPr id="6" name="Picture 5" descr="vmodel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5029200" cy="29150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Research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11247120" cy="137160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005AA0"/>
                </a:solidFill>
                <a:latin typeface="Calibri"/>
              </a:defRPr>
            </a:pPr>
            <a:r>
              <a:t>RQ1: Can self-supervised contrastive learning on healthy data detect sensor faults?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Test core feasibility: train on A2D2 real driving data, detect faults in HIL simulation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17520"/>
            <a:ext cx="11247120" cy="1371600"/>
          </a:xfrm>
          <a:prstGeom prst="roundRect">
            <a:avLst/>
          </a:prstGeom>
          <a:solidFill>
            <a:srgbClr val="E6FFF0"/>
          </a:solidFill>
          <a:ln w="19050">
            <a:solidFill>
              <a:srgbClr val="0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00783C"/>
                </a:solidFill>
                <a:latin typeface="Calibri"/>
              </a:defRPr>
            </a:pPr>
            <a:r>
              <a:t>RQ2: How does the detection threshold affect precision-recall trade-off?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Evaluate six threshold percentiles (15th–40th) to find optimal operating 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47120" cy="1371600"/>
          </a:xfrm>
          <a:prstGeom prst="roundRect">
            <a:avLst/>
          </a:prstGeom>
          <a:solidFill>
            <a:srgbClr val="FFF0E6"/>
          </a:solidFill>
          <a:ln w="1905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C86400"/>
                </a:solidFill>
                <a:latin typeface="Calibri"/>
              </a:defRPr>
            </a:pPr>
            <a:r>
              <a:t>RQ3: Which fault types and sensors are most/least detectable?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Compare gain, noise, stuck-at faults on accelerator vs. speed sensors.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Related Work: Why SimCLR?</a:t>
            </a:r>
          </a:p>
        </p:txBody>
      </p:sp>
      <p:pic>
        <p:nvPicPr>
          <p:cNvPr id="5" name="Picture 4" descr="ss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7724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46304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Why SimCLR?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t>Simplest architecture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No momentum encoder (vs. MoCo)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No asymmetric networks (vs. BYOL)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Strong theory: NT-Xent loss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t>Prior Applications: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Chen et al. (2020): ImageNet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Tang et al. (2022): Bearing faults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Wang et al. (2022): Motor diagnosis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Gap: No automotive sensor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fault detection with SimCLR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Proposed Framework: Three-Phase Architecture</a:t>
            </a:r>
          </a:p>
        </p:txBody>
      </p:sp>
      <p:pic>
        <p:nvPicPr>
          <p:cNvPr id="5" name="Picture 4" descr="framewor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430000" cy="41311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Phase 1 (green): Train SimCLR encoder on healthy A2D2 data  |  Phase 2 (blue): Calibrate with 90s healthy HIL data  |  Phase 3 (orange): Detect faults in HIL test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Datasets: A2D2 (Training) and HIL (Testing)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3C"/>
                </a:solidFill>
                <a:latin typeface="Calibri"/>
              </a:defRPr>
            </a:pPr>
            <a:r>
              <a:t>A2D2 — Training Data (Phase 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Audi real-world driving, Munich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219,064 samples (36.5 min)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Sensors: Accelerator (%), Speed (km/h)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Accelerator: 100 Hz native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Speed: 50 Hz → upsampled to 100 Hz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3 recording sessions combined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Only healthy data used for training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5AA0"/>
                </a:solidFill>
                <a:latin typeface="Calibri"/>
              </a:defRPr>
            </a:pPr>
            <a:r>
              <a:t>A2D2 Statistics: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pedal: μ=6.99%, σ=8.70%, range [0, 52]%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Speed: μ=17.21 km/h, σ=14.78, range [0, 73.4]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Correlation: 0.5268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1E1E"/>
                </a:solidFill>
                <a:latin typeface="Calibri"/>
              </a:defRPr>
            </a:pPr>
            <a:r>
              <a:t>HIL — Test Data (Phases 2-3)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dSPACE HIL simulator, TU Clausthal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1 healthy + 6 fault recordings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3 fault types × 2 sensors = 6 scenarios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Calibration: 89 healthy windows (90 sec)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Cross-domain transfer: real → simulation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5AA0"/>
                </a:solidFill>
                <a:latin typeface="Calibri"/>
              </a:defRPr>
            </a:pPr>
            <a:r>
              <a:t>HIL Fault Files: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fault gain.csv (314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fault noise.csv (321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fault stuck.csv (315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rpm fault gain.csv (321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rpm fault noise.csv (315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rpm fault stuck at.csv (325 windows)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Total fault windows: 1,911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Fault Injection Types</a:t>
            </a:r>
          </a:p>
        </p:txBody>
      </p:sp>
      <p:pic>
        <p:nvPicPr>
          <p:cNvPr id="5" name="Picture 4" descr="fault_typ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46304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Fault Models: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B41E1E"/>
                </a:solidFill>
                <a:latin typeface="Calibri"/>
              </a:defRPr>
            </a:pPr>
            <a:r>
              <a:t>1. Gain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α · x(t)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Calibration error, amplifier drift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783C"/>
                </a:solidFill>
                <a:latin typeface="Calibri"/>
              </a:defRPr>
            </a:pPr>
            <a:r>
              <a:t>2. Noise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x(t) + η(t),  η ~ N(0,σ²)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EMI, loose connections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7D3C98"/>
                </a:solidFill>
                <a:latin typeface="Calibri"/>
              </a:defRPr>
            </a:pPr>
            <a:r>
              <a:t>3. Stuck-at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c  (constant)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Hardware failure, frozen sensor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SimCLR Architecture and 1D-CNN Encoder</a:t>
            </a:r>
          </a:p>
        </p:txBody>
      </p:sp>
      <p:pic>
        <p:nvPicPr>
          <p:cNvPr id="5" name="Picture 4" descr="simcl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68580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3716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NT-Xent Loss (Contrastive):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783C"/>
                </a:solidFill>
                <a:latin typeface="Calibri"/>
              </a:defRPr>
            </a:pPr>
            <a:r>
              <a:t>Maximize similarity: positive pair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B41E1E"/>
                </a:solidFill>
                <a:latin typeface="Calibri"/>
              </a:defRPr>
            </a:pPr>
            <a:r>
              <a:t>Minimize similarity: 254 negatives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t>Training Configuration: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Temperature τ = 0.5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Batch size = 128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Epochs = 50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Windows: 2,189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r>
              <a:t>Total parameters: 240,704</a:t>
            </a:r>
          </a:p>
        </p:txBody>
      </p:sp>
      <p:pic>
        <p:nvPicPr>
          <p:cNvPr id="7" name="Picture 6" descr="encoder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4754880"/>
            <a:ext cx="117043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Data Preprocessing and Augmentation</a:t>
            </a:r>
          </a:p>
        </p:txBody>
      </p:sp>
      <p:pic>
        <p:nvPicPr>
          <p:cNvPr id="5" name="Picture 4" descr="part2_augmenta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3716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3 Augmentation Strategies: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Gaussian Jitter (σ = 0.1)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Simulates sensor noise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Amplitude Scaling [0.8, 1.2]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Simulates calibration variance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Temporal Masking (10%)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Forces temporal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5AA0"/>
                </a:solidFill>
                <a:latin typeface="Calibri"/>
              </a:defRPr>
            </a:pPr>
            <a:r>
              <a:t>Preprocessing Pipeline: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93776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Normalization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Z-Score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μ, σ from A2D2 training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 mean, unit variance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Segmentation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Sliding Window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W=200, stride=100 (50% overlap)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2,189 windows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Augmentation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Jitter + Scale + Mask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Applied per window, per epoch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 views per window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Anomaly Detection Method</a:t>
            </a:r>
          </a:p>
        </p:txBody>
      </p:sp>
      <p:pic>
        <p:nvPicPr>
          <p:cNvPr id="5" name="Picture 4" descr="anomaly_detect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430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840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5AA0"/>
                </a:solidFill>
                <a:latin typeface="Calibri"/>
              </a:defRPr>
            </a:pPr>
            <a:r>
              <a:t>Phase 2: Calibration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89 healthy HIL windows (90 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Pass through frozen encoder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Compute healthy centroid: μ = mean(h)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Set thresholds at 6 percentile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6400"/>
                </a:solidFill>
                <a:latin typeface="Calibri"/>
              </a:defRPr>
            </a:pPr>
            <a:r>
              <a:t>Phase 3: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Encode each test window → embedding h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Compute: sim(h, μ) = cosine similarity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B41E1E"/>
                </a:solidFill>
                <a:latin typeface="Calibri"/>
              </a:defRPr>
            </a:pPr>
            <a:r>
              <a:t>If sim &lt; τ : FAULTY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t>If sim ≥ τ : HEALTHY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Results: Multi-Threshold Detection Performance</a:t>
            </a:r>
          </a:p>
        </p:txBody>
      </p:sp>
      <p:pic>
        <p:nvPicPr>
          <p:cNvPr id="5" name="Picture 4" descr="part3_metrics_vs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486400" cy="36576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371600"/>
          <a:ext cx="5760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44"/>
                <a:gridCol w="1152144"/>
                <a:gridCol w="1152144"/>
                <a:gridCol w="1152144"/>
                <a:gridCol w="115214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Percentile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Threshold τ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0.825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20th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0.927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0.843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0.914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0.925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30th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0.968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0.909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0.952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0.956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40th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0.974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0.933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0.965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0" y="484632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Key Findings: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t>Precision = 1.0 at ALL thresholds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Best F1 = 0.965 at 40th percentile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ROC-AUC = 0.858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Results: Per-Fault Recall Analysis</a:t>
            </a:r>
          </a:p>
        </p:txBody>
      </p:sp>
      <p:pic>
        <p:nvPicPr>
          <p:cNvPr id="5" name="Picture 4" descr="part3_reca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943600" cy="36576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371600"/>
          <a:ext cx="53035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Fault Type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Detected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Acc Gain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288/314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0.957</a:t>
                      </a:r>
                    </a:p>
                  </a:txBody>
                  <a:tcPr anchor="ctr"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Acc Noise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294/321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91.6%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0.956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Acc Stuck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283/315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89.8%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0.947</a:t>
                      </a:r>
                    </a:p>
                  </a:txBody>
                  <a:tcPr anchor="ctr"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Speed Gain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320/321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99.7%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0.998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Speed Noise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302/315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0.979</a:t>
                      </a:r>
                    </a:p>
                  </a:txBody>
                  <a:tcPr anchor="ctr"/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Speed Stuck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296/325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91.1%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457200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Observations (40th pctl):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783C"/>
                </a:solidFill>
                <a:latin typeface="Calibri"/>
              </a:defRPr>
            </a:pPr>
            <a:r>
              <a:t>Speed gain: 99.7% recall (best)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B41E1E"/>
                </a:solidFill>
                <a:latin typeface="Calibri"/>
              </a:defRPr>
            </a:pPr>
            <a:r>
              <a:t>Acc stuck: 89.8% recall (hardest)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Speed signals have lower natural variability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Detectability reflects physical fault severity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Results: Binary Classification (Healthy vs. Faulty)</a:t>
            </a:r>
          </a:p>
        </p:txBody>
      </p:sp>
      <p:pic>
        <p:nvPicPr>
          <p:cNvPr id="5" name="Picture 4" descr="part3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325880"/>
            <a:ext cx="6858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3716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Binary Results (40th Percentile):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Accuracy:    91.8%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Precision:    98.0%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Recall:        93.3%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F1-Score:    0.956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347472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 Healthy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 Faulty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True Healthy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TN = 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FP = 36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True Faulty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FN = 128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TP = 1,783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50292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5AA0"/>
                </a:solidFill>
                <a:latin typeface="Calibri"/>
              </a:defRPr>
            </a:pPr>
            <a:r>
              <a:t>ROC-AUC = 0.858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505050"/>
                </a:solidFill>
                <a:latin typeface="Calibri"/>
              </a:defRPr>
            </a:pPr>
            <a:r>
              <a:t>Significantly above random baseline (0.5)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ROC Curves and Similarity Distributions</a:t>
            </a:r>
          </a:p>
        </p:txBody>
      </p:sp>
      <p:pic>
        <p:nvPicPr>
          <p:cNvPr id="5" name="Picture 4" descr="part3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760720" cy="4846320"/>
          </a:xfrm>
          <a:prstGeom prst="rect">
            <a:avLst/>
          </a:prstGeom>
        </p:spPr>
      </p:pic>
      <p:pic>
        <p:nvPicPr>
          <p:cNvPr id="6" name="Picture 5" descr="part3_similarity_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371600"/>
            <a:ext cx="576072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5212080"/>
            <a:ext cx="5760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Clear separation between healthy and faulty distributions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505050"/>
                </a:solidFill>
                <a:latin typeface="Calibri"/>
              </a:defRPr>
            </a:pPr>
            <a:r>
              <a:t>Higher threshold percentile → more recall, slightly more FP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Computing Cost Analysis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6858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 (s)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of Total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A2D2 data loading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18.87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12.9%</a:t>
                      </a:r>
                    </a:p>
                  </a:txBody>
                  <a:tcPr anchor="ctr"/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2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SimCLR training (50 epochs)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118.08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80.5%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Augmentation + other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 anchor="ctr"/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Embedding extraction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1.59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1.1%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Evaluation + visualization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3.4%</a:t>
                      </a:r>
                    </a:p>
                  </a:txBody>
                  <a:tcPr anchor="ctr"/>
                </a:tc>
              </a:tr>
              <a:tr h="496392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End-to-end pipeline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146.62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4630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Key Takeaways: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1">
                <a:solidFill>
                  <a:srgbClr val="000000"/>
                </a:solidFill>
                <a:latin typeface="Calibri"/>
              </a:defRPr>
            </a:pPr>
            <a:r>
              <a:t>Training: 118.1 s (one-time cost)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1">
                <a:solidFill>
                  <a:srgbClr val="000000"/>
                </a:solidFill>
                <a:latin typeface="Calibri"/>
              </a:defRPr>
            </a:pPr>
            <a:r>
              <a:t>Inference: ~0.5 ms per window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Total pipeline: ~147 s (~2.4 min)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Suitable for real-time deployment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800" b="1" i="0">
                <a:solidFill>
                  <a:srgbClr val="B41E1E"/>
                </a:solidFill>
                <a:latin typeface="Calibri"/>
              </a:defRPr>
            </a:pPr>
            <a:r>
              <a:t>vs. Supervised approach: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 i="0">
                <a:solidFill>
                  <a:srgbClr val="505050"/>
                </a:solidFill>
                <a:latin typeface="Calibri"/>
              </a:defRPr>
            </a:pPr>
            <a:r>
              <a:t>  Ghannoum CNN-GRU: 23,000 s (6.4 h)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783C"/>
                </a:solidFill>
                <a:latin typeface="Calibri"/>
              </a:defRPr>
            </a:pPr>
            <a:r>
              <a:t>  Our approach: ~157x faster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783C"/>
                </a:solidFill>
                <a:latin typeface="Calibri"/>
              </a:defRPr>
            </a:pPr>
            <a:r>
              <a:t>  + No labeled data required!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11338560" cy="105156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00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RQ1:  Self-supervised representations from healthy A2D2 data successfully detect sensor faults in HIL data.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783C"/>
                </a:solidFill>
                <a:latin typeface="Calibri"/>
              </a:defRPr>
            </a:pPr>
            <a:r>
              <a:t>Cross-domain transfer works without any labeled fault examples. 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606040"/>
            <a:ext cx="11338560" cy="1051560"/>
          </a:xfrm>
          <a:prstGeom prst="roundRect">
            <a:avLst/>
          </a:prstGeom>
          <a:solidFill>
            <a:srgbClr val="E6FFF0"/>
          </a:solidFill>
          <a:ln w="12700">
            <a:solidFill>
              <a:srgbClr val="0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RQ2:  Per-fault precision = 1.0 at all thresholds. Recall: 70.7% → 93.3%.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783C"/>
                </a:solidFill>
                <a:latin typeface="Calibri"/>
              </a:defRPr>
            </a:pPr>
            <a:r>
              <a:t>Optimal: 40th percentile (F1 = 0.965).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840480"/>
            <a:ext cx="11338560" cy="1051560"/>
          </a:xfrm>
          <a:prstGeom prst="roundRect">
            <a:avLst/>
          </a:prstGeom>
          <a:solidFill>
            <a:srgbClr val="FFF0E6"/>
          </a:solidFill>
          <a:ln w="1270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RQ3:  Speed gain = 99.7% recall (easiest). Acc stuck = 89.8% (hardest).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C86400"/>
                </a:solidFill>
                <a:latin typeface="Calibri"/>
              </a:defRPr>
            </a:pPr>
            <a:r>
              <a:t>Detectability correlates with physical severity and sensor variability.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Key Contributions: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First application of SimCLR to automotive sensor fault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Successful cross-domain transfer: real driving data → HIL simulation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Comprehensive multi-threshold evaluation with 6 fault scenarios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Complete pipeline in under 1 minute on CPU (no GPU required)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Short-term Extensions: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Add more sensor channels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(RPM, steering, brake pressure)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Fault localization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Identify which sensor is faulty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Adaptive thresholding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Eliminate manual threshold selection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Test with real vehicle fault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Long-term Research: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Compare SSL methods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TS2Vec, MoCo, BYOL benchmarking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Explainability (XAI)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Diagnostic insights for faults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Edge deployment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Real-time in-vehicle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ISO 26262 ASIL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Safety integrity level mapping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  <a:latin typeface="Calibri"/>
              </a:defRPr>
            </a:pPr>
            <a:r>
              <a:t>Thank You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</a:p>
          <a:p>
            <a:pPr algn="ctr">
              <a:spcBef>
                <a:spcPts val="400"/>
              </a:spcBef>
              <a:spcAft>
                <a:spcPts val="200"/>
              </a:spcAft>
              <a:defRPr sz="3200" b="0" i="0">
                <a:solidFill>
                  <a:srgbClr val="005AA0"/>
                </a:solidFill>
                <a:latin typeface="Calibri"/>
              </a:defRPr>
            </a:pPr>
            <a:r>
              <a:t>Questions?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0" i="0">
                <a:solidFill>
                  <a:srgbClr val="000000"/>
                </a:solidFill>
                <a:latin typeface="Calibri"/>
              </a:defRPr>
            </a:pPr>
          </a:p>
          <a:p>
            <a:pPr algn="ctr">
              <a:spcBef>
                <a:spcPts val="400"/>
              </a:spcBef>
              <a:spcAft>
                <a:spcPts val="200"/>
              </a:spcAft>
              <a:defRPr sz="2000" b="0" i="0">
                <a:solidFill>
                  <a:srgbClr val="000000"/>
                </a:solidFill>
                <a:latin typeface="Calibri"/>
              </a:defRPr>
            </a:pPr>
            <a:r>
              <a:t>Yahia Amir Yahia Gamal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505050"/>
                </a:solidFill>
                <a:latin typeface="Calibri"/>
              </a:defRPr>
            </a:pPr>
            <a:r>
              <a:t>Institute of Software and Systems Engineering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505050"/>
                </a:solidFill>
                <a:latin typeface="Calibri"/>
              </a:defRPr>
            </a:pPr>
            <a:r>
              <a:t>TU Clausthal  | 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IPSSE_Design1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IPSSE_Design1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1287</TotalTime>
  <Words>25</Words>
  <Application>Microsoft Office PowerPoint</Application>
  <DocSecurity>0</DocSecurity>
  <PresentationFormat>Widescreen</PresentationFormat>
  <Paragraphs>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Arimo</vt:lpstr>
      <vt:lpstr>Noto Sans Symbols</vt:lpstr>
      <vt:lpstr>Times New Roman</vt:lpstr>
      <vt:lpstr>Arial</vt:lpstr>
      <vt:lpstr>1_IPSSE_Design1</vt:lpstr>
      <vt:lpstr>Institute for Software and Systems Engineering    Title   Presented by:  </vt:lpstr>
      <vt:lpstr> Table of Content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Institute for Software and Systems Engineering     HiL-based real-time Test Platform   Name: Muhammad Sami khan  Date:    25th January 2023 </dc:title>
  <dc:subject/>
  <dc:creator>Hooby</dc:creator>
  <cp:keywords/>
  <dc:description/>
  <cp:lastModifiedBy>Yahia Gamal</cp:lastModifiedBy>
  <cp:revision>18</cp:revision>
  <dcterms:created xsi:type="dcterms:W3CDTF">2013-05-21T09:22:36Z</dcterms:created>
  <dcterms:modified xsi:type="dcterms:W3CDTF">2026-02-14T07:17:55Z</dcterms:modified>
  <cp:category/>
  <dc:identifier/>
  <cp:contentStatus/>
  <dc:language/>
  <cp:version/>
</cp:coreProperties>
</file>